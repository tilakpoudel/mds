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8.jpeg" ContentType="image/jpeg"/>
  <Override PartName="/ppt/media/image7.jpeg" ContentType="image/jpeg"/>
  <Override PartName="/ppt/media/image9.png" ContentType="image/png"/>
  <Override PartName="/ppt/media/image11.jpeg" ContentType="image/jpeg"/>
  <Override PartName="/ppt/media/image10.jpeg" ContentType="image/jpe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998520" y="2190960"/>
            <a:ext cx="41947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625760" y="1261080"/>
            <a:ext cx="6238440" cy="24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2DEA8F-4EAE-4D4E-8DB7-DF5CF44AA0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3998520" y="2190960"/>
            <a:ext cx="41947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625760" y="1261080"/>
            <a:ext cx="6238440" cy="24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7FB634-E379-4253-A58C-345ED7D7EE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998520" y="2190960"/>
            <a:ext cx="41947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1625760" y="1261080"/>
            <a:ext cx="6238440" cy="24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57482DB-A0CE-4942-AD32-20F53CC8B7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998520" y="2190960"/>
            <a:ext cx="41947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1625760" y="1261080"/>
            <a:ext cx="6238440" cy="24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0DB4667-D213-4A96-9D9E-484469C34F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998520" y="2190960"/>
            <a:ext cx="41947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625760" y="1261080"/>
            <a:ext cx="6238440" cy="24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15F97E7-9333-4925-8906-E019248EB2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" name="bg object 17" descr=""/>
          <p:cNvPicPr/>
          <p:nvPr/>
        </p:nvPicPr>
        <p:blipFill>
          <a:blip r:embed="rId3"/>
          <a:stretch/>
        </p:blipFill>
        <p:spPr>
          <a:xfrm>
            <a:off x="0" y="2666880"/>
            <a:ext cx="4190760" cy="4190760"/>
          </a:xfrm>
          <a:prstGeom prst="rect">
            <a:avLst/>
          </a:prstGeom>
          <a:ln w="0">
            <a:noFill/>
          </a:ln>
        </p:spPr>
      </p:pic>
      <p:pic>
        <p:nvPicPr>
          <p:cNvPr id="2" name="bg object 18" descr=""/>
          <p:cNvPicPr/>
          <p:nvPr/>
        </p:nvPicPr>
        <p:blipFill>
          <a:blip r:embed="rId4"/>
          <a:stretch/>
        </p:blipFill>
        <p:spPr>
          <a:xfrm>
            <a:off x="8609040" y="5867280"/>
            <a:ext cx="990360" cy="990360"/>
          </a:xfrm>
          <a:prstGeom prst="rect">
            <a:avLst/>
          </a:prstGeom>
          <a:ln w="0">
            <a:noFill/>
          </a:ln>
        </p:spPr>
      </p:pic>
      <p:pic>
        <p:nvPicPr>
          <p:cNvPr id="3" name="bg object 19" descr=""/>
          <p:cNvPicPr/>
          <p:nvPr/>
        </p:nvPicPr>
        <p:blipFill>
          <a:blip r:embed="rId5"/>
          <a:stretch/>
        </p:blipFill>
        <p:spPr>
          <a:xfrm>
            <a:off x="8609040" y="1676520"/>
            <a:ext cx="2819160" cy="2819160"/>
          </a:xfrm>
          <a:prstGeom prst="rect">
            <a:avLst/>
          </a:prstGeom>
          <a:ln w="0">
            <a:noFill/>
          </a:ln>
        </p:spPr>
      </p:pic>
      <p:pic>
        <p:nvPicPr>
          <p:cNvPr id="4" name="bg object 20" descr=""/>
          <p:cNvPicPr/>
          <p:nvPr/>
        </p:nvPicPr>
        <p:blipFill>
          <a:blip r:embed="rId6"/>
          <a:stretch/>
        </p:blipFill>
        <p:spPr>
          <a:xfrm>
            <a:off x="7999560" y="9000"/>
            <a:ext cx="1599840" cy="1599840"/>
          </a:xfrm>
          <a:prstGeom prst="rect">
            <a:avLst/>
          </a:prstGeom>
          <a:ln w="0">
            <a:noFill/>
          </a:ln>
        </p:spPr>
      </p:pic>
      <p:sp>
        <p:nvSpPr>
          <p:cNvPr id="5" name="bg object 21"/>
          <p:cNvSpPr/>
          <p:nvPr/>
        </p:nvSpPr>
        <p:spPr>
          <a:xfrm>
            <a:off x="8502120" y="1519200"/>
            <a:ext cx="3287520" cy="767880"/>
          </a:xfrm>
          <a:custGeom>
            <a:avLst/>
            <a:gdLst>
              <a:gd name="textAreaLeft" fmla="*/ 0 w 3287520"/>
              <a:gd name="textAreaRight" fmla="*/ 3287880 w 3287520"/>
              <a:gd name="textAreaTop" fmla="*/ 0 h 767880"/>
              <a:gd name="textAreaBottom" fmla="*/ 768240 h 767880"/>
            </a:gdLst>
            <a:ahLst/>
            <a:rect l="textAreaLeft" t="textAreaTop" r="textAreaRight" b="textAreaBottom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bg object 22"/>
          <p:cNvSpPr/>
          <p:nvPr/>
        </p:nvSpPr>
        <p:spPr>
          <a:xfrm>
            <a:off x="0" y="1440"/>
            <a:ext cx="12191760" cy="6856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6200"/>
              <a:gd name="textAreaBottom" fmla="*/ 6856560 h 6856200"/>
            </a:gdLst>
            <a:ahLst/>
            <a:rect l="textAreaLeft" t="textAreaTop" r="textAreaRight" b="textAreaBottom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" name="bg object 23" descr=""/>
          <p:cNvPicPr/>
          <p:nvPr/>
        </p:nvPicPr>
        <p:blipFill>
          <a:blip r:embed="rId7"/>
          <a:stretch/>
        </p:blipFill>
        <p:spPr>
          <a:xfrm>
            <a:off x="10398240" y="0"/>
            <a:ext cx="759960" cy="1203480"/>
          </a:xfrm>
          <a:prstGeom prst="rect">
            <a:avLst/>
          </a:prstGeom>
          <a:ln w="0">
            <a:noFill/>
          </a:ln>
        </p:spPr>
      </p:pic>
      <p:sp>
        <p:nvSpPr>
          <p:cNvPr id="8" name="bg object 24"/>
          <p:cNvSpPr/>
          <p:nvPr/>
        </p:nvSpPr>
        <p:spPr>
          <a:xfrm>
            <a:off x="10437840" y="0"/>
            <a:ext cx="685440" cy="1142640"/>
          </a:xfrm>
          <a:custGeom>
            <a:avLst/>
            <a:gdLst>
              <a:gd name="textAreaLeft" fmla="*/ 0 w 685440"/>
              <a:gd name="textAreaRight" fmla="*/ 685800 w 685440"/>
              <a:gd name="textAreaTop" fmla="*/ 0 h 1142640"/>
              <a:gd name="textAreaBottom" fmla="*/ 1143000 h 1142640"/>
            </a:gdLst>
            <a:ahLst/>
            <a:rect l="textAreaLeft" t="textAreaTop" r="textAreaRight" b="textAreaBottom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9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1"/>
          </p:nvPr>
        </p:nvSpPr>
        <p:spPr>
          <a:xfrm>
            <a:off x="639720" y="6454440"/>
            <a:ext cx="1028520" cy="18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6A0BDC-BC29-4718-B7FD-6F6E9586BDAE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6" name="bg object 17" descr=""/>
          <p:cNvPicPr/>
          <p:nvPr/>
        </p:nvPicPr>
        <p:blipFill>
          <a:blip r:embed="rId3"/>
          <a:stretch/>
        </p:blipFill>
        <p:spPr>
          <a:xfrm>
            <a:off x="0" y="2666880"/>
            <a:ext cx="4190760" cy="4190760"/>
          </a:xfrm>
          <a:prstGeom prst="rect">
            <a:avLst/>
          </a:prstGeom>
          <a:ln w="0">
            <a:noFill/>
          </a:ln>
        </p:spPr>
      </p:pic>
      <p:pic>
        <p:nvPicPr>
          <p:cNvPr id="17" name="bg object 18" descr=""/>
          <p:cNvPicPr/>
          <p:nvPr/>
        </p:nvPicPr>
        <p:blipFill>
          <a:blip r:embed="rId4"/>
          <a:stretch/>
        </p:blipFill>
        <p:spPr>
          <a:xfrm>
            <a:off x="8609040" y="5867280"/>
            <a:ext cx="990360" cy="990360"/>
          </a:xfrm>
          <a:prstGeom prst="rect">
            <a:avLst/>
          </a:prstGeom>
          <a:ln w="0">
            <a:noFill/>
          </a:ln>
        </p:spPr>
      </p:pic>
      <p:pic>
        <p:nvPicPr>
          <p:cNvPr id="18" name="bg object 19" descr=""/>
          <p:cNvPicPr/>
          <p:nvPr/>
        </p:nvPicPr>
        <p:blipFill>
          <a:blip r:embed="rId5"/>
          <a:stretch/>
        </p:blipFill>
        <p:spPr>
          <a:xfrm>
            <a:off x="8609040" y="1676520"/>
            <a:ext cx="2819160" cy="2819160"/>
          </a:xfrm>
          <a:prstGeom prst="rect">
            <a:avLst/>
          </a:prstGeom>
          <a:ln w="0">
            <a:noFill/>
          </a:ln>
        </p:spPr>
      </p:pic>
      <p:pic>
        <p:nvPicPr>
          <p:cNvPr id="19" name="bg object 20" descr=""/>
          <p:cNvPicPr/>
          <p:nvPr/>
        </p:nvPicPr>
        <p:blipFill>
          <a:blip r:embed="rId6"/>
          <a:stretch/>
        </p:blipFill>
        <p:spPr>
          <a:xfrm>
            <a:off x="7999560" y="9000"/>
            <a:ext cx="1599840" cy="1599840"/>
          </a:xfrm>
          <a:prstGeom prst="rect">
            <a:avLst/>
          </a:prstGeom>
          <a:ln w="0">
            <a:noFill/>
          </a:ln>
        </p:spPr>
      </p:pic>
      <p:sp>
        <p:nvSpPr>
          <p:cNvPr id="20" name="bg object 21"/>
          <p:cNvSpPr/>
          <p:nvPr/>
        </p:nvSpPr>
        <p:spPr>
          <a:xfrm>
            <a:off x="8502120" y="1519200"/>
            <a:ext cx="3287520" cy="767880"/>
          </a:xfrm>
          <a:custGeom>
            <a:avLst/>
            <a:gdLst>
              <a:gd name="textAreaLeft" fmla="*/ 0 w 3287520"/>
              <a:gd name="textAreaRight" fmla="*/ 3287880 w 3287520"/>
              <a:gd name="textAreaTop" fmla="*/ 0 h 767880"/>
              <a:gd name="textAreaBottom" fmla="*/ 768240 h 767880"/>
            </a:gdLst>
            <a:ahLst/>
            <a:rect l="textAreaLeft" t="textAreaTop" r="textAreaRight" b="textAreaBottom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bg object 22"/>
          <p:cNvSpPr/>
          <p:nvPr/>
        </p:nvSpPr>
        <p:spPr>
          <a:xfrm>
            <a:off x="0" y="1440"/>
            <a:ext cx="12191760" cy="6856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6200"/>
              <a:gd name="textAreaBottom" fmla="*/ 6856560 h 6856200"/>
            </a:gdLst>
            <a:ahLst/>
            <a:rect l="textAreaLeft" t="textAreaTop" r="textAreaRight" b="textAreaBottom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22" name="bg object 23" descr=""/>
          <p:cNvPicPr/>
          <p:nvPr/>
        </p:nvPicPr>
        <p:blipFill>
          <a:blip r:embed="rId7"/>
          <a:stretch/>
        </p:blipFill>
        <p:spPr>
          <a:xfrm>
            <a:off x="10398240" y="0"/>
            <a:ext cx="759960" cy="1203480"/>
          </a:xfrm>
          <a:prstGeom prst="rect">
            <a:avLst/>
          </a:prstGeom>
          <a:ln w="0">
            <a:noFill/>
          </a:ln>
        </p:spPr>
      </p:pic>
      <p:sp>
        <p:nvSpPr>
          <p:cNvPr id="23" name="bg object 24"/>
          <p:cNvSpPr/>
          <p:nvPr/>
        </p:nvSpPr>
        <p:spPr>
          <a:xfrm>
            <a:off x="10437840" y="0"/>
            <a:ext cx="685440" cy="1142640"/>
          </a:xfrm>
          <a:custGeom>
            <a:avLst/>
            <a:gdLst>
              <a:gd name="textAreaLeft" fmla="*/ 0 w 685440"/>
              <a:gd name="textAreaRight" fmla="*/ 685800 w 685440"/>
              <a:gd name="textAreaTop" fmla="*/ 0 h 1142640"/>
              <a:gd name="textAreaBottom" fmla="*/ 1143000 h 1142640"/>
            </a:gdLst>
            <a:ahLst/>
            <a:rect l="textAreaLeft" t="textAreaTop" r="textAreaRight" b="textAreaBottom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998520" y="2190960"/>
            <a:ext cx="41947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edit the 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title text 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625760" y="1261080"/>
            <a:ext cx="6238440" cy="24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4"/>
          </p:nvPr>
        </p:nvSpPr>
        <p:spPr>
          <a:xfrm>
            <a:off x="639720" y="6454440"/>
            <a:ext cx="1028520" cy="18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27DE50-010B-4470-AC59-85BB39762BCB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8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32" name="bg object 17" descr=""/>
          <p:cNvPicPr/>
          <p:nvPr/>
        </p:nvPicPr>
        <p:blipFill>
          <a:blip r:embed="rId3"/>
          <a:stretch/>
        </p:blipFill>
        <p:spPr>
          <a:xfrm>
            <a:off x="0" y="2666880"/>
            <a:ext cx="4190760" cy="4190760"/>
          </a:xfrm>
          <a:prstGeom prst="rect">
            <a:avLst/>
          </a:prstGeom>
          <a:ln w="0">
            <a:noFill/>
          </a:ln>
        </p:spPr>
      </p:pic>
      <p:pic>
        <p:nvPicPr>
          <p:cNvPr id="33" name="bg object 18" descr=""/>
          <p:cNvPicPr/>
          <p:nvPr/>
        </p:nvPicPr>
        <p:blipFill>
          <a:blip r:embed="rId4"/>
          <a:stretch/>
        </p:blipFill>
        <p:spPr>
          <a:xfrm>
            <a:off x="8609040" y="5867280"/>
            <a:ext cx="990360" cy="990360"/>
          </a:xfrm>
          <a:prstGeom prst="rect">
            <a:avLst/>
          </a:prstGeom>
          <a:ln w="0">
            <a:noFill/>
          </a:ln>
        </p:spPr>
      </p:pic>
      <p:pic>
        <p:nvPicPr>
          <p:cNvPr id="34" name="bg object 19" descr=""/>
          <p:cNvPicPr/>
          <p:nvPr/>
        </p:nvPicPr>
        <p:blipFill>
          <a:blip r:embed="rId5"/>
          <a:stretch/>
        </p:blipFill>
        <p:spPr>
          <a:xfrm>
            <a:off x="8609040" y="1676520"/>
            <a:ext cx="2819160" cy="2819160"/>
          </a:xfrm>
          <a:prstGeom prst="rect">
            <a:avLst/>
          </a:prstGeom>
          <a:ln w="0">
            <a:noFill/>
          </a:ln>
        </p:spPr>
      </p:pic>
      <p:pic>
        <p:nvPicPr>
          <p:cNvPr id="35" name="bg object 20" descr=""/>
          <p:cNvPicPr/>
          <p:nvPr/>
        </p:nvPicPr>
        <p:blipFill>
          <a:blip r:embed="rId6"/>
          <a:stretch/>
        </p:blipFill>
        <p:spPr>
          <a:xfrm>
            <a:off x="7999560" y="9000"/>
            <a:ext cx="1599840" cy="1599840"/>
          </a:xfrm>
          <a:prstGeom prst="rect">
            <a:avLst/>
          </a:prstGeom>
          <a:ln w="0">
            <a:noFill/>
          </a:ln>
        </p:spPr>
      </p:pic>
      <p:sp>
        <p:nvSpPr>
          <p:cNvPr id="36" name="bg object 21"/>
          <p:cNvSpPr/>
          <p:nvPr/>
        </p:nvSpPr>
        <p:spPr>
          <a:xfrm>
            <a:off x="8502120" y="1519200"/>
            <a:ext cx="3287520" cy="767880"/>
          </a:xfrm>
          <a:custGeom>
            <a:avLst/>
            <a:gdLst>
              <a:gd name="textAreaLeft" fmla="*/ 0 w 3287520"/>
              <a:gd name="textAreaRight" fmla="*/ 3287880 w 3287520"/>
              <a:gd name="textAreaTop" fmla="*/ 0 h 767880"/>
              <a:gd name="textAreaBottom" fmla="*/ 768240 h 767880"/>
            </a:gdLst>
            <a:ahLst/>
            <a:rect l="textAreaLeft" t="textAreaTop" r="textAreaRight" b="textAreaBottom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bg object 22"/>
          <p:cNvSpPr/>
          <p:nvPr/>
        </p:nvSpPr>
        <p:spPr>
          <a:xfrm>
            <a:off x="0" y="1440"/>
            <a:ext cx="12191760" cy="6856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6200"/>
              <a:gd name="textAreaBottom" fmla="*/ 6856560 h 6856200"/>
            </a:gdLst>
            <a:ahLst/>
            <a:rect l="textAreaLeft" t="textAreaTop" r="textAreaRight" b="textAreaBottom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38" name="bg object 23" descr=""/>
          <p:cNvPicPr/>
          <p:nvPr/>
        </p:nvPicPr>
        <p:blipFill>
          <a:blip r:embed="rId7"/>
          <a:stretch/>
        </p:blipFill>
        <p:spPr>
          <a:xfrm>
            <a:off x="10398240" y="0"/>
            <a:ext cx="759960" cy="1203480"/>
          </a:xfrm>
          <a:prstGeom prst="rect">
            <a:avLst/>
          </a:prstGeom>
          <a:ln w="0">
            <a:noFill/>
          </a:ln>
        </p:spPr>
      </p:pic>
      <p:sp>
        <p:nvSpPr>
          <p:cNvPr id="39" name="bg object 24"/>
          <p:cNvSpPr/>
          <p:nvPr/>
        </p:nvSpPr>
        <p:spPr>
          <a:xfrm>
            <a:off x="10437840" y="0"/>
            <a:ext cx="685440" cy="1142640"/>
          </a:xfrm>
          <a:custGeom>
            <a:avLst/>
            <a:gdLst>
              <a:gd name="textAreaLeft" fmla="*/ 0 w 685440"/>
              <a:gd name="textAreaRight" fmla="*/ 685800 w 685440"/>
              <a:gd name="textAreaTop" fmla="*/ 0 h 1142640"/>
              <a:gd name="textAreaBottom" fmla="*/ 1143000 h 1142640"/>
            </a:gdLst>
            <a:ahLst/>
            <a:rect l="textAreaLeft" t="textAreaTop" r="textAreaRight" b="textAreaBottom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998520" y="2190960"/>
            <a:ext cx="41947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7"/>
          </p:nvPr>
        </p:nvSpPr>
        <p:spPr>
          <a:xfrm>
            <a:off x="639720" y="6454440"/>
            <a:ext cx="1028520" cy="18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9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5EE751-A229-4BDE-8AAB-90DD800B9F88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8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49" name="bg object 17" descr=""/>
          <p:cNvPicPr/>
          <p:nvPr/>
        </p:nvPicPr>
        <p:blipFill>
          <a:blip r:embed="rId3"/>
          <a:stretch/>
        </p:blipFill>
        <p:spPr>
          <a:xfrm>
            <a:off x="0" y="2666880"/>
            <a:ext cx="4190760" cy="4190760"/>
          </a:xfrm>
          <a:prstGeom prst="rect">
            <a:avLst/>
          </a:prstGeom>
          <a:ln w="0">
            <a:noFill/>
          </a:ln>
        </p:spPr>
      </p:pic>
      <p:pic>
        <p:nvPicPr>
          <p:cNvPr id="50" name="bg object 18" descr=""/>
          <p:cNvPicPr/>
          <p:nvPr/>
        </p:nvPicPr>
        <p:blipFill>
          <a:blip r:embed="rId4"/>
          <a:stretch/>
        </p:blipFill>
        <p:spPr>
          <a:xfrm>
            <a:off x="8609040" y="5867280"/>
            <a:ext cx="990360" cy="990360"/>
          </a:xfrm>
          <a:prstGeom prst="rect">
            <a:avLst/>
          </a:prstGeom>
          <a:ln w="0">
            <a:noFill/>
          </a:ln>
        </p:spPr>
      </p:pic>
      <p:pic>
        <p:nvPicPr>
          <p:cNvPr id="51" name="bg object 19" descr=""/>
          <p:cNvPicPr/>
          <p:nvPr/>
        </p:nvPicPr>
        <p:blipFill>
          <a:blip r:embed="rId5"/>
          <a:stretch/>
        </p:blipFill>
        <p:spPr>
          <a:xfrm>
            <a:off x="8609040" y="1676520"/>
            <a:ext cx="2819160" cy="2819160"/>
          </a:xfrm>
          <a:prstGeom prst="rect">
            <a:avLst/>
          </a:prstGeom>
          <a:ln w="0">
            <a:noFill/>
          </a:ln>
        </p:spPr>
      </p:pic>
      <p:pic>
        <p:nvPicPr>
          <p:cNvPr id="52" name="bg object 20" descr=""/>
          <p:cNvPicPr/>
          <p:nvPr/>
        </p:nvPicPr>
        <p:blipFill>
          <a:blip r:embed="rId6"/>
          <a:stretch/>
        </p:blipFill>
        <p:spPr>
          <a:xfrm>
            <a:off x="7999560" y="9000"/>
            <a:ext cx="1599840" cy="1599840"/>
          </a:xfrm>
          <a:prstGeom prst="rect">
            <a:avLst/>
          </a:prstGeom>
          <a:ln w="0">
            <a:noFill/>
          </a:ln>
        </p:spPr>
      </p:pic>
      <p:sp>
        <p:nvSpPr>
          <p:cNvPr id="53" name="bg object 21"/>
          <p:cNvSpPr/>
          <p:nvPr/>
        </p:nvSpPr>
        <p:spPr>
          <a:xfrm>
            <a:off x="8502120" y="1519200"/>
            <a:ext cx="3287520" cy="767880"/>
          </a:xfrm>
          <a:custGeom>
            <a:avLst/>
            <a:gdLst>
              <a:gd name="textAreaLeft" fmla="*/ 0 w 3287520"/>
              <a:gd name="textAreaRight" fmla="*/ 3287880 w 3287520"/>
              <a:gd name="textAreaTop" fmla="*/ 0 h 767880"/>
              <a:gd name="textAreaBottom" fmla="*/ 768240 h 767880"/>
            </a:gdLst>
            <a:ahLst/>
            <a:rect l="textAreaLeft" t="textAreaTop" r="textAreaRight" b="textAreaBottom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bg object 22"/>
          <p:cNvSpPr/>
          <p:nvPr/>
        </p:nvSpPr>
        <p:spPr>
          <a:xfrm>
            <a:off x="0" y="1440"/>
            <a:ext cx="12191760" cy="6856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6200"/>
              <a:gd name="textAreaBottom" fmla="*/ 6856560 h 6856200"/>
            </a:gdLst>
            <a:ahLst/>
            <a:rect l="textAreaLeft" t="textAreaTop" r="textAreaRight" b="textAreaBottom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5" name="bg object 23" descr=""/>
          <p:cNvPicPr/>
          <p:nvPr/>
        </p:nvPicPr>
        <p:blipFill>
          <a:blip r:embed="rId7"/>
          <a:stretch/>
        </p:blipFill>
        <p:spPr>
          <a:xfrm>
            <a:off x="10398240" y="0"/>
            <a:ext cx="759960" cy="1203480"/>
          </a:xfrm>
          <a:prstGeom prst="rect">
            <a:avLst/>
          </a:prstGeom>
          <a:ln w="0">
            <a:noFill/>
          </a:ln>
        </p:spPr>
      </p:pic>
      <p:sp>
        <p:nvSpPr>
          <p:cNvPr id="56" name="bg object 24"/>
          <p:cNvSpPr/>
          <p:nvPr/>
        </p:nvSpPr>
        <p:spPr>
          <a:xfrm>
            <a:off x="10437840" y="0"/>
            <a:ext cx="685440" cy="1142640"/>
          </a:xfrm>
          <a:custGeom>
            <a:avLst/>
            <a:gdLst>
              <a:gd name="textAreaLeft" fmla="*/ 0 w 685440"/>
              <a:gd name="textAreaRight" fmla="*/ 685800 w 685440"/>
              <a:gd name="textAreaTop" fmla="*/ 0 h 1142640"/>
              <a:gd name="textAreaBottom" fmla="*/ 1143000 h 1142640"/>
            </a:gdLst>
            <a:ahLst/>
            <a:rect l="textAreaLeft" t="textAreaTop" r="textAreaRight" b="textAreaBottom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998520" y="2190960"/>
            <a:ext cx="4194720" cy="57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edit the 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title text </a:t>
            </a: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10"/>
          </p:nvPr>
        </p:nvSpPr>
        <p:spPr>
          <a:xfrm>
            <a:off x="639720" y="6454440"/>
            <a:ext cx="1028520" cy="18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12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6FAE7B-ADB0-4C8F-9099-D54458323A5D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8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bg object 16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65" name="bg object 17" descr=""/>
          <p:cNvPicPr/>
          <p:nvPr/>
        </p:nvPicPr>
        <p:blipFill>
          <a:blip r:embed="rId3"/>
          <a:stretch/>
        </p:blipFill>
        <p:spPr>
          <a:xfrm>
            <a:off x="0" y="2666880"/>
            <a:ext cx="4190760" cy="4190760"/>
          </a:xfrm>
          <a:prstGeom prst="rect">
            <a:avLst/>
          </a:prstGeom>
          <a:ln w="0">
            <a:noFill/>
          </a:ln>
        </p:spPr>
      </p:pic>
      <p:pic>
        <p:nvPicPr>
          <p:cNvPr id="66" name="bg object 18" descr=""/>
          <p:cNvPicPr/>
          <p:nvPr/>
        </p:nvPicPr>
        <p:blipFill>
          <a:blip r:embed="rId4"/>
          <a:stretch/>
        </p:blipFill>
        <p:spPr>
          <a:xfrm>
            <a:off x="8609040" y="5867280"/>
            <a:ext cx="990360" cy="990360"/>
          </a:xfrm>
          <a:prstGeom prst="rect">
            <a:avLst/>
          </a:prstGeom>
          <a:ln w="0">
            <a:noFill/>
          </a:ln>
        </p:spPr>
      </p:pic>
      <p:pic>
        <p:nvPicPr>
          <p:cNvPr id="67" name="bg object 19" descr=""/>
          <p:cNvPicPr/>
          <p:nvPr/>
        </p:nvPicPr>
        <p:blipFill>
          <a:blip r:embed="rId5"/>
          <a:stretch/>
        </p:blipFill>
        <p:spPr>
          <a:xfrm>
            <a:off x="8609040" y="1676520"/>
            <a:ext cx="2819160" cy="2819160"/>
          </a:xfrm>
          <a:prstGeom prst="rect">
            <a:avLst/>
          </a:prstGeom>
          <a:ln w="0">
            <a:noFill/>
          </a:ln>
        </p:spPr>
      </p:pic>
      <p:pic>
        <p:nvPicPr>
          <p:cNvPr id="68" name="bg object 20" descr=""/>
          <p:cNvPicPr/>
          <p:nvPr/>
        </p:nvPicPr>
        <p:blipFill>
          <a:blip r:embed="rId6"/>
          <a:stretch/>
        </p:blipFill>
        <p:spPr>
          <a:xfrm>
            <a:off x="7999560" y="9000"/>
            <a:ext cx="1599840" cy="1599840"/>
          </a:xfrm>
          <a:prstGeom prst="rect">
            <a:avLst/>
          </a:prstGeom>
          <a:ln w="0">
            <a:noFill/>
          </a:ln>
        </p:spPr>
      </p:pic>
      <p:sp>
        <p:nvSpPr>
          <p:cNvPr id="69" name="bg object 21"/>
          <p:cNvSpPr/>
          <p:nvPr/>
        </p:nvSpPr>
        <p:spPr>
          <a:xfrm>
            <a:off x="8502120" y="1519200"/>
            <a:ext cx="3287520" cy="767880"/>
          </a:xfrm>
          <a:custGeom>
            <a:avLst/>
            <a:gdLst>
              <a:gd name="textAreaLeft" fmla="*/ 0 w 3287520"/>
              <a:gd name="textAreaRight" fmla="*/ 3287880 w 3287520"/>
              <a:gd name="textAreaTop" fmla="*/ 0 h 767880"/>
              <a:gd name="textAreaBottom" fmla="*/ 768240 h 767880"/>
            </a:gdLst>
            <a:ahLst/>
            <a:rect l="textAreaLeft" t="textAreaTop" r="textAreaRight" b="textAreaBottom"/>
            <a:pathLst>
              <a:path w="3288029" h="768350">
                <a:moveTo>
                  <a:pt x="3226307" y="0"/>
                </a:moveTo>
                <a:lnTo>
                  <a:pt x="2909951" y="104775"/>
                </a:lnTo>
                <a:lnTo>
                  <a:pt x="2591054" y="200660"/>
                </a:lnTo>
                <a:lnTo>
                  <a:pt x="2485643" y="229997"/>
                </a:lnTo>
                <a:lnTo>
                  <a:pt x="2271522" y="287274"/>
                </a:lnTo>
                <a:lnTo>
                  <a:pt x="2059812" y="340487"/>
                </a:lnTo>
                <a:lnTo>
                  <a:pt x="1954656" y="365760"/>
                </a:lnTo>
                <a:lnTo>
                  <a:pt x="1639697" y="436244"/>
                </a:lnTo>
                <a:lnTo>
                  <a:pt x="1330071" y="498855"/>
                </a:lnTo>
                <a:lnTo>
                  <a:pt x="1127378" y="536828"/>
                </a:lnTo>
                <a:lnTo>
                  <a:pt x="829309" y="588517"/>
                </a:lnTo>
                <a:lnTo>
                  <a:pt x="447928" y="646811"/>
                </a:lnTo>
                <a:lnTo>
                  <a:pt x="174751" y="683894"/>
                </a:lnTo>
                <a:lnTo>
                  <a:pt x="0" y="705103"/>
                </a:lnTo>
                <a:lnTo>
                  <a:pt x="9701" y="720494"/>
                </a:lnTo>
                <a:lnTo>
                  <a:pt x="29342" y="751181"/>
                </a:lnTo>
                <a:lnTo>
                  <a:pt x="39115" y="766572"/>
                </a:lnTo>
                <a:lnTo>
                  <a:pt x="66166" y="767349"/>
                </a:lnTo>
                <a:lnTo>
                  <a:pt x="95131" y="767793"/>
                </a:lnTo>
                <a:lnTo>
                  <a:pt x="125954" y="767911"/>
                </a:lnTo>
                <a:lnTo>
                  <a:pt x="192949" y="767195"/>
                </a:lnTo>
                <a:lnTo>
                  <a:pt x="305973" y="763849"/>
                </a:lnTo>
                <a:lnTo>
                  <a:pt x="477701" y="755441"/>
                </a:lnTo>
                <a:lnTo>
                  <a:pt x="773052" y="735284"/>
                </a:lnTo>
                <a:lnTo>
                  <a:pt x="1336019" y="685315"/>
                </a:lnTo>
                <a:lnTo>
                  <a:pt x="2059023" y="606988"/>
                </a:lnTo>
                <a:lnTo>
                  <a:pt x="2689041" y="527362"/>
                </a:lnTo>
                <a:lnTo>
                  <a:pt x="3038251" y="477217"/>
                </a:lnTo>
                <a:lnTo>
                  <a:pt x="3250138" y="443265"/>
                </a:lnTo>
                <a:lnTo>
                  <a:pt x="3288029" y="436752"/>
                </a:lnTo>
                <a:lnTo>
                  <a:pt x="3280235" y="379771"/>
                </a:lnTo>
                <a:lnTo>
                  <a:pt x="3273959" y="334487"/>
                </a:lnTo>
                <a:lnTo>
                  <a:pt x="3264862" y="270500"/>
                </a:lnTo>
                <a:lnTo>
                  <a:pt x="3252759" y="189298"/>
                </a:lnTo>
                <a:lnTo>
                  <a:pt x="3249394" y="166333"/>
                </a:lnTo>
                <a:lnTo>
                  <a:pt x="3245343" y="138048"/>
                </a:lnTo>
                <a:lnTo>
                  <a:pt x="3240328" y="102315"/>
                </a:lnTo>
                <a:lnTo>
                  <a:pt x="3234075" y="57008"/>
                </a:lnTo>
                <a:lnTo>
                  <a:pt x="3226307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bg object 22"/>
          <p:cNvSpPr/>
          <p:nvPr/>
        </p:nvSpPr>
        <p:spPr>
          <a:xfrm>
            <a:off x="0" y="1440"/>
            <a:ext cx="12191760" cy="68562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6200"/>
              <a:gd name="textAreaBottom" fmla="*/ 6856560 h 6856200"/>
            </a:gdLst>
            <a:ahLst/>
            <a:rect l="textAreaLeft" t="textAreaTop" r="textAreaRight" b="textAreaBottom"/>
            <a:pathLst>
              <a:path w="12192000" h="6856730">
                <a:moveTo>
                  <a:pt x="12192000" y="0"/>
                </a:moveTo>
                <a:lnTo>
                  <a:pt x="0" y="0"/>
                </a:lnTo>
                <a:lnTo>
                  <a:pt x="0" y="469900"/>
                </a:lnTo>
                <a:lnTo>
                  <a:pt x="0" y="6380480"/>
                </a:lnTo>
                <a:lnTo>
                  <a:pt x="0" y="6856730"/>
                </a:lnTo>
                <a:lnTo>
                  <a:pt x="12192000" y="6856730"/>
                </a:lnTo>
                <a:lnTo>
                  <a:pt x="12192000" y="6380480"/>
                </a:lnTo>
                <a:lnTo>
                  <a:pt x="12192000" y="470154"/>
                </a:lnTo>
                <a:lnTo>
                  <a:pt x="11709273" y="470154"/>
                </a:lnTo>
                <a:lnTo>
                  <a:pt x="11709273" y="1871421"/>
                </a:lnTo>
                <a:lnTo>
                  <a:pt x="10971022" y="1981454"/>
                </a:lnTo>
                <a:lnTo>
                  <a:pt x="10201148" y="2075180"/>
                </a:lnTo>
                <a:lnTo>
                  <a:pt x="9947148" y="2100580"/>
                </a:lnTo>
                <a:lnTo>
                  <a:pt x="9434322" y="2146554"/>
                </a:lnTo>
                <a:lnTo>
                  <a:pt x="8927973" y="2184654"/>
                </a:lnTo>
                <a:lnTo>
                  <a:pt x="8675497" y="2200529"/>
                </a:lnTo>
                <a:lnTo>
                  <a:pt x="7926197" y="2237105"/>
                </a:lnTo>
                <a:lnTo>
                  <a:pt x="7191248" y="2257679"/>
                </a:lnTo>
                <a:lnTo>
                  <a:pt x="6473698" y="2265680"/>
                </a:lnTo>
                <a:lnTo>
                  <a:pt x="6006973" y="2264029"/>
                </a:lnTo>
                <a:lnTo>
                  <a:pt x="5108448" y="2246630"/>
                </a:lnTo>
                <a:lnTo>
                  <a:pt x="4467098" y="2222754"/>
                </a:lnTo>
                <a:lnTo>
                  <a:pt x="3665347" y="2179955"/>
                </a:lnTo>
                <a:lnTo>
                  <a:pt x="2931922" y="2130679"/>
                </a:lnTo>
                <a:lnTo>
                  <a:pt x="2592197" y="2103755"/>
                </a:lnTo>
                <a:lnTo>
                  <a:pt x="1979422" y="2046605"/>
                </a:lnTo>
                <a:lnTo>
                  <a:pt x="1233360" y="1965579"/>
                </a:lnTo>
                <a:lnTo>
                  <a:pt x="863473" y="1921129"/>
                </a:lnTo>
                <a:lnTo>
                  <a:pt x="476377" y="1867852"/>
                </a:lnTo>
                <a:lnTo>
                  <a:pt x="476377" y="469900"/>
                </a:lnTo>
                <a:lnTo>
                  <a:pt x="12192000" y="4699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1" name="bg object 23" descr=""/>
          <p:cNvPicPr/>
          <p:nvPr/>
        </p:nvPicPr>
        <p:blipFill>
          <a:blip r:embed="rId7"/>
          <a:stretch/>
        </p:blipFill>
        <p:spPr>
          <a:xfrm>
            <a:off x="10398240" y="0"/>
            <a:ext cx="759960" cy="1203480"/>
          </a:xfrm>
          <a:prstGeom prst="rect">
            <a:avLst/>
          </a:prstGeom>
          <a:ln w="0">
            <a:noFill/>
          </a:ln>
        </p:spPr>
      </p:pic>
      <p:sp>
        <p:nvSpPr>
          <p:cNvPr id="72" name="bg object 24"/>
          <p:cNvSpPr/>
          <p:nvPr/>
        </p:nvSpPr>
        <p:spPr>
          <a:xfrm>
            <a:off x="10437840" y="0"/>
            <a:ext cx="685440" cy="1142640"/>
          </a:xfrm>
          <a:custGeom>
            <a:avLst/>
            <a:gdLst>
              <a:gd name="textAreaLeft" fmla="*/ 0 w 685440"/>
              <a:gd name="textAreaRight" fmla="*/ 685800 w 685440"/>
              <a:gd name="textAreaTop" fmla="*/ 0 h 1142640"/>
              <a:gd name="textAreaBottom" fmla="*/ 1143000 h 1142640"/>
            </a:gdLst>
            <a:ahLst/>
            <a:rect l="textAreaLeft" t="textAreaTop" r="textAreaRight" b="textAreaBottom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b311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ftr" idx="13"/>
          </p:nvPr>
        </p:nvSpPr>
        <p:spPr>
          <a:xfrm>
            <a:off x="639720" y="6454440"/>
            <a:ext cx="1028520" cy="18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15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9651D0-8B96-40A2-B222-85C7ACEE7BCB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object 2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pic>
          <p:nvPicPr>
            <p:cNvPr id="79" name="object 3" descr="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12191760" cy="6857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0" name="object 4" descr=""/>
            <p:cNvPicPr/>
            <p:nvPr/>
          </p:nvPicPr>
          <p:blipFill>
            <a:blip r:embed="rId2"/>
            <a:stretch/>
          </p:blipFill>
          <p:spPr>
            <a:xfrm>
              <a:off x="0" y="2666880"/>
              <a:ext cx="4190760" cy="4190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1" name="object 5" descr=""/>
            <p:cNvPicPr/>
            <p:nvPr/>
          </p:nvPicPr>
          <p:blipFill>
            <a:blip r:embed="rId3"/>
            <a:stretch/>
          </p:blipFill>
          <p:spPr>
            <a:xfrm>
              <a:off x="8609040" y="5867280"/>
              <a:ext cx="990360" cy="9903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2" name="object 6" descr=""/>
            <p:cNvPicPr/>
            <p:nvPr/>
          </p:nvPicPr>
          <p:blipFill>
            <a:blip r:embed="rId4"/>
            <a:stretch/>
          </p:blipFill>
          <p:spPr>
            <a:xfrm>
              <a:off x="8609040" y="1676520"/>
              <a:ext cx="2819160" cy="28191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3" name="object 7" descr=""/>
            <p:cNvPicPr/>
            <p:nvPr/>
          </p:nvPicPr>
          <p:blipFill>
            <a:blip r:embed="rId5"/>
            <a:stretch/>
          </p:blipFill>
          <p:spPr>
            <a:xfrm>
              <a:off x="7999560" y="9000"/>
              <a:ext cx="1599840" cy="1599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4" name="object 8"/>
            <p:cNvSpPr/>
            <p:nvPr/>
          </p:nvSpPr>
          <p:spPr>
            <a:xfrm>
              <a:off x="8502120" y="1519200"/>
              <a:ext cx="3287520" cy="767880"/>
            </a:xfrm>
            <a:custGeom>
              <a:avLst/>
              <a:gdLst>
                <a:gd name="textAreaLeft" fmla="*/ 0 w 3287520"/>
                <a:gd name="textAreaRight" fmla="*/ 3287880 w 3287520"/>
                <a:gd name="textAreaTop" fmla="*/ 0 h 767880"/>
                <a:gd name="textAreaBottom" fmla="*/ 768240 h 767880"/>
              </a:gdLst>
              <a:ahLst/>
              <a:rect l="textAreaLeft" t="textAreaTop" r="textAreaRight" b="textAreaBottom"/>
              <a:pathLst>
                <a:path w="3288029" h="768350">
                  <a:moveTo>
                    <a:pt x="3226307" y="0"/>
                  </a:moveTo>
                  <a:lnTo>
                    <a:pt x="2909951" y="104775"/>
                  </a:lnTo>
                  <a:lnTo>
                    <a:pt x="2591054" y="200660"/>
                  </a:lnTo>
                  <a:lnTo>
                    <a:pt x="2485643" y="229997"/>
                  </a:lnTo>
                  <a:lnTo>
                    <a:pt x="2271522" y="287274"/>
                  </a:lnTo>
                  <a:lnTo>
                    <a:pt x="2059812" y="340487"/>
                  </a:lnTo>
                  <a:lnTo>
                    <a:pt x="1954656" y="365760"/>
                  </a:lnTo>
                  <a:lnTo>
                    <a:pt x="1639697" y="436244"/>
                  </a:lnTo>
                  <a:lnTo>
                    <a:pt x="1330071" y="498855"/>
                  </a:lnTo>
                  <a:lnTo>
                    <a:pt x="1127378" y="536828"/>
                  </a:lnTo>
                  <a:lnTo>
                    <a:pt x="829309" y="588517"/>
                  </a:lnTo>
                  <a:lnTo>
                    <a:pt x="447928" y="646811"/>
                  </a:lnTo>
                  <a:lnTo>
                    <a:pt x="174751" y="683894"/>
                  </a:lnTo>
                  <a:lnTo>
                    <a:pt x="0" y="705103"/>
                  </a:lnTo>
                  <a:lnTo>
                    <a:pt x="9701" y="720494"/>
                  </a:lnTo>
                  <a:lnTo>
                    <a:pt x="29342" y="751181"/>
                  </a:lnTo>
                  <a:lnTo>
                    <a:pt x="39115" y="766572"/>
                  </a:lnTo>
                  <a:lnTo>
                    <a:pt x="66166" y="767349"/>
                  </a:lnTo>
                  <a:lnTo>
                    <a:pt x="95131" y="767793"/>
                  </a:lnTo>
                  <a:lnTo>
                    <a:pt x="125954" y="767911"/>
                  </a:lnTo>
                  <a:lnTo>
                    <a:pt x="192949" y="767195"/>
                  </a:lnTo>
                  <a:lnTo>
                    <a:pt x="305973" y="763849"/>
                  </a:lnTo>
                  <a:lnTo>
                    <a:pt x="477701" y="755441"/>
                  </a:lnTo>
                  <a:lnTo>
                    <a:pt x="773052" y="735284"/>
                  </a:lnTo>
                  <a:lnTo>
                    <a:pt x="1336019" y="685315"/>
                  </a:lnTo>
                  <a:lnTo>
                    <a:pt x="2059023" y="606988"/>
                  </a:lnTo>
                  <a:lnTo>
                    <a:pt x="2689041" y="527362"/>
                  </a:lnTo>
                  <a:lnTo>
                    <a:pt x="3038251" y="477217"/>
                  </a:lnTo>
                  <a:lnTo>
                    <a:pt x="3250138" y="443265"/>
                  </a:lnTo>
                  <a:lnTo>
                    <a:pt x="3288029" y="436752"/>
                  </a:lnTo>
                  <a:lnTo>
                    <a:pt x="3280235" y="379771"/>
                  </a:lnTo>
                  <a:lnTo>
                    <a:pt x="3273959" y="334487"/>
                  </a:lnTo>
                  <a:lnTo>
                    <a:pt x="3264862" y="270500"/>
                  </a:lnTo>
                  <a:lnTo>
                    <a:pt x="3252759" y="189298"/>
                  </a:lnTo>
                  <a:lnTo>
                    <a:pt x="3249394" y="166333"/>
                  </a:lnTo>
                  <a:lnTo>
                    <a:pt x="3245343" y="138048"/>
                  </a:lnTo>
                  <a:lnTo>
                    <a:pt x="3240328" y="102315"/>
                  </a:lnTo>
                  <a:lnTo>
                    <a:pt x="3234075" y="57008"/>
                  </a:lnTo>
                  <a:lnTo>
                    <a:pt x="3226307" y="0"/>
                  </a:ln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5" name="object 9"/>
            <p:cNvSpPr/>
            <p:nvPr/>
          </p:nvSpPr>
          <p:spPr>
            <a:xfrm>
              <a:off x="0" y="1440"/>
              <a:ext cx="12191760" cy="685620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6200"/>
                <a:gd name="textAreaBottom" fmla="*/ 6856560 h 6856200"/>
              </a:gdLst>
              <a:ahLst/>
              <a:rect l="textAreaLeft" t="textAreaTop" r="textAreaRight" b="textAreaBottom"/>
              <a:pathLst>
                <a:path w="12192000" h="6856730">
                  <a:moveTo>
                    <a:pt x="12192000" y="0"/>
                  </a:moveTo>
                  <a:lnTo>
                    <a:pt x="0" y="0"/>
                  </a:lnTo>
                  <a:lnTo>
                    <a:pt x="0" y="469900"/>
                  </a:lnTo>
                  <a:lnTo>
                    <a:pt x="0" y="6380480"/>
                  </a:lnTo>
                  <a:lnTo>
                    <a:pt x="0" y="6856730"/>
                  </a:lnTo>
                  <a:lnTo>
                    <a:pt x="12192000" y="6856730"/>
                  </a:lnTo>
                  <a:lnTo>
                    <a:pt x="12192000" y="6380480"/>
                  </a:lnTo>
                  <a:lnTo>
                    <a:pt x="12192000" y="470154"/>
                  </a:lnTo>
                  <a:lnTo>
                    <a:pt x="11709273" y="470154"/>
                  </a:lnTo>
                  <a:lnTo>
                    <a:pt x="11709273" y="1871421"/>
                  </a:lnTo>
                  <a:lnTo>
                    <a:pt x="10971022" y="1981454"/>
                  </a:lnTo>
                  <a:lnTo>
                    <a:pt x="10201148" y="2075180"/>
                  </a:lnTo>
                  <a:lnTo>
                    <a:pt x="9947148" y="2100580"/>
                  </a:lnTo>
                  <a:lnTo>
                    <a:pt x="9434322" y="2146554"/>
                  </a:lnTo>
                  <a:lnTo>
                    <a:pt x="8927973" y="2184654"/>
                  </a:lnTo>
                  <a:lnTo>
                    <a:pt x="8675497" y="2200529"/>
                  </a:lnTo>
                  <a:lnTo>
                    <a:pt x="7926197" y="2237105"/>
                  </a:lnTo>
                  <a:lnTo>
                    <a:pt x="7191248" y="2257679"/>
                  </a:lnTo>
                  <a:lnTo>
                    <a:pt x="6473698" y="2265680"/>
                  </a:lnTo>
                  <a:lnTo>
                    <a:pt x="6006973" y="2264029"/>
                  </a:lnTo>
                  <a:lnTo>
                    <a:pt x="5108448" y="2246630"/>
                  </a:lnTo>
                  <a:lnTo>
                    <a:pt x="4467098" y="2222754"/>
                  </a:lnTo>
                  <a:lnTo>
                    <a:pt x="3665347" y="2179955"/>
                  </a:lnTo>
                  <a:lnTo>
                    <a:pt x="2931922" y="2130679"/>
                  </a:lnTo>
                  <a:lnTo>
                    <a:pt x="2592197" y="2103755"/>
                  </a:lnTo>
                  <a:lnTo>
                    <a:pt x="1979422" y="2046605"/>
                  </a:lnTo>
                  <a:lnTo>
                    <a:pt x="1233360" y="1965579"/>
                  </a:lnTo>
                  <a:lnTo>
                    <a:pt x="863473" y="1921129"/>
                  </a:lnTo>
                  <a:lnTo>
                    <a:pt x="476377" y="1867852"/>
                  </a:lnTo>
                  <a:lnTo>
                    <a:pt x="476377" y="469900"/>
                  </a:lnTo>
                  <a:lnTo>
                    <a:pt x="12192000" y="46990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pic>
          <p:nvPicPr>
            <p:cNvPr id="86" name="object 10" descr=""/>
            <p:cNvPicPr/>
            <p:nvPr/>
          </p:nvPicPr>
          <p:blipFill>
            <a:blip r:embed="rId6"/>
            <a:stretch/>
          </p:blipFill>
          <p:spPr>
            <a:xfrm>
              <a:off x="10398240" y="0"/>
              <a:ext cx="759960" cy="120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87" name="object 11"/>
            <p:cNvSpPr/>
            <p:nvPr/>
          </p:nvSpPr>
          <p:spPr>
            <a:xfrm>
              <a:off x="1752480" y="0"/>
              <a:ext cx="9370800" cy="3090240"/>
            </a:xfrm>
            <a:custGeom>
              <a:avLst/>
              <a:gdLst>
                <a:gd name="textAreaLeft" fmla="*/ 0 w 9370800"/>
                <a:gd name="textAreaRight" fmla="*/ 9371160 w 9370800"/>
                <a:gd name="textAreaTop" fmla="*/ 0 h 3090240"/>
                <a:gd name="textAreaBottom" fmla="*/ 3090600 h 3090240"/>
              </a:gdLst>
              <a:ahLst/>
              <a:rect l="textAreaLeft" t="textAreaTop" r="textAreaRight" b="textAreaBottom"/>
              <a:pathLst>
                <a:path w="9371330" h="3090545">
                  <a:moveTo>
                    <a:pt x="2869692" y="2889567"/>
                  </a:moveTo>
                  <a:lnTo>
                    <a:pt x="0" y="2889567"/>
                  </a:lnTo>
                  <a:lnTo>
                    <a:pt x="0" y="3090418"/>
                  </a:lnTo>
                  <a:lnTo>
                    <a:pt x="2869692" y="3090418"/>
                  </a:lnTo>
                  <a:lnTo>
                    <a:pt x="2869692" y="2889567"/>
                  </a:lnTo>
                  <a:close/>
                </a:path>
                <a:path w="9371330" h="3090545">
                  <a:moveTo>
                    <a:pt x="9371076" y="0"/>
                  </a:moveTo>
                  <a:lnTo>
                    <a:pt x="8685276" y="0"/>
                  </a:lnTo>
                  <a:lnTo>
                    <a:pt x="8685276" y="1143000"/>
                  </a:lnTo>
                  <a:lnTo>
                    <a:pt x="9371076" y="1143000"/>
                  </a:lnTo>
                  <a:lnTo>
                    <a:pt x="9371076" y="0"/>
                  </a:lnTo>
                  <a:close/>
                </a:path>
              </a:pathLst>
            </a:custGeom>
            <a:solidFill>
              <a:srgbClr val="b311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8" name="object 12"/>
            <p:cNvSpPr/>
            <p:nvPr/>
          </p:nvSpPr>
          <p:spPr>
            <a:xfrm>
              <a:off x="1752480" y="2889720"/>
              <a:ext cx="2869920" cy="200880"/>
            </a:xfrm>
            <a:custGeom>
              <a:avLst/>
              <a:gdLst>
                <a:gd name="textAreaLeft" fmla="*/ 0 w 2869920"/>
                <a:gd name="textAreaRight" fmla="*/ 2870280 w 2869920"/>
                <a:gd name="textAreaTop" fmla="*/ 0 h 200880"/>
                <a:gd name="textAreaBottom" fmla="*/ 201240 h 200880"/>
              </a:gdLst>
              <a:ahLst/>
              <a:rect l="textAreaLeft" t="textAreaTop" r="textAreaRight" b="textAreaBottom"/>
              <a:pathLst>
                <a:path w="2870200" h="201294">
                  <a:moveTo>
                    <a:pt x="0" y="200850"/>
                  </a:moveTo>
                  <a:lnTo>
                    <a:pt x="2869692" y="200850"/>
                  </a:lnTo>
                  <a:lnTo>
                    <a:pt x="2869692" y="0"/>
                  </a:lnTo>
                  <a:lnTo>
                    <a:pt x="0" y="0"/>
                  </a:lnTo>
                  <a:lnTo>
                    <a:pt x="0" y="200850"/>
                  </a:lnTo>
                  <a:close/>
                </a:path>
              </a:pathLst>
            </a:custGeom>
            <a:noFill/>
            <a:ln w="914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89" name="object 13"/>
            <p:cNvSpPr/>
            <p:nvPr/>
          </p:nvSpPr>
          <p:spPr>
            <a:xfrm>
              <a:off x="4622400" y="2889720"/>
              <a:ext cx="2871000" cy="200880"/>
            </a:xfrm>
            <a:custGeom>
              <a:avLst/>
              <a:gdLst>
                <a:gd name="textAreaLeft" fmla="*/ 0 w 2871000"/>
                <a:gd name="textAreaRight" fmla="*/ 2871360 w 2871000"/>
                <a:gd name="textAreaTop" fmla="*/ 0 h 200880"/>
                <a:gd name="textAreaBottom" fmla="*/ 201240 h 200880"/>
              </a:gdLst>
              <a:ahLst/>
              <a:rect l="textAreaLeft" t="textAreaTop" r="textAreaRight" b="textAreaBottom"/>
              <a:pathLst>
                <a:path w="2871470" h="201294">
                  <a:moveTo>
                    <a:pt x="2871216" y="0"/>
                  </a:moveTo>
                  <a:lnTo>
                    <a:pt x="0" y="0"/>
                  </a:lnTo>
                  <a:lnTo>
                    <a:pt x="0" y="200850"/>
                  </a:lnTo>
                  <a:lnTo>
                    <a:pt x="2871216" y="200850"/>
                  </a:lnTo>
                  <a:lnTo>
                    <a:pt x="2871216" y="0"/>
                  </a:lnTo>
                  <a:close/>
                </a:path>
              </a:pathLst>
            </a:custGeom>
            <a:solidFill>
              <a:srgbClr val="b311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0" name="object 14"/>
            <p:cNvSpPr/>
            <p:nvPr/>
          </p:nvSpPr>
          <p:spPr>
            <a:xfrm>
              <a:off x="4622400" y="2889720"/>
              <a:ext cx="2871000" cy="200880"/>
            </a:xfrm>
            <a:custGeom>
              <a:avLst/>
              <a:gdLst>
                <a:gd name="textAreaLeft" fmla="*/ 0 w 2871000"/>
                <a:gd name="textAreaRight" fmla="*/ 2871360 w 2871000"/>
                <a:gd name="textAreaTop" fmla="*/ 0 h 200880"/>
                <a:gd name="textAreaBottom" fmla="*/ 201240 h 200880"/>
              </a:gdLst>
              <a:ahLst/>
              <a:rect l="textAreaLeft" t="textAreaTop" r="textAreaRight" b="textAreaBottom"/>
              <a:pathLst>
                <a:path w="2871470" h="201294">
                  <a:moveTo>
                    <a:pt x="0" y="200850"/>
                  </a:moveTo>
                  <a:lnTo>
                    <a:pt x="2871216" y="200850"/>
                  </a:lnTo>
                  <a:lnTo>
                    <a:pt x="2871216" y="0"/>
                  </a:lnTo>
                  <a:lnTo>
                    <a:pt x="0" y="0"/>
                  </a:lnTo>
                  <a:lnTo>
                    <a:pt x="0" y="200850"/>
                  </a:lnTo>
                  <a:close/>
                </a:path>
              </a:pathLst>
            </a:custGeom>
            <a:noFill/>
            <a:ln w="914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1" name="object 15"/>
            <p:cNvSpPr/>
            <p:nvPr/>
          </p:nvSpPr>
          <p:spPr>
            <a:xfrm>
              <a:off x="7493400" y="2889720"/>
              <a:ext cx="2869920" cy="200880"/>
            </a:xfrm>
            <a:custGeom>
              <a:avLst/>
              <a:gdLst>
                <a:gd name="textAreaLeft" fmla="*/ 0 w 2869920"/>
                <a:gd name="textAreaRight" fmla="*/ 2870280 w 2869920"/>
                <a:gd name="textAreaTop" fmla="*/ 0 h 200880"/>
                <a:gd name="textAreaBottom" fmla="*/ 201240 h 200880"/>
              </a:gdLst>
              <a:ahLst/>
              <a:rect l="textAreaLeft" t="textAreaTop" r="textAreaRight" b="textAreaBottom"/>
              <a:pathLst>
                <a:path w="2870200" h="201294">
                  <a:moveTo>
                    <a:pt x="2869692" y="0"/>
                  </a:moveTo>
                  <a:lnTo>
                    <a:pt x="0" y="0"/>
                  </a:lnTo>
                  <a:lnTo>
                    <a:pt x="0" y="200850"/>
                  </a:lnTo>
                  <a:lnTo>
                    <a:pt x="2869692" y="200850"/>
                  </a:lnTo>
                  <a:lnTo>
                    <a:pt x="2869692" y="0"/>
                  </a:lnTo>
                  <a:close/>
                </a:path>
              </a:pathLst>
            </a:custGeom>
            <a:solidFill>
              <a:srgbClr val="b311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92" name="object 16"/>
            <p:cNvSpPr/>
            <p:nvPr/>
          </p:nvSpPr>
          <p:spPr>
            <a:xfrm>
              <a:off x="7493400" y="2889720"/>
              <a:ext cx="2869920" cy="200880"/>
            </a:xfrm>
            <a:custGeom>
              <a:avLst/>
              <a:gdLst>
                <a:gd name="textAreaLeft" fmla="*/ 0 w 2869920"/>
                <a:gd name="textAreaRight" fmla="*/ 2870280 w 2869920"/>
                <a:gd name="textAreaTop" fmla="*/ 0 h 200880"/>
                <a:gd name="textAreaBottom" fmla="*/ 201240 h 200880"/>
              </a:gdLst>
              <a:ahLst/>
              <a:rect l="textAreaLeft" t="textAreaTop" r="textAreaRight" b="textAreaBottom"/>
              <a:pathLst>
                <a:path w="2870200" h="201294">
                  <a:moveTo>
                    <a:pt x="0" y="200850"/>
                  </a:moveTo>
                  <a:lnTo>
                    <a:pt x="2869692" y="200850"/>
                  </a:lnTo>
                  <a:lnTo>
                    <a:pt x="2869692" y="0"/>
                  </a:lnTo>
                  <a:lnTo>
                    <a:pt x="0" y="0"/>
                  </a:lnTo>
                  <a:lnTo>
                    <a:pt x="0" y="200850"/>
                  </a:lnTo>
                  <a:close/>
                </a:path>
              </a:pathLst>
            </a:custGeom>
            <a:noFill/>
            <a:ln w="9144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3998520" y="2190960"/>
            <a:ext cx="41947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24264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US" sz="3600" spc="-52" strike="noStrike">
                <a:solidFill>
                  <a:srgbClr val="ff0000"/>
                </a:solidFill>
                <a:latin typeface="Tahoma"/>
              </a:rPr>
              <a:t>Data</a:t>
            </a:r>
            <a:r>
              <a:rPr b="1" lang="en-US" sz="3600" spc="-126" strike="noStrike">
                <a:solidFill>
                  <a:srgbClr val="ff0000"/>
                </a:solidFill>
                <a:latin typeface="Tahoma"/>
              </a:rPr>
              <a:t> </a:t>
            </a:r>
            <a:r>
              <a:rPr b="1" lang="en-US" sz="3600" spc="-120" strike="noStrike">
                <a:solidFill>
                  <a:srgbClr val="ff0000"/>
                </a:solidFill>
                <a:latin typeface="Tahoma"/>
              </a:rPr>
              <a:t>Visualization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object 18"/>
          <p:cNvSpPr/>
          <p:nvPr/>
        </p:nvSpPr>
        <p:spPr>
          <a:xfrm>
            <a:off x="10662120" y="570960"/>
            <a:ext cx="22176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36" strike="noStrike">
                <a:solidFill>
                  <a:srgbClr val="ffffff"/>
                </a:solidFill>
                <a:latin typeface="Verdana"/>
              </a:rPr>
              <a:t>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object 19"/>
          <p:cNvSpPr/>
          <p:nvPr/>
        </p:nvSpPr>
        <p:spPr>
          <a:xfrm>
            <a:off x="5109120" y="3195360"/>
            <a:ext cx="1907280" cy="97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31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9"/>
              </a:spcBef>
            </a:pPr>
            <a:r>
              <a:rPr b="1" lang="en-US" sz="2400" spc="-15" strike="noStrike">
                <a:solidFill>
                  <a:schemeClr val="dk1"/>
                </a:solidFill>
                <a:latin typeface="Verdana"/>
              </a:rPr>
              <a:t>Chapter 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969"/>
              </a:spcBef>
            </a:pPr>
            <a:r>
              <a:rPr b="1" lang="en-US" sz="2400" spc="-114" strike="noStrike">
                <a:solidFill>
                  <a:schemeClr val="dk1"/>
                </a:solidFill>
                <a:latin typeface="Tahoma"/>
              </a:rPr>
              <a:t>Introduction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object 21"/>
          <p:cNvSpPr/>
          <p:nvPr/>
        </p:nvSpPr>
        <p:spPr>
          <a:xfrm>
            <a:off x="3711240" y="174240"/>
            <a:ext cx="35506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</a:pPr>
            <a:r>
              <a:rPr b="1" lang="en-US" sz="1800" spc="-75" strike="noStrike">
                <a:solidFill>
                  <a:schemeClr val="dk1"/>
                </a:solidFill>
                <a:latin typeface="Tahoma"/>
              </a:rPr>
              <a:t>Master's</a:t>
            </a:r>
            <a:r>
              <a:rPr b="1" lang="en-US" sz="1800" spc="-52" strike="noStrike">
                <a:solidFill>
                  <a:schemeClr val="dk1"/>
                </a:solidFill>
                <a:latin typeface="Tahoma"/>
              </a:rPr>
              <a:t> </a:t>
            </a:r>
            <a:r>
              <a:rPr b="1" lang="en-US" sz="1800" spc="-97" strike="noStrike">
                <a:solidFill>
                  <a:schemeClr val="dk1"/>
                </a:solidFill>
                <a:latin typeface="Tahoma"/>
              </a:rPr>
              <a:t>in</a:t>
            </a:r>
            <a:r>
              <a:rPr b="1" lang="en-US" sz="1800" spc="-32" strike="noStrike">
                <a:solidFill>
                  <a:schemeClr val="dk1"/>
                </a:solidFill>
                <a:latin typeface="Tahoma"/>
              </a:rPr>
              <a:t> Data</a:t>
            </a:r>
            <a:r>
              <a:rPr b="1" lang="en-US" sz="1800" spc="-46" strike="noStrike">
                <a:solidFill>
                  <a:schemeClr val="dk1"/>
                </a:solidFill>
                <a:latin typeface="Tahoma"/>
              </a:rPr>
              <a:t> </a:t>
            </a:r>
            <a:r>
              <a:rPr b="1" lang="en-US" sz="1800" spc="-1" strike="noStrike">
                <a:solidFill>
                  <a:schemeClr val="dk1"/>
                </a:solidFill>
                <a:latin typeface="Tahoma"/>
              </a:rPr>
              <a:t>Sciences</a:t>
            </a:r>
            <a:r>
              <a:rPr b="1" lang="en-US" sz="1800" spc="-46" strike="noStrike">
                <a:solidFill>
                  <a:schemeClr val="dk1"/>
                </a:solidFill>
                <a:latin typeface="Tahoma"/>
              </a:rPr>
              <a:t> </a:t>
            </a:r>
            <a:r>
              <a:rPr b="1" lang="en-US" sz="1800" spc="-114" strike="noStrike">
                <a:solidFill>
                  <a:schemeClr val="dk1"/>
                </a:solidFill>
                <a:latin typeface="Tahoma"/>
              </a:rPr>
              <a:t>(MDS)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21319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ebebeb"/>
                </a:solidFill>
                <a:latin typeface="Verdana"/>
              </a:rPr>
              <a:t>Overview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object 3"/>
          <p:cNvSpPr/>
          <p:nvPr/>
        </p:nvSpPr>
        <p:spPr>
          <a:xfrm>
            <a:off x="1234080" y="2506320"/>
            <a:ext cx="8222400" cy="161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896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094"/>
              </a:spcBef>
              <a:tabLst>
                <a:tab algn="l" pos="35496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800" spc="-335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roduc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su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29" strike="noStrike">
                <a:solidFill>
                  <a:srgbClr val="404040"/>
                </a:solidFill>
                <a:latin typeface="Verdana"/>
              </a:rPr>
              <a:t>rc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995"/>
              </a:spcBef>
              <a:tabLst>
                <a:tab algn="l" pos="35496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su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pr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148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52" strike="noStrike">
                <a:solidFill>
                  <a:srgbClr val="404040"/>
                </a:solidFill>
                <a:latin typeface="Verdana"/>
              </a:rPr>
              <a:t>da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995"/>
              </a:spcBef>
              <a:tabLst>
                <a:tab algn="l" pos="35496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Da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3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b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800" spc="-60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800" spc="3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1009"/>
              </a:spcBef>
              <a:tabLst>
                <a:tab algn="l" pos="35496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encodings,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Use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color,</a:t>
            </a:r>
            <a:r>
              <a:rPr b="0" lang="en-US" sz="18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Perceptual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40" strike="noStrike">
                <a:solidFill>
                  <a:srgbClr val="404040"/>
                </a:solidFill>
                <a:latin typeface="Verdana"/>
              </a:rPr>
              <a:t>issues,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8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overloads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object 4"/>
          <p:cNvSpPr/>
          <p:nvPr/>
        </p:nvSpPr>
        <p:spPr>
          <a:xfrm>
            <a:off x="10662120" y="570960"/>
            <a:ext cx="22176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36" strike="noStrike">
                <a:solidFill>
                  <a:srgbClr val="ffffff"/>
                </a:solidFill>
                <a:latin typeface="Verdana"/>
              </a:rPr>
              <a:t>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234080" y="755280"/>
            <a:ext cx="721764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97" strike="noStrike">
                <a:solidFill>
                  <a:srgbClr val="ebebeb"/>
                </a:solidFill>
                <a:latin typeface="Verdana"/>
              </a:rPr>
              <a:t>Introduction</a:t>
            </a:r>
            <a:r>
              <a:rPr b="0" lang="en-US" sz="3600" spc="-245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of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165" strike="noStrike">
                <a:solidFill>
                  <a:srgbClr val="ebebeb"/>
                </a:solidFill>
                <a:latin typeface="Verdana"/>
              </a:rPr>
              <a:t>visual</a:t>
            </a:r>
            <a:r>
              <a:rPr b="0" lang="en-US" sz="3600" spc="-25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32" strike="noStrike">
                <a:solidFill>
                  <a:srgbClr val="ebebeb"/>
                </a:solidFill>
                <a:latin typeface="Verdana"/>
              </a:rPr>
              <a:t>perception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1234080" y="2605320"/>
            <a:ext cx="8669880" cy="31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920" bIns="0" anchor="t">
            <a:spAutoFit/>
          </a:bodyPr>
          <a:p>
            <a:pPr marL="355680" indent="-343080" defTabSz="914400">
              <a:lnSpc>
                <a:spcPts val="1939"/>
              </a:lnSpc>
              <a:spcBef>
                <a:spcPts val="346"/>
              </a:spcBef>
              <a:tabLst>
                <a:tab algn="l" pos="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perception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82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process</a:t>
            </a:r>
            <a:r>
              <a:rPr b="0" lang="en-US" sz="18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which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human</a:t>
            </a:r>
            <a:r>
              <a:rPr b="0" lang="en-US" sz="18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brain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 interprets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800" spc="-61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ma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60" strike="noStrike">
                <a:solidFill>
                  <a:srgbClr val="404040"/>
                </a:solidFill>
                <a:latin typeface="Verdana"/>
              </a:rPr>
              <a:t>fro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m</a:t>
            </a:r>
            <a:r>
              <a:rPr b="0" lang="en-US" sz="18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60" strike="noStrike">
                <a:solidFill>
                  <a:srgbClr val="404040"/>
                </a:solidFill>
                <a:latin typeface="Verdana"/>
              </a:rPr>
              <a:t>ro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me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ts val="1939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800" spc="-216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800" spc="-16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800" spc="26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25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complex</a:t>
            </a:r>
            <a:r>
              <a:rPr b="0" lang="en-US" sz="1800" spc="25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interplay</a:t>
            </a:r>
            <a:r>
              <a:rPr b="0" lang="en-US" sz="1800" spc="26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32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1800" spc="25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26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physical</a:t>
            </a:r>
            <a:r>
              <a:rPr b="0" lang="en-US" sz="1800" spc="27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properties</a:t>
            </a:r>
            <a:r>
              <a:rPr b="0" lang="en-US" sz="1800" spc="26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26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light </a:t>
            </a:r>
            <a:r>
              <a:rPr b="0" lang="en-US" sz="1800" spc="-62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6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neural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mechanisms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process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this 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8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8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brain.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ts val="2049"/>
              </a:lnSpc>
              <a:spcBef>
                <a:spcPts val="754"/>
              </a:spcBef>
              <a:tabLst>
                <a:tab algn="l" pos="35496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perception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plays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crucial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role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our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everyday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lives,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it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allows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40" strike="noStrike">
                <a:solidFill>
                  <a:srgbClr val="404040"/>
                </a:solidFill>
                <a:latin typeface="Verdana"/>
              </a:rPr>
              <a:t>us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55680" defTabSz="914400">
              <a:lnSpc>
                <a:spcPts val="2049"/>
              </a:lnSpc>
              <a:tabLst>
                <a:tab algn="l" pos="35496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make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sense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world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around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us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6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interact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effectively.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ts val="1939"/>
              </a:lnSpc>
              <a:spcBef>
                <a:spcPts val="1046"/>
              </a:spcBef>
              <a:tabLst>
                <a:tab algn="l" pos="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52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800" spc="32" strike="noStrike">
                <a:solidFill>
                  <a:srgbClr val="404040"/>
                </a:solidFill>
                <a:latin typeface="Verdana"/>
              </a:rPr>
              <a:t>An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example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perception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8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action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0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seen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when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9" strike="noStrike">
                <a:solidFill>
                  <a:srgbClr val="404040"/>
                </a:solidFill>
                <a:latin typeface="Verdana"/>
              </a:rPr>
              <a:t>we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look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8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800" spc="-62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simple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object,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ball.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When</a:t>
            </a:r>
            <a:r>
              <a:rPr b="0" lang="en-US" sz="18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9" strike="noStrike">
                <a:solidFill>
                  <a:srgbClr val="404040"/>
                </a:solidFill>
                <a:latin typeface="Verdana"/>
              </a:rPr>
              <a:t>we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see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ball,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our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eyes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52" strike="noStrike">
                <a:solidFill>
                  <a:srgbClr val="404040"/>
                </a:solidFill>
                <a:latin typeface="Verdana"/>
              </a:rPr>
              <a:t>detect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light </a:t>
            </a:r>
            <a:r>
              <a:rPr b="0" lang="en-US" sz="1800" spc="-62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800" spc="-182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reflected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off 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its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surface </a:t>
            </a:r>
            <a:r>
              <a:rPr b="0" lang="en-US" sz="1800" spc="6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send 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this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information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brain. </a:t>
            </a:r>
            <a:r>
              <a:rPr b="0" lang="en-US" sz="1800" spc="-97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brain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then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processes 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this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information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32" strike="noStrike">
                <a:solidFill>
                  <a:srgbClr val="404040"/>
                </a:solidFill>
                <a:latin typeface="Verdana"/>
              </a:rPr>
              <a:t>create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representation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ball,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including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its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size,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shape,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color,</a:t>
            </a:r>
            <a:r>
              <a:rPr b="0" lang="en-US" sz="18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6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texture.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10662120" y="570960"/>
            <a:ext cx="22176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36" strike="noStrike">
                <a:solidFill>
                  <a:srgbClr val="ffffff"/>
                </a:solidFill>
                <a:latin typeface="Verdana"/>
              </a:rPr>
              <a:t>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234080" y="755280"/>
            <a:ext cx="721764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97" strike="noStrike">
                <a:solidFill>
                  <a:srgbClr val="ebebeb"/>
                </a:solidFill>
                <a:latin typeface="Verdana"/>
              </a:rPr>
              <a:t>Introduction</a:t>
            </a:r>
            <a:r>
              <a:rPr b="0" lang="en-US" sz="3600" spc="-245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of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165" strike="noStrike">
                <a:solidFill>
                  <a:srgbClr val="ebebeb"/>
                </a:solidFill>
                <a:latin typeface="Verdana"/>
              </a:rPr>
              <a:t>visual</a:t>
            </a:r>
            <a:r>
              <a:rPr b="0" lang="en-US" sz="3600" spc="-25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32" strike="noStrike">
                <a:solidFill>
                  <a:srgbClr val="ebebeb"/>
                </a:solidFill>
                <a:latin typeface="Verdana"/>
              </a:rPr>
              <a:t>perception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object 3"/>
          <p:cNvSpPr/>
          <p:nvPr/>
        </p:nvSpPr>
        <p:spPr>
          <a:xfrm>
            <a:off x="1234080" y="2606760"/>
            <a:ext cx="8670600" cy="27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1760" bIns="0" anchor="t">
            <a:spAutoFit/>
          </a:bodyPr>
          <a:p>
            <a:pPr marL="355680" indent="-343080" algn="just" defTabSz="914400">
              <a:lnSpc>
                <a:spcPts val="1840"/>
              </a:lnSpc>
              <a:spcBef>
                <a:spcPts val="329"/>
              </a:spcBef>
              <a:tabLst>
                <a:tab algn="l" pos="0"/>
              </a:tabLst>
            </a:pPr>
            <a:r>
              <a:rPr b="0" lang="en-US" sz="1350" spc="-13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350" spc="-126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700" spc="-66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700" spc="12" strike="noStrike">
                <a:solidFill>
                  <a:srgbClr val="404040"/>
                </a:solidFill>
                <a:latin typeface="Verdana"/>
              </a:rPr>
              <a:t>perception </a:t>
            </a:r>
            <a:r>
              <a:rPr b="0" lang="en-US" sz="1700" spc="-35" strike="noStrike">
                <a:solidFill>
                  <a:srgbClr val="404040"/>
                </a:solidFill>
                <a:latin typeface="Verdana"/>
              </a:rPr>
              <a:t>also </a:t>
            </a:r>
            <a:r>
              <a:rPr b="0" lang="en-US" sz="1700" spc="-46" strike="noStrike">
                <a:solidFill>
                  <a:srgbClr val="404040"/>
                </a:solidFill>
                <a:latin typeface="Verdana"/>
              </a:rPr>
              <a:t>allows </a:t>
            </a:r>
            <a:r>
              <a:rPr b="0" lang="en-US" sz="1700" spc="-137" strike="noStrike">
                <a:solidFill>
                  <a:srgbClr val="404040"/>
                </a:solidFill>
                <a:latin typeface="Verdana"/>
              </a:rPr>
              <a:t>us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700" spc="18" strike="noStrike">
                <a:solidFill>
                  <a:srgbClr val="404040"/>
                </a:solidFill>
                <a:latin typeface="Verdana"/>
              </a:rPr>
              <a:t>perceive </a:t>
            </a:r>
            <a:r>
              <a:rPr b="0" lang="en-US" sz="1700" spc="24" strike="noStrike">
                <a:solidFill>
                  <a:srgbClr val="404040"/>
                </a:solidFill>
                <a:latin typeface="Verdana"/>
              </a:rPr>
              <a:t>depth </a:t>
            </a:r>
            <a:r>
              <a:rPr b="0" lang="en-US" sz="1700" spc="6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distance. </a:t>
            </a:r>
            <a:r>
              <a:rPr b="0" lang="en-US" sz="1700" spc="-97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example, </a:t>
            </a:r>
            <a:r>
              <a:rPr b="0" lang="en-US" sz="1700" spc="-58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4" strike="noStrike">
                <a:solidFill>
                  <a:srgbClr val="404040"/>
                </a:solidFill>
                <a:latin typeface="Verdana"/>
              </a:rPr>
              <a:t>when </a:t>
            </a:r>
            <a:r>
              <a:rPr b="0" lang="en-US" sz="1700" spc="52" strike="noStrike">
                <a:solidFill>
                  <a:srgbClr val="404040"/>
                </a:solidFill>
                <a:latin typeface="Verdana"/>
              </a:rPr>
              <a:t>we </a:t>
            </a:r>
            <a:r>
              <a:rPr b="0" lang="en-US" sz="1700" spc="-32" strike="noStrike">
                <a:solidFill>
                  <a:srgbClr val="404040"/>
                </a:solidFill>
                <a:latin typeface="Verdana"/>
              </a:rPr>
              <a:t>look </a:t>
            </a:r>
            <a:r>
              <a:rPr b="0" lang="en-US" sz="1700" spc="24" strike="noStrike">
                <a:solidFill>
                  <a:srgbClr val="404040"/>
                </a:solidFill>
                <a:latin typeface="Verdana"/>
              </a:rPr>
              <a:t>at </a:t>
            </a:r>
            <a:r>
              <a:rPr b="0" lang="en-US" sz="1700" spc="137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mountain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range, </a:t>
            </a:r>
            <a:r>
              <a:rPr b="0" lang="en-US" sz="1700" spc="-60" strike="noStrike">
                <a:solidFill>
                  <a:srgbClr val="404040"/>
                </a:solidFill>
                <a:latin typeface="Verdana"/>
              </a:rPr>
              <a:t>our 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brain </a:t>
            </a:r>
            <a:r>
              <a:rPr b="0" lang="en-US" sz="1700" spc="-100" strike="noStrike">
                <a:solidFill>
                  <a:srgbClr val="404040"/>
                </a:solidFill>
                <a:latin typeface="Verdana"/>
              </a:rPr>
              <a:t>uses </a:t>
            </a:r>
            <a:r>
              <a:rPr b="0" lang="en-US" sz="1700" spc="4" strike="noStrike">
                <a:solidFill>
                  <a:srgbClr val="404040"/>
                </a:solidFill>
                <a:latin typeface="Verdana"/>
              </a:rPr>
              <a:t>cues 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such </a:t>
            </a:r>
            <a:r>
              <a:rPr b="0" lang="en-US" sz="1700" spc="-46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700" spc="-21" strike="noStrike">
                <a:solidFill>
                  <a:srgbClr val="404040"/>
                </a:solidFill>
                <a:latin typeface="Verdana"/>
              </a:rPr>
              <a:t>perspective,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 shadow,</a:t>
            </a:r>
            <a:r>
              <a:rPr b="0" lang="en-US" sz="17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6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7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60" strike="noStrike">
                <a:solidFill>
                  <a:srgbClr val="404040"/>
                </a:solidFill>
                <a:latin typeface="Verdana"/>
              </a:rPr>
              <a:t>interposition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21" strike="noStrike">
                <a:solidFill>
                  <a:srgbClr val="404040"/>
                </a:solidFill>
                <a:latin typeface="Verdana"/>
              </a:rPr>
              <a:t>determine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" strike="noStrike">
                <a:solidFill>
                  <a:srgbClr val="404040"/>
                </a:solidFill>
                <a:latin typeface="Verdana"/>
              </a:rPr>
              <a:t>which</a:t>
            </a:r>
            <a:r>
              <a:rPr b="0" lang="en-US" sz="17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peaks</a:t>
            </a:r>
            <a:r>
              <a:rPr b="0" lang="en-US" sz="17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32" strike="noStrike">
                <a:solidFill>
                  <a:srgbClr val="404040"/>
                </a:solidFill>
                <a:latin typeface="Verdana"/>
              </a:rPr>
              <a:t>closer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6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" strike="noStrike">
                <a:solidFill>
                  <a:srgbClr val="404040"/>
                </a:solidFill>
                <a:latin typeface="Verdana"/>
              </a:rPr>
              <a:t>which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" strike="noStrike">
                <a:solidFill>
                  <a:srgbClr val="404040"/>
                </a:solidFill>
                <a:latin typeface="Verdana"/>
              </a:rPr>
              <a:t>are </a:t>
            </a:r>
            <a:r>
              <a:rPr b="0" lang="en-US" sz="1700" spc="-58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60" strike="noStrike">
                <a:solidFill>
                  <a:srgbClr val="404040"/>
                </a:solidFill>
                <a:latin typeface="Verdana"/>
              </a:rPr>
              <a:t>farther</a:t>
            </a:r>
            <a:r>
              <a:rPr b="0" lang="en-US" sz="17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9" strike="noStrike">
                <a:solidFill>
                  <a:srgbClr val="404040"/>
                </a:solidFill>
                <a:latin typeface="Verdana"/>
              </a:rPr>
              <a:t>away.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ts val="1840"/>
              </a:lnSpc>
              <a:spcBef>
                <a:spcPts val="981"/>
              </a:spcBef>
              <a:tabLst>
                <a:tab algn="l" pos="0"/>
              </a:tabLst>
            </a:pPr>
            <a:r>
              <a:rPr b="0" lang="en-US" sz="1350" spc="-13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350" spc="168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700" spc="-182" strike="noStrike">
                <a:solidFill>
                  <a:srgbClr val="404040"/>
                </a:solidFill>
                <a:latin typeface="Verdana"/>
              </a:rPr>
              <a:t>This</a:t>
            </a:r>
            <a:r>
              <a:rPr b="0" lang="en-US" sz="1700" spc="23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46" strike="noStrike">
                <a:solidFill>
                  <a:srgbClr val="404040"/>
                </a:solidFill>
                <a:latin typeface="Verdana"/>
              </a:rPr>
              <a:t>information </a:t>
            </a:r>
            <a:r>
              <a:rPr b="0" lang="en-US" sz="1700" spc="-177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700" spc="24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21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700" spc="32" strike="noStrike">
                <a:solidFill>
                  <a:srgbClr val="404040"/>
                </a:solidFill>
                <a:latin typeface="Verdana"/>
              </a:rPr>
              <a:t>create </a:t>
            </a:r>
            <a:r>
              <a:rPr b="0" lang="en-US" sz="1700" spc="137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700" spc="-92" strike="noStrike">
                <a:solidFill>
                  <a:srgbClr val="404040"/>
                </a:solidFill>
                <a:latin typeface="Verdana"/>
              </a:rPr>
              <a:t>3D </a:t>
            </a:r>
            <a:r>
              <a:rPr b="0" lang="en-US" sz="1700" spc="-35" strike="noStrike">
                <a:solidFill>
                  <a:srgbClr val="404040"/>
                </a:solidFill>
                <a:latin typeface="Verdana"/>
              </a:rPr>
              <a:t>representation </a:t>
            </a:r>
            <a:r>
              <a:rPr b="0" lang="en-US" sz="1700" spc="9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700" spc="-21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700" spc="-12" strike="noStrike">
                <a:solidFill>
                  <a:srgbClr val="404040"/>
                </a:solidFill>
                <a:latin typeface="Verdana"/>
              </a:rPr>
              <a:t>scene, </a:t>
            </a:r>
            <a:r>
              <a:rPr b="0" lang="en-US" sz="1700" spc="4" strike="noStrike">
                <a:solidFill>
                  <a:srgbClr val="404040"/>
                </a:solidFill>
                <a:latin typeface="Verdana"/>
              </a:rPr>
              <a:t>which </a:t>
            </a:r>
            <a:r>
              <a:rPr b="0" lang="en-US" sz="17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41" strike="noStrike">
                <a:solidFill>
                  <a:srgbClr val="404040"/>
                </a:solidFill>
                <a:latin typeface="Verdana"/>
              </a:rPr>
              <a:t>allows</a:t>
            </a:r>
            <a:r>
              <a:rPr b="0" lang="en-US" sz="1700" spc="-16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37" strike="noStrike">
                <a:solidFill>
                  <a:srgbClr val="404040"/>
                </a:solidFill>
                <a:latin typeface="Verdana"/>
              </a:rPr>
              <a:t>us</a:t>
            </a:r>
            <a:r>
              <a:rPr b="0" lang="en-US" sz="17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7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12" strike="noStrike">
                <a:solidFill>
                  <a:srgbClr val="404040"/>
                </a:solidFill>
                <a:latin typeface="Verdana"/>
              </a:rPr>
              <a:t>navigate</a:t>
            </a:r>
            <a:r>
              <a:rPr b="0" lang="en-US" sz="1700" spc="-1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6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7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interact</a:t>
            </a:r>
            <a:r>
              <a:rPr b="0" lang="en-US" sz="17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66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7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7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41" strike="noStrike">
                <a:solidFill>
                  <a:srgbClr val="404040"/>
                </a:solidFill>
                <a:latin typeface="Verdana"/>
              </a:rPr>
              <a:t>environment</a:t>
            </a:r>
            <a:r>
              <a:rPr b="0" lang="en-US" sz="17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effectively.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ts val="1840"/>
              </a:lnSpc>
              <a:spcBef>
                <a:spcPts val="989"/>
              </a:spcBef>
              <a:tabLst>
                <a:tab algn="l" pos="0"/>
              </a:tabLst>
            </a:pPr>
            <a:r>
              <a:rPr b="0" lang="en-US" sz="1350" spc="-13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350" spc="-126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700" spc="-177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700" spc="-17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" strike="noStrike">
                <a:solidFill>
                  <a:srgbClr val="404040"/>
                </a:solidFill>
                <a:latin typeface="Verdana"/>
              </a:rPr>
              <a:t>addition</a:t>
            </a:r>
            <a:r>
              <a:rPr b="0" lang="en-US" sz="17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7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allowing</a:t>
            </a:r>
            <a:r>
              <a:rPr b="0" lang="en-US" sz="17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37" strike="noStrike">
                <a:solidFill>
                  <a:srgbClr val="404040"/>
                </a:solidFill>
                <a:latin typeface="Verdana"/>
              </a:rPr>
              <a:t>us</a:t>
            </a:r>
            <a:r>
              <a:rPr b="0" lang="en-US" sz="17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7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18" strike="noStrike">
                <a:solidFill>
                  <a:srgbClr val="404040"/>
                </a:solidFill>
                <a:latin typeface="Verdana"/>
              </a:rPr>
              <a:t>perceive</a:t>
            </a:r>
            <a:r>
              <a:rPr b="0" lang="en-US" sz="1700" spc="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6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7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interact</a:t>
            </a:r>
            <a:r>
              <a:rPr b="0" lang="en-US" sz="17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66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7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32" strike="noStrike">
                <a:solidFill>
                  <a:srgbClr val="404040"/>
                </a:solidFill>
                <a:latin typeface="Verdana"/>
              </a:rPr>
              <a:t>physical </a:t>
            </a:r>
            <a:r>
              <a:rPr b="0" lang="en-US" sz="17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52" strike="noStrike">
                <a:solidFill>
                  <a:srgbClr val="404040"/>
                </a:solidFill>
                <a:latin typeface="Verdana"/>
              </a:rPr>
              <a:t>environment,</a:t>
            </a:r>
            <a:r>
              <a:rPr b="0" lang="en-US" sz="17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80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7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12" strike="noStrike">
                <a:solidFill>
                  <a:srgbClr val="404040"/>
                </a:solidFill>
                <a:latin typeface="Verdana"/>
              </a:rPr>
              <a:t>perception</a:t>
            </a:r>
            <a:r>
              <a:rPr b="0" lang="en-US" sz="17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41" strike="noStrike">
                <a:solidFill>
                  <a:srgbClr val="404040"/>
                </a:solidFill>
                <a:latin typeface="Verdana"/>
              </a:rPr>
              <a:t>also</a:t>
            </a:r>
            <a:r>
              <a:rPr b="0" lang="en-US" sz="1700" spc="5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46" strike="noStrike">
                <a:solidFill>
                  <a:srgbClr val="404040"/>
                </a:solidFill>
                <a:latin typeface="Verdana"/>
              </a:rPr>
              <a:t>plays</a:t>
            </a:r>
            <a:r>
              <a:rPr b="0" lang="en-US" sz="17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137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700" spc="1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4" strike="noStrike">
                <a:solidFill>
                  <a:srgbClr val="404040"/>
                </a:solidFill>
                <a:latin typeface="Verdana"/>
              </a:rPr>
              <a:t>crucial</a:t>
            </a:r>
            <a:r>
              <a:rPr b="0" lang="en-US" sz="17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46" strike="noStrike">
                <a:solidFill>
                  <a:srgbClr val="404040"/>
                </a:solidFill>
                <a:latin typeface="Verdana"/>
              </a:rPr>
              <a:t>role</a:t>
            </a:r>
            <a:r>
              <a:rPr b="0" lang="en-US" sz="17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80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7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social </a:t>
            </a:r>
            <a:r>
              <a:rPr b="0" lang="en-US" sz="17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" strike="noStrike">
                <a:solidFill>
                  <a:srgbClr val="404040"/>
                </a:solidFill>
                <a:latin typeface="Verdana"/>
              </a:rPr>
              <a:t>communication.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ts val="184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1350" spc="-13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350" spc="-126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700" spc="9" strike="noStrike">
                <a:solidFill>
                  <a:srgbClr val="404040"/>
                </a:solidFill>
                <a:latin typeface="Verdana"/>
              </a:rPr>
              <a:t>Facial </a:t>
            </a:r>
            <a:r>
              <a:rPr b="0" lang="en-US" sz="1700" spc="-92" strike="noStrike">
                <a:solidFill>
                  <a:srgbClr val="404040"/>
                </a:solidFill>
                <a:latin typeface="Verdana"/>
              </a:rPr>
              <a:t>expressions, </a:t>
            </a:r>
            <a:r>
              <a:rPr b="0" lang="en-US" sz="1700" spc="43" strike="noStrike">
                <a:solidFill>
                  <a:srgbClr val="404040"/>
                </a:solidFill>
                <a:latin typeface="Verdana"/>
              </a:rPr>
              <a:t>body </a:t>
            </a:r>
            <a:r>
              <a:rPr b="0" lang="en-US" sz="1700" spc="18" strike="noStrike">
                <a:solidFill>
                  <a:srgbClr val="404040"/>
                </a:solidFill>
                <a:latin typeface="Verdana"/>
              </a:rPr>
              <a:t>language, </a:t>
            </a:r>
            <a:r>
              <a:rPr b="0" lang="en-US" sz="1700" spc="6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700" spc="-35" strike="noStrike">
                <a:solidFill>
                  <a:srgbClr val="404040"/>
                </a:solidFill>
                <a:latin typeface="Verdana"/>
              </a:rPr>
              <a:t>other </a:t>
            </a:r>
            <a:r>
              <a:rPr b="0" lang="en-US" sz="1700" spc="-80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700" spc="4" strike="noStrike">
                <a:solidFill>
                  <a:srgbClr val="404040"/>
                </a:solidFill>
                <a:latin typeface="Verdana"/>
              </a:rPr>
              <a:t>cues </a:t>
            </a:r>
            <a:r>
              <a:rPr b="0" lang="en-US" sz="1700" spc="-1" strike="noStrike">
                <a:solidFill>
                  <a:srgbClr val="404040"/>
                </a:solidFill>
                <a:latin typeface="Verdana"/>
              </a:rPr>
              <a:t>are </a:t>
            </a:r>
            <a:r>
              <a:rPr b="0" lang="en-US" sz="1700" spc="-21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700" spc="29" strike="noStrike">
                <a:solidFill>
                  <a:srgbClr val="404040"/>
                </a:solidFill>
                <a:latin typeface="Verdana"/>
              </a:rPr>
              <a:t>convey </a:t>
            </a:r>
            <a:r>
              <a:rPr b="0" lang="en-US" sz="1700" spc="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52" strike="noStrike">
                <a:solidFill>
                  <a:srgbClr val="404040"/>
                </a:solidFill>
                <a:latin typeface="Verdana"/>
              </a:rPr>
              <a:t>emotions,</a:t>
            </a:r>
            <a:r>
              <a:rPr b="0" lang="en-US" sz="17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72" strike="noStrike">
                <a:solidFill>
                  <a:srgbClr val="404040"/>
                </a:solidFill>
                <a:latin typeface="Verdana"/>
              </a:rPr>
              <a:t>intentions,</a:t>
            </a:r>
            <a:r>
              <a:rPr b="0" lang="en-US" sz="17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6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700" spc="-12" strike="noStrike">
                <a:solidFill>
                  <a:srgbClr val="404040"/>
                </a:solidFill>
                <a:latin typeface="Verdana"/>
              </a:rPr>
              <a:t>social</a:t>
            </a:r>
            <a:r>
              <a:rPr b="0" lang="en-US" sz="17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06" strike="noStrike">
                <a:solidFill>
                  <a:srgbClr val="404040"/>
                </a:solidFill>
                <a:latin typeface="Verdana"/>
              </a:rPr>
              <a:t>status,</a:t>
            </a:r>
            <a:r>
              <a:rPr b="0" lang="en-US" sz="17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5" strike="noStrike">
                <a:solidFill>
                  <a:srgbClr val="404040"/>
                </a:solidFill>
                <a:latin typeface="Verdana"/>
              </a:rPr>
              <a:t>allowing</a:t>
            </a:r>
            <a:r>
              <a:rPr b="0" lang="en-US" sz="17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37" strike="noStrike">
                <a:solidFill>
                  <a:srgbClr val="404040"/>
                </a:solidFill>
                <a:latin typeface="Verdana"/>
              </a:rPr>
              <a:t>us</a:t>
            </a:r>
            <a:r>
              <a:rPr b="0" lang="en-US" sz="17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7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24" strike="noStrike">
                <a:solidFill>
                  <a:srgbClr val="404040"/>
                </a:solidFill>
                <a:latin typeface="Verdana"/>
              </a:rPr>
              <a:t>communicate </a:t>
            </a:r>
            <a:r>
              <a:rPr b="0" lang="en-US" sz="1700" spc="6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7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12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700" spc="-80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700" spc="-66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700" spc="89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700" spc="9" strike="noStrike">
                <a:solidFill>
                  <a:srgbClr val="404040"/>
                </a:solidFill>
                <a:latin typeface="Verdana"/>
              </a:rPr>
              <a:t>ract</a:t>
            </a:r>
            <a:r>
              <a:rPr b="0" lang="en-US" sz="17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75" strike="noStrike">
                <a:solidFill>
                  <a:srgbClr val="404040"/>
                </a:solidFill>
                <a:latin typeface="Verdana"/>
              </a:rPr>
              <a:t>wi</a:t>
            </a:r>
            <a:r>
              <a:rPr b="0" lang="en-US" sz="1700" spc="-7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700" spc="-41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7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-7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700" spc="-21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700" spc="-41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700" spc="-114" strike="noStrike">
                <a:solidFill>
                  <a:srgbClr val="404040"/>
                </a:solidFill>
                <a:latin typeface="Verdana"/>
              </a:rPr>
              <a:t>ers</a:t>
            </a:r>
            <a:r>
              <a:rPr b="0" lang="en-US" sz="17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700" spc="89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700" spc="-66" strike="noStrike">
                <a:solidFill>
                  <a:srgbClr val="404040"/>
                </a:solidFill>
                <a:latin typeface="Verdana"/>
              </a:rPr>
              <a:t>f</a:t>
            </a:r>
            <a:r>
              <a:rPr b="0" lang="en-US" sz="1700" spc="-60" strike="noStrike">
                <a:solidFill>
                  <a:srgbClr val="404040"/>
                </a:solidFill>
                <a:latin typeface="Verdana"/>
              </a:rPr>
              <a:t>f</a:t>
            </a:r>
            <a:r>
              <a:rPr b="0" lang="en-US" sz="1700" spc="89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700" spc="69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700" spc="29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700" spc="-12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700" spc="-55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700" spc="7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700" spc="-126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700" spc="-97" strike="noStrike">
                <a:solidFill>
                  <a:srgbClr val="404040"/>
                </a:solidFill>
                <a:latin typeface="Verdana"/>
              </a:rPr>
              <a:t>y</a:t>
            </a:r>
            <a:r>
              <a:rPr b="0" lang="en-US" sz="1700" spc="-151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object 4"/>
          <p:cNvSpPr/>
          <p:nvPr/>
        </p:nvSpPr>
        <p:spPr>
          <a:xfrm>
            <a:off x="10662120" y="570960"/>
            <a:ext cx="22176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36" strike="noStrike">
                <a:solidFill>
                  <a:srgbClr val="ffffff"/>
                </a:solidFill>
                <a:latin typeface="Verdana"/>
              </a:rPr>
              <a:t>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64479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40" strike="noStrike">
                <a:solidFill>
                  <a:srgbClr val="ebebeb"/>
                </a:solidFill>
                <a:latin typeface="Verdana"/>
              </a:rPr>
              <a:t>Visua</a:t>
            </a:r>
            <a:r>
              <a:rPr b="0" lang="en-US" sz="3600" spc="-72" strike="noStrike">
                <a:solidFill>
                  <a:srgbClr val="ebebeb"/>
                </a:solidFill>
                <a:latin typeface="Verdana"/>
              </a:rPr>
              <a:t>l</a:t>
            </a:r>
            <a:r>
              <a:rPr b="0" lang="en-US" sz="3600" spc="-262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72" strike="noStrike">
                <a:solidFill>
                  <a:srgbClr val="ebebeb"/>
                </a:solidFill>
                <a:latin typeface="Verdana"/>
              </a:rPr>
              <a:t>represent</a:t>
            </a:r>
            <a:r>
              <a:rPr b="0" lang="en-US" sz="3600" spc="-72" strike="noStrike">
                <a:solidFill>
                  <a:srgbClr val="ebebeb"/>
                </a:solidFill>
                <a:latin typeface="Verdana"/>
              </a:rPr>
              <a:t>ation</a:t>
            </a:r>
            <a:r>
              <a:rPr b="0" lang="en-US" sz="3600" spc="-245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of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11" strike="noStrike">
                <a:solidFill>
                  <a:srgbClr val="ebebeb"/>
                </a:solidFill>
                <a:latin typeface="Verdana"/>
              </a:rPr>
              <a:t>da</a:t>
            </a:r>
            <a:r>
              <a:rPr b="0" lang="en-US" sz="3600" spc="83" strike="noStrike">
                <a:solidFill>
                  <a:srgbClr val="ebebeb"/>
                </a:solidFill>
                <a:latin typeface="Verdana"/>
              </a:rPr>
              <a:t>t</a:t>
            </a:r>
            <a:r>
              <a:rPr b="0" lang="en-US" sz="3600" spc="293" strike="noStrike">
                <a:solidFill>
                  <a:srgbClr val="ebebeb"/>
                </a:solidFill>
                <a:latin typeface="Verdana"/>
              </a:rPr>
              <a:t>a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1234080" y="2589480"/>
            <a:ext cx="8669880" cy="286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defTabSz="914400">
              <a:lnSpc>
                <a:spcPts val="1514"/>
              </a:lnSpc>
              <a:spcBef>
                <a:spcPts val="105"/>
              </a:spcBef>
              <a:tabLst>
                <a:tab algn="l" pos="354960"/>
              </a:tabLst>
            </a:pPr>
            <a:r>
              <a:rPr b="0" lang="en-US" sz="1100" spc="-97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100" spc="-97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400" spc="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representation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4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4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4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52" strike="noStrike">
                <a:solidFill>
                  <a:srgbClr val="404040"/>
                </a:solidFill>
                <a:latin typeface="Verdana"/>
              </a:rPr>
              <a:t>use</a:t>
            </a:r>
            <a:r>
              <a:rPr b="0" lang="en-US" sz="14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graphical</a:t>
            </a:r>
            <a:r>
              <a:rPr b="0" lang="en-US" sz="1400" spc="7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elements</a:t>
            </a:r>
            <a:r>
              <a:rPr b="0" lang="en-US" sz="14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4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1" strike="noStrike">
                <a:solidFill>
                  <a:srgbClr val="404040"/>
                </a:solidFill>
                <a:latin typeface="Verdana"/>
              </a:rPr>
              <a:t>present</a:t>
            </a:r>
            <a:r>
              <a:rPr b="0" lang="en-US" sz="14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complex</a:t>
            </a:r>
            <a:r>
              <a:rPr b="0" lang="en-US" sz="14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55680" defTabSz="914400">
              <a:lnSpc>
                <a:spcPts val="1514"/>
              </a:lnSpc>
              <a:tabLst>
                <a:tab algn="l" pos="354960"/>
              </a:tabLst>
            </a:pP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sets</a:t>
            </a:r>
            <a:r>
              <a:rPr b="0" lang="en-US" sz="14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4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4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8" strike="noStrike">
                <a:solidFill>
                  <a:srgbClr val="404040"/>
                </a:solidFill>
                <a:latin typeface="Verdana"/>
              </a:rPr>
              <a:t>way</a:t>
            </a:r>
            <a:r>
              <a:rPr b="0" lang="en-US" sz="14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40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easy</a:t>
            </a:r>
            <a:r>
              <a:rPr b="0" lang="en-US" sz="14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understand</a:t>
            </a:r>
            <a:r>
              <a:rPr b="0" lang="en-US" sz="14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4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interpret.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ts val="1341"/>
              </a:lnSpc>
              <a:spcBef>
                <a:spcPts val="989"/>
              </a:spcBef>
              <a:tabLst>
                <a:tab algn="l" pos="0"/>
              </a:tabLst>
            </a:pPr>
            <a:r>
              <a:rPr b="0" lang="en-US" sz="1100" spc="-97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100" spc="-97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400" spc="-151" strike="noStrike">
                <a:solidFill>
                  <a:srgbClr val="404040"/>
                </a:solidFill>
                <a:latin typeface="Verdana"/>
              </a:rPr>
              <a:t>This</a:t>
            </a:r>
            <a:r>
              <a:rPr b="0" lang="en-US" sz="1400" spc="10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8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include</a:t>
            </a:r>
            <a:r>
              <a:rPr b="0" lang="en-US" sz="14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various</a:t>
            </a:r>
            <a:r>
              <a:rPr b="0" lang="en-US" sz="14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6" strike="noStrike">
                <a:solidFill>
                  <a:srgbClr val="404040"/>
                </a:solidFill>
                <a:latin typeface="Verdana"/>
              </a:rPr>
              <a:t>types</a:t>
            </a:r>
            <a:r>
              <a:rPr b="0" lang="en-US" sz="14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6" strike="noStrike">
                <a:solidFill>
                  <a:srgbClr val="404040"/>
                </a:solidFill>
                <a:latin typeface="Verdana"/>
              </a:rPr>
              <a:t>charts,</a:t>
            </a:r>
            <a:r>
              <a:rPr b="0" lang="en-US" sz="1400" spc="1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graphs,</a:t>
            </a:r>
            <a:r>
              <a:rPr b="0" lang="en-US" sz="1400" spc="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diagrams,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400" spc="13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other</a:t>
            </a:r>
            <a:r>
              <a:rPr b="0" lang="en-US" sz="14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visualizations</a:t>
            </a:r>
            <a:r>
              <a:rPr b="0" lang="en-US" sz="1400" spc="12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400" spc="1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allow </a:t>
            </a:r>
            <a:r>
              <a:rPr b="0" lang="en-US" sz="1400" spc="-4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06" strike="noStrike">
                <a:solidFill>
                  <a:srgbClr val="404040"/>
                </a:solidFill>
                <a:latin typeface="Verdana"/>
              </a:rPr>
              <a:t>users</a:t>
            </a:r>
            <a:r>
              <a:rPr b="0" lang="en-US" sz="14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4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quickly</a:t>
            </a:r>
            <a:r>
              <a:rPr b="0" lang="en-US" sz="14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grasp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6" strike="noStrike">
                <a:solidFill>
                  <a:srgbClr val="404040"/>
                </a:solidFill>
                <a:latin typeface="Verdana"/>
              </a:rPr>
              <a:t>key</a:t>
            </a:r>
            <a:r>
              <a:rPr b="0" lang="en-US" sz="14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86" strike="noStrike">
                <a:solidFill>
                  <a:srgbClr val="404040"/>
                </a:solidFill>
                <a:latin typeface="Verdana"/>
              </a:rPr>
              <a:t>insights</a:t>
            </a:r>
            <a:r>
              <a:rPr b="0" lang="en-US" sz="14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from</a:t>
            </a:r>
            <a:r>
              <a:rPr b="0" lang="en-US" sz="14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large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amounts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8" strike="noStrike">
                <a:solidFill>
                  <a:srgbClr val="404040"/>
                </a:solidFill>
                <a:latin typeface="Verdana"/>
              </a:rPr>
              <a:t>data.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686"/>
              </a:spcBef>
              <a:tabLst>
                <a:tab algn="l" pos="354960"/>
              </a:tabLst>
            </a:pPr>
            <a:r>
              <a:rPr b="0" lang="en-US" sz="1100" spc="-97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100" spc="-97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Here</a:t>
            </a:r>
            <a:r>
              <a:rPr b="0" lang="en-US" sz="14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4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some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examples</a:t>
            </a:r>
            <a:r>
              <a:rPr b="0" lang="en-US" sz="14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4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1" strike="noStrike">
                <a:solidFill>
                  <a:srgbClr val="404040"/>
                </a:solidFill>
                <a:latin typeface="Verdana"/>
              </a:rPr>
              <a:t>types</a:t>
            </a:r>
            <a:r>
              <a:rPr b="0" lang="en-US" sz="14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4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representation</a:t>
            </a:r>
            <a:r>
              <a:rPr b="0" lang="en-US" sz="14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data: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950" spc="-8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950" spc="128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950" spc="134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Bar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Charts: 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bar chart 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simple 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effective </a:t>
            </a:r>
            <a:r>
              <a:rPr b="0" lang="en-US" sz="1200" spc="12" strike="noStrike">
                <a:solidFill>
                  <a:srgbClr val="404040"/>
                </a:solidFill>
                <a:latin typeface="Verdana"/>
              </a:rPr>
              <a:t>way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200" spc="32" strike="noStrike">
                <a:solidFill>
                  <a:srgbClr val="404040"/>
                </a:solidFill>
                <a:latin typeface="Verdana"/>
              </a:rPr>
              <a:t>compare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values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categories </a:t>
            </a:r>
            <a:r>
              <a:rPr b="0" lang="en-US" sz="1200" spc="-7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18" strike="noStrike">
                <a:solidFill>
                  <a:srgbClr val="404040"/>
                </a:solidFill>
                <a:latin typeface="Verdana"/>
              </a:rPr>
              <a:t>data.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example,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bar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chart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7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used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 visualize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sales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figures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products,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where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69" strike="noStrike">
                <a:solidFill>
                  <a:srgbClr val="404040"/>
                </a:solidFill>
                <a:latin typeface="Verdana"/>
              </a:rPr>
              <a:t>each </a:t>
            </a:r>
            <a:r>
              <a:rPr b="0" lang="en-US" sz="1200" spc="-40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9" strike="noStrike">
                <a:solidFill>
                  <a:srgbClr val="404040"/>
                </a:solidFill>
                <a:latin typeface="Verdana"/>
              </a:rPr>
              <a:t>product</a:t>
            </a:r>
            <a:r>
              <a:rPr b="0" lang="en-US" sz="12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2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represented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2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97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vertical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bar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height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bar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corresponding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sales</a:t>
            </a:r>
            <a:r>
              <a:rPr b="0" lang="en-US" sz="12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value.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ts val="1151"/>
              </a:lnSpc>
              <a:spcBef>
                <a:spcPts val="989"/>
              </a:spcBef>
              <a:tabLst>
                <a:tab algn="l" pos="0"/>
              </a:tabLst>
            </a:pPr>
            <a:r>
              <a:rPr b="0" lang="en-US" sz="950" spc="-8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950" spc="233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950" spc="239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Line </a:t>
            </a:r>
            <a:r>
              <a:rPr b="0" lang="en-US" sz="1200" spc="-41" strike="noStrike">
                <a:solidFill>
                  <a:srgbClr val="404040"/>
                </a:solidFill>
                <a:latin typeface="Verdana"/>
              </a:rPr>
              <a:t>Graphs: 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35" strike="noStrike">
                <a:solidFill>
                  <a:srgbClr val="404040"/>
                </a:solidFill>
                <a:latin typeface="Verdana"/>
              </a:rPr>
              <a:t>line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graph 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type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chart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shows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-41" strike="noStrike">
                <a:solidFill>
                  <a:srgbClr val="404040"/>
                </a:solidFill>
                <a:latin typeface="Verdana"/>
              </a:rPr>
              <a:t>relationship </a:t>
            </a:r>
            <a:r>
              <a:rPr b="0" lang="en-US" sz="1200" spc="18" strike="noStrike">
                <a:solidFill>
                  <a:srgbClr val="404040"/>
                </a:solidFill>
                <a:latin typeface="Verdana"/>
              </a:rPr>
              <a:t>between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two 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variables over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time. 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example,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35" strike="noStrike">
                <a:solidFill>
                  <a:srgbClr val="404040"/>
                </a:solidFill>
                <a:latin typeface="Verdana"/>
              </a:rPr>
              <a:t>line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graph </a:t>
            </a:r>
            <a:r>
              <a:rPr b="0" lang="en-US" sz="1200" spc="7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used to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visualize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trend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stock 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prices over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7" strike="noStrike">
                <a:solidFill>
                  <a:srgbClr val="404040"/>
                </a:solidFill>
                <a:latin typeface="Verdana"/>
              </a:rPr>
              <a:t>period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time,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where </a:t>
            </a:r>
            <a:r>
              <a:rPr b="0" lang="en-US" sz="1200" spc="-40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00" strike="noStrike">
                <a:solidFill>
                  <a:srgbClr val="404040"/>
                </a:solidFill>
                <a:latin typeface="Verdana"/>
              </a:rPr>
              <a:t>x-axis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represents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41" strike="noStrike">
                <a:solidFill>
                  <a:srgbClr val="404040"/>
                </a:solidFill>
                <a:latin typeface="Verdana"/>
              </a:rPr>
              <a:t>time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92" strike="noStrike">
                <a:solidFill>
                  <a:srgbClr val="404040"/>
                </a:solidFill>
                <a:latin typeface="Verdana"/>
              </a:rPr>
              <a:t>y-axis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represents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price.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9"/>
              </a:spcBef>
              <a:tabLst>
                <a:tab algn="l" pos="0"/>
              </a:tabLst>
            </a:pPr>
            <a:r>
              <a:rPr b="0" lang="en-US" sz="950" spc="-8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950" spc="-80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Scatter 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Plots: 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scatter </a:t>
            </a:r>
            <a:r>
              <a:rPr b="0" lang="en-US" sz="1200" spc="-7" strike="noStrike">
                <a:solidFill>
                  <a:srgbClr val="404040"/>
                </a:solidFill>
                <a:latin typeface="Verdana"/>
              </a:rPr>
              <a:t>plot 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2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type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chart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shows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-41" strike="noStrike">
                <a:solidFill>
                  <a:srgbClr val="404040"/>
                </a:solidFill>
                <a:latin typeface="Verdana"/>
              </a:rPr>
              <a:t>relationship </a:t>
            </a:r>
            <a:r>
              <a:rPr b="0" lang="en-US" sz="1200" spc="18" strike="noStrike">
                <a:solidFill>
                  <a:srgbClr val="404040"/>
                </a:solidFill>
                <a:latin typeface="Verdana"/>
              </a:rPr>
              <a:t>between </a:t>
            </a:r>
            <a:r>
              <a:rPr b="0" lang="en-US" sz="1200" spc="-7" strike="noStrike">
                <a:solidFill>
                  <a:srgbClr val="404040"/>
                </a:solidFill>
                <a:latin typeface="Verdana"/>
              </a:rPr>
              <a:t>two </a:t>
            </a:r>
            <a:r>
              <a:rPr b="0" lang="en-US" sz="1200" spc="-35" strike="noStrike">
                <a:solidFill>
                  <a:srgbClr val="404040"/>
                </a:solidFill>
                <a:latin typeface="Verdana"/>
              </a:rPr>
              <a:t>variables. </a:t>
            </a:r>
            <a:r>
              <a:rPr b="0" lang="en-US" sz="1200" spc="-80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example,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scatter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plot </a:t>
            </a:r>
            <a:r>
              <a:rPr b="0" lang="en-US" sz="1200" spc="7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used to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visualize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-41" strike="noStrike">
                <a:solidFill>
                  <a:srgbClr val="404040"/>
                </a:solidFill>
                <a:latin typeface="Verdana"/>
              </a:rPr>
              <a:t>relationship </a:t>
            </a:r>
            <a:r>
              <a:rPr b="0" lang="en-US" sz="1200" spc="18" strike="noStrike">
                <a:solidFill>
                  <a:srgbClr val="404040"/>
                </a:solidFill>
                <a:latin typeface="Verdana"/>
              </a:rPr>
              <a:t>between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person's </a:t>
            </a:r>
            <a:r>
              <a:rPr b="0" lang="en-US" sz="1200" spc="69" strike="noStrike">
                <a:solidFill>
                  <a:srgbClr val="404040"/>
                </a:solidFill>
                <a:latin typeface="Verdana"/>
              </a:rPr>
              <a:t>age 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their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income,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where </a:t>
            </a:r>
            <a:r>
              <a:rPr b="0" lang="en-US" sz="1200" spc="69" strike="noStrike">
                <a:solidFill>
                  <a:srgbClr val="404040"/>
                </a:solidFill>
                <a:latin typeface="Verdana"/>
              </a:rPr>
              <a:t>each </a:t>
            </a:r>
            <a:r>
              <a:rPr b="0" lang="en-US" sz="1200" spc="49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point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represents </a:t>
            </a:r>
            <a:r>
              <a:rPr b="0" lang="en-US" sz="1200" spc="32" strike="noStrike">
                <a:solidFill>
                  <a:srgbClr val="404040"/>
                </a:solidFill>
                <a:latin typeface="Verdana"/>
              </a:rPr>
              <a:t>an 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individual 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-97" strike="noStrike">
                <a:solidFill>
                  <a:srgbClr val="404040"/>
                </a:solidFill>
                <a:latin typeface="Verdana"/>
              </a:rPr>
              <a:t>x-axis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represents </a:t>
            </a:r>
            <a:r>
              <a:rPr b="0" lang="en-US" sz="1200" spc="72" strike="noStrike">
                <a:solidFill>
                  <a:srgbClr val="404040"/>
                </a:solidFill>
                <a:latin typeface="Verdana"/>
              </a:rPr>
              <a:t>age 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y-axis </a:t>
            </a:r>
            <a:r>
              <a:rPr b="0" lang="en-US" sz="12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represents</a:t>
            </a:r>
            <a:r>
              <a:rPr b="0" lang="en-US" sz="12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income.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10662120" y="570960"/>
            <a:ext cx="22176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36" strike="noStrike">
                <a:solidFill>
                  <a:srgbClr val="ffffff"/>
                </a:solidFill>
                <a:latin typeface="Verdana"/>
              </a:rPr>
              <a:t>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64479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40" strike="noStrike">
                <a:solidFill>
                  <a:srgbClr val="ebebeb"/>
                </a:solidFill>
                <a:latin typeface="Verdana"/>
              </a:rPr>
              <a:t>Visua</a:t>
            </a:r>
            <a:r>
              <a:rPr b="0" lang="en-US" sz="3600" spc="-72" strike="noStrike">
                <a:solidFill>
                  <a:srgbClr val="ebebeb"/>
                </a:solidFill>
                <a:latin typeface="Verdana"/>
              </a:rPr>
              <a:t>l</a:t>
            </a:r>
            <a:r>
              <a:rPr b="0" lang="en-US" sz="3600" spc="-262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72" strike="noStrike">
                <a:solidFill>
                  <a:srgbClr val="ebebeb"/>
                </a:solidFill>
                <a:latin typeface="Verdana"/>
              </a:rPr>
              <a:t>representation</a:t>
            </a:r>
            <a:r>
              <a:rPr b="0" lang="en-US" sz="3600" spc="-245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of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11" strike="noStrike">
                <a:solidFill>
                  <a:srgbClr val="ebebeb"/>
                </a:solidFill>
                <a:latin typeface="Verdana"/>
              </a:rPr>
              <a:t>da</a:t>
            </a:r>
            <a:r>
              <a:rPr b="0" lang="en-US" sz="3600" spc="83" strike="noStrike">
                <a:solidFill>
                  <a:srgbClr val="ebebeb"/>
                </a:solidFill>
                <a:latin typeface="Verdana"/>
              </a:rPr>
              <a:t>t</a:t>
            </a:r>
            <a:r>
              <a:rPr b="0" lang="en-US" sz="3600" spc="293" strike="noStrike">
                <a:solidFill>
                  <a:srgbClr val="ebebeb"/>
                </a:solidFill>
                <a:latin typeface="Verdana"/>
              </a:rPr>
              <a:t>a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object 3"/>
          <p:cNvSpPr/>
          <p:nvPr/>
        </p:nvSpPr>
        <p:spPr>
          <a:xfrm>
            <a:off x="1234080" y="2589480"/>
            <a:ext cx="8670600" cy="29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5800" bIns="0" anchor="t">
            <a:spAutoFit/>
          </a:bodyPr>
          <a:p>
            <a:pPr marL="355680" indent="-343080" algn="just" defTabSz="914400">
              <a:lnSpc>
                <a:spcPct val="80000"/>
              </a:lnSpc>
              <a:spcBef>
                <a:spcPts val="439"/>
              </a:spcBef>
              <a:tabLst>
                <a:tab algn="l" pos="0"/>
              </a:tabLst>
            </a:pPr>
            <a:r>
              <a:rPr b="0" lang="en-US" sz="1100" spc="-97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100" spc="-92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Pie </a:t>
            </a:r>
            <a:r>
              <a:rPr b="0" lang="en-US" sz="1400" spc="-72" strike="noStrike">
                <a:solidFill>
                  <a:srgbClr val="404040"/>
                </a:solidFill>
                <a:latin typeface="Verdana"/>
              </a:rPr>
              <a:t>Charts: </a:t>
            </a:r>
            <a:r>
              <a:rPr b="0" lang="en-US" sz="1400" spc="77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12" strike="noStrike">
                <a:solidFill>
                  <a:srgbClr val="404040"/>
                </a:solidFill>
                <a:latin typeface="Verdana"/>
              </a:rPr>
              <a:t>pie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chart </a:t>
            </a:r>
            <a:r>
              <a:rPr b="0" lang="en-US" sz="1400" spc="-140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circular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chart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400" spc="-145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divided 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into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slices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400" spc="-41" strike="noStrike">
                <a:solidFill>
                  <a:srgbClr val="404040"/>
                </a:solidFill>
                <a:latin typeface="Verdana"/>
              </a:rPr>
              <a:t>represent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proportion 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400" spc="-4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83" strike="noStrike">
                <a:solidFill>
                  <a:srgbClr val="404040"/>
                </a:solidFill>
                <a:latin typeface="Verdana"/>
              </a:rPr>
              <a:t>each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8" strike="noStrike">
                <a:solidFill>
                  <a:srgbClr val="404040"/>
                </a:solidFill>
                <a:latin typeface="Verdana"/>
              </a:rPr>
              <a:t>category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24" strike="noStrike">
                <a:solidFill>
                  <a:srgbClr val="404040"/>
                </a:solidFill>
                <a:latin typeface="Verdana"/>
              </a:rPr>
              <a:t>data.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7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example,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4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8" strike="noStrike">
                <a:solidFill>
                  <a:srgbClr val="404040"/>
                </a:solidFill>
                <a:latin typeface="Verdana"/>
              </a:rPr>
              <a:t>pie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chart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8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77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used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visualize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1" strike="noStrike">
                <a:solidFill>
                  <a:srgbClr val="404040"/>
                </a:solidFill>
                <a:latin typeface="Verdana"/>
              </a:rPr>
              <a:t>market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6" strike="noStrike">
                <a:solidFill>
                  <a:srgbClr val="404040"/>
                </a:solidFill>
                <a:latin typeface="Verdana"/>
              </a:rPr>
              <a:t>share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400" spc="-4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companies 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particular </a:t>
            </a:r>
            <a:r>
              <a:rPr b="0" lang="en-US" sz="1400" spc="-86" strike="noStrike">
                <a:solidFill>
                  <a:srgbClr val="404040"/>
                </a:solidFill>
                <a:latin typeface="Verdana"/>
              </a:rPr>
              <a:t>industry,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where </a:t>
            </a:r>
            <a:r>
              <a:rPr b="0" lang="en-US" sz="1400" spc="83" strike="noStrike">
                <a:solidFill>
                  <a:srgbClr val="404040"/>
                </a:solidFill>
                <a:latin typeface="Verdana"/>
              </a:rPr>
              <a:t>each 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slice 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represents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38" strike="noStrike">
                <a:solidFill>
                  <a:srgbClr val="404040"/>
                </a:solidFill>
                <a:latin typeface="Verdana"/>
              </a:rPr>
              <a:t>company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86" strike="noStrike">
                <a:solidFill>
                  <a:srgbClr val="404040"/>
                </a:solidFill>
                <a:latin typeface="Verdana"/>
              </a:rPr>
              <a:t>size</a:t>
            </a:r>
            <a:r>
              <a:rPr b="0" lang="en-US" sz="14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slice</a:t>
            </a:r>
            <a:r>
              <a:rPr b="0" lang="en-US" sz="14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represents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proportion</a:t>
            </a:r>
            <a:r>
              <a:rPr b="0" lang="en-US" sz="14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1" strike="noStrike">
                <a:solidFill>
                  <a:srgbClr val="404040"/>
                </a:solidFill>
                <a:latin typeface="Verdana"/>
              </a:rPr>
              <a:t>market</a:t>
            </a:r>
            <a:r>
              <a:rPr b="0" lang="en-US" sz="14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share.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8000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1100" spc="-97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100" spc="134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Heat</a:t>
            </a:r>
            <a:r>
              <a:rPr b="0" lang="en-US" sz="14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Maps: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77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8" strike="noStrike">
                <a:solidFill>
                  <a:srgbClr val="404040"/>
                </a:solidFill>
                <a:latin typeface="Verdana"/>
              </a:rPr>
              <a:t>heat</a:t>
            </a:r>
            <a:r>
              <a:rPr b="0" lang="en-US" sz="14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9" strike="noStrike">
                <a:solidFill>
                  <a:srgbClr val="404040"/>
                </a:solidFill>
                <a:latin typeface="Verdana"/>
              </a:rPr>
              <a:t>map</a:t>
            </a:r>
            <a:r>
              <a:rPr b="0" lang="en-US" sz="14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40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4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4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type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chart</a:t>
            </a:r>
            <a:r>
              <a:rPr b="0" lang="en-US" sz="14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4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86" strike="noStrike">
                <a:solidFill>
                  <a:srgbClr val="404040"/>
                </a:solidFill>
                <a:latin typeface="Verdana"/>
              </a:rPr>
              <a:t>uses</a:t>
            </a:r>
            <a:r>
              <a:rPr b="0" lang="en-US" sz="14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4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6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14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4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75" strike="noStrike">
                <a:solidFill>
                  <a:srgbClr val="404040"/>
                </a:solidFill>
                <a:latin typeface="Verdana"/>
              </a:rPr>
              <a:t>intensity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4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variable. </a:t>
            </a:r>
            <a:r>
              <a:rPr b="0" lang="en-US" sz="1400" spc="-4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80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example,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18" strike="noStrike">
                <a:solidFill>
                  <a:srgbClr val="404040"/>
                </a:solidFill>
                <a:latin typeface="Verdana"/>
              </a:rPr>
              <a:t>heat </a:t>
            </a:r>
            <a:r>
              <a:rPr b="0" lang="en-US" sz="1400" spc="49" strike="noStrike">
                <a:solidFill>
                  <a:srgbClr val="404040"/>
                </a:solidFill>
                <a:latin typeface="Verdana"/>
              </a:rPr>
              <a:t>map </a:t>
            </a:r>
            <a:r>
              <a:rPr b="0" lang="en-US" sz="1400" spc="8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400" spc="77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visualize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 temperature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distribution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region,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24" strike="noStrike">
                <a:solidFill>
                  <a:srgbClr val="404040"/>
                </a:solidFill>
                <a:latin typeface="Verdana"/>
              </a:rPr>
              <a:t>w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ere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400" spc="7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09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400" spc="134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400" spc="-182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4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83" strike="noStrike">
                <a:solidFill>
                  <a:srgbClr val="404040"/>
                </a:solidFill>
                <a:latin typeface="Verdana"/>
              </a:rPr>
              <a:t>each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58" strike="noStrike">
                <a:solidFill>
                  <a:srgbClr val="404040"/>
                </a:solidFill>
                <a:latin typeface="Verdana"/>
              </a:rPr>
              <a:t>ce</a:t>
            </a:r>
            <a:r>
              <a:rPr b="0" lang="en-US" sz="1400" spc="32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400" spc="-106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4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52" strike="noStrike">
                <a:solidFill>
                  <a:srgbClr val="404040"/>
                </a:solidFill>
                <a:latin typeface="Verdana"/>
              </a:rPr>
              <a:t>repre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400" spc="18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400" spc="12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400" spc="-185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4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400" spc="7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4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400" spc="32" strike="noStrike">
                <a:solidFill>
                  <a:srgbClr val="404040"/>
                </a:solidFill>
                <a:latin typeface="Verdana"/>
              </a:rPr>
              <a:t>emp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era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u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400" spc="7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6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400" spc="12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400" spc="18" strike="noStrike">
                <a:solidFill>
                  <a:srgbClr val="404040"/>
                </a:solidFill>
                <a:latin typeface="Verdana"/>
              </a:rPr>
              <a:t>ue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80000"/>
              </a:lnSpc>
              <a:spcBef>
                <a:spcPts val="1009"/>
              </a:spcBef>
              <a:tabLst>
                <a:tab algn="l" pos="0"/>
              </a:tabLst>
            </a:pPr>
            <a:r>
              <a:rPr b="0" lang="en-US" sz="1100" spc="-97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100" spc="-92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400" spc="-75" strike="noStrike">
                <a:solidFill>
                  <a:srgbClr val="404040"/>
                </a:solidFill>
                <a:latin typeface="Verdana"/>
              </a:rPr>
              <a:t>Tree</a:t>
            </a:r>
            <a:r>
              <a:rPr b="0" lang="en-US" sz="14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maps: </a:t>
            </a:r>
            <a:r>
              <a:rPr b="0" lang="en-US" sz="1400" spc="77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tree </a:t>
            </a:r>
            <a:r>
              <a:rPr b="0" lang="en-US" sz="1400" spc="49" strike="noStrike">
                <a:solidFill>
                  <a:srgbClr val="404040"/>
                </a:solidFill>
                <a:latin typeface="Verdana"/>
              </a:rPr>
              <a:t>map </a:t>
            </a:r>
            <a:r>
              <a:rPr b="0" lang="en-US" sz="1400" spc="-140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4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type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chart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represents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hierarchical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nested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rectangles. </a:t>
            </a:r>
            <a:r>
              <a:rPr b="0" lang="en-US" sz="1400" spc="-75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example,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tree </a:t>
            </a:r>
            <a:r>
              <a:rPr b="0" lang="en-US" sz="1400" spc="49" strike="noStrike">
                <a:solidFill>
                  <a:srgbClr val="404040"/>
                </a:solidFill>
                <a:latin typeface="Verdana"/>
              </a:rPr>
              <a:t>map </a:t>
            </a:r>
            <a:r>
              <a:rPr b="0" lang="en-US" sz="1400" spc="8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400" spc="77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visualize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organizational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structure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-4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2" strike="noStrike">
                <a:solidFill>
                  <a:srgbClr val="404040"/>
                </a:solidFill>
                <a:latin typeface="Verdana"/>
              </a:rPr>
              <a:t>company,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where </a:t>
            </a:r>
            <a:r>
              <a:rPr b="0" lang="en-US" sz="1400" spc="83" strike="noStrike">
                <a:solidFill>
                  <a:srgbClr val="404040"/>
                </a:solidFill>
                <a:latin typeface="Verdana"/>
              </a:rPr>
              <a:t>each 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rectangle 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represents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department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size</a:t>
            </a:r>
            <a:r>
              <a:rPr b="0" lang="en-US" sz="14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rectangle </a:t>
            </a:r>
            <a:r>
              <a:rPr b="0" lang="en-US" sz="14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52" strike="noStrike">
                <a:solidFill>
                  <a:srgbClr val="404040"/>
                </a:solidFill>
                <a:latin typeface="Verdana"/>
              </a:rPr>
              <a:t>repre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400" spc="18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400" spc="12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400" spc="-185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4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400" spc="7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num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b</a:t>
            </a:r>
            <a:r>
              <a:rPr b="0" lang="en-US" sz="1400" spc="-52" strike="noStrike">
                <a:solidFill>
                  <a:srgbClr val="404040"/>
                </a:solidFill>
                <a:latin typeface="Verdana"/>
              </a:rPr>
              <a:t>er</a:t>
            </a:r>
            <a:r>
              <a:rPr b="0" lang="en-US" sz="14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32" strike="noStrike">
                <a:solidFill>
                  <a:srgbClr val="404040"/>
                </a:solidFill>
                <a:latin typeface="Verdana"/>
              </a:rPr>
              <a:t>emp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yee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4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400" spc="-97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4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400" spc="7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72" strike="noStrike">
                <a:solidFill>
                  <a:srgbClr val="404040"/>
                </a:solidFill>
                <a:latin typeface="Verdana"/>
              </a:rPr>
              <a:t>de</a:t>
            </a:r>
            <a:r>
              <a:rPr b="0" lang="en-US" sz="1400" spc="89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ar</a:t>
            </a:r>
            <a:r>
              <a:rPr b="0" lang="en-US" sz="1400" spc="-5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400" spc="-46" strike="noStrike">
                <a:solidFill>
                  <a:srgbClr val="404040"/>
                </a:solidFill>
                <a:latin typeface="Verdana"/>
              </a:rPr>
              <a:t>m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en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ts val="1341"/>
              </a:lnSpc>
              <a:spcBef>
                <a:spcPts val="984"/>
              </a:spcBef>
              <a:tabLst>
                <a:tab algn="l" pos="0"/>
              </a:tabLst>
            </a:pPr>
            <a:r>
              <a:rPr b="0" lang="en-US" sz="1100" spc="-97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100" spc="123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400" spc="-5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32" strike="noStrike">
                <a:solidFill>
                  <a:srgbClr val="404040"/>
                </a:solidFill>
                <a:latin typeface="Verdana"/>
              </a:rPr>
              <a:t>representation</a:t>
            </a:r>
            <a:r>
              <a:rPr b="0" lang="en-US" sz="14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4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8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4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77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4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4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powerful</a:t>
            </a:r>
            <a:r>
              <a:rPr b="0" lang="en-US" sz="14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tool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4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communicating</a:t>
            </a:r>
            <a:r>
              <a:rPr b="0" lang="en-US" sz="14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complex</a:t>
            </a:r>
            <a:r>
              <a:rPr b="0" lang="en-US" sz="14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1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400" spc="-4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06" strike="noStrike">
                <a:solidFill>
                  <a:srgbClr val="404040"/>
                </a:solidFill>
                <a:latin typeface="Verdana"/>
              </a:rPr>
              <a:t>users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400" spc="111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400" spc="12" strike="noStrike">
                <a:solidFill>
                  <a:srgbClr val="404040"/>
                </a:solidFill>
                <a:latin typeface="Verdana"/>
              </a:rPr>
              <a:t>clear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400" spc="18" strike="noStrike">
                <a:solidFill>
                  <a:srgbClr val="404040"/>
                </a:solidFill>
                <a:latin typeface="Verdana"/>
              </a:rPr>
              <a:t>concise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way. </a:t>
            </a:r>
            <a:r>
              <a:rPr b="0" lang="en-US" sz="1400" spc="-120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choosing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right 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type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400" spc="-55" strike="noStrike">
                <a:solidFill>
                  <a:srgbClr val="404040"/>
                </a:solidFill>
                <a:latin typeface="Verdana"/>
              </a:rPr>
              <a:t>visualization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400" spc="5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400" spc="49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effectively </a:t>
            </a:r>
            <a:r>
              <a:rPr b="0" lang="en-US" sz="1400" spc="-72" strike="noStrike">
                <a:solidFill>
                  <a:srgbClr val="404040"/>
                </a:solidFill>
                <a:latin typeface="Verdana"/>
              </a:rPr>
              <a:t>using 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400" spc="4" strike="noStrike">
                <a:solidFill>
                  <a:srgbClr val="404040"/>
                </a:solidFill>
                <a:latin typeface="Verdana"/>
              </a:rPr>
              <a:t>encodings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such </a:t>
            </a:r>
            <a:r>
              <a:rPr b="0" lang="en-US" sz="1400" spc="-35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color, 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size,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400" spc="-15" strike="noStrike">
                <a:solidFill>
                  <a:srgbClr val="404040"/>
                </a:solidFill>
                <a:latin typeface="Verdana"/>
              </a:rPr>
              <a:t>shape, </a:t>
            </a:r>
            <a:r>
              <a:rPr b="0" lang="en-US" sz="1400" spc="-46" strike="noStrike">
                <a:solidFill>
                  <a:srgbClr val="404040"/>
                </a:solidFill>
                <a:latin typeface="Verdana"/>
              </a:rPr>
              <a:t>designers </a:t>
            </a:r>
            <a:r>
              <a:rPr b="0" lang="en-US" sz="1400" spc="8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400" spc="24" strike="noStrike">
                <a:solidFill>
                  <a:srgbClr val="404040"/>
                </a:solidFill>
                <a:latin typeface="Verdana"/>
              </a:rPr>
              <a:t>create </a:t>
            </a:r>
            <a:r>
              <a:rPr b="0" lang="en-US" sz="1400" spc="-66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4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52" strike="noStrike">
                <a:solidFill>
                  <a:srgbClr val="404040"/>
                </a:solidFill>
                <a:latin typeface="Verdana"/>
              </a:rPr>
              <a:t>displays</a:t>
            </a:r>
            <a:r>
              <a:rPr b="0" lang="en-US" sz="14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6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4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21" strike="noStrike">
                <a:solidFill>
                  <a:srgbClr val="404040"/>
                </a:solidFill>
                <a:latin typeface="Verdana"/>
              </a:rPr>
              <a:t>easy</a:t>
            </a:r>
            <a:r>
              <a:rPr b="0" lang="en-US" sz="14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4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46" strike="noStrike">
                <a:solidFill>
                  <a:srgbClr val="404040"/>
                </a:solidFill>
                <a:latin typeface="Verdana"/>
              </a:rPr>
              <a:t>interpret</a:t>
            </a:r>
            <a:r>
              <a:rPr b="0" lang="en-US" sz="14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5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4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7" strike="noStrike">
                <a:solidFill>
                  <a:srgbClr val="404040"/>
                </a:solidFill>
                <a:latin typeface="Verdana"/>
              </a:rPr>
              <a:t>provide</a:t>
            </a:r>
            <a:r>
              <a:rPr b="0" lang="en-US" sz="14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9" strike="noStrike">
                <a:solidFill>
                  <a:srgbClr val="404040"/>
                </a:solidFill>
                <a:latin typeface="Verdana"/>
              </a:rPr>
              <a:t>valuable</a:t>
            </a:r>
            <a:r>
              <a:rPr b="0" lang="en-US" sz="14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400" spc="-92" strike="noStrike">
                <a:solidFill>
                  <a:srgbClr val="404040"/>
                </a:solidFill>
                <a:latin typeface="Verdana"/>
              </a:rPr>
              <a:t>insights.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object 4"/>
          <p:cNvSpPr/>
          <p:nvPr/>
        </p:nvSpPr>
        <p:spPr>
          <a:xfrm>
            <a:off x="10662120" y="570960"/>
            <a:ext cx="22176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36" strike="noStrike">
                <a:solidFill>
                  <a:srgbClr val="ffffff"/>
                </a:solidFill>
                <a:latin typeface="Verdana"/>
              </a:rPr>
              <a:t>6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37987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69" strike="noStrike">
                <a:solidFill>
                  <a:srgbClr val="ebebeb"/>
                </a:solidFill>
                <a:latin typeface="Verdana"/>
              </a:rPr>
              <a:t>Data</a:t>
            </a:r>
            <a:r>
              <a:rPr b="0" lang="en-US" sz="3600" spc="-321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32" strike="noStrike">
                <a:solidFill>
                  <a:srgbClr val="ebebeb"/>
                </a:solidFill>
                <a:latin typeface="Verdana"/>
              </a:rPr>
              <a:t>abstraction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object 3"/>
          <p:cNvSpPr/>
          <p:nvPr/>
        </p:nvSpPr>
        <p:spPr>
          <a:xfrm>
            <a:off x="1234080" y="2604600"/>
            <a:ext cx="8669880" cy="323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marL="355680" indent="-343080" algn="just" defTabSz="914400">
              <a:lnSpc>
                <a:spcPct val="80000"/>
              </a:lnSpc>
              <a:spcBef>
                <a:spcPts val="334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143" strike="noStrike">
                <a:solidFill>
                  <a:srgbClr val="b31166"/>
                </a:solidFill>
                <a:latin typeface="Lucida Sans Unicode"/>
              </a:rPr>
              <a:t>   </a:t>
            </a:r>
            <a:r>
              <a:rPr b="0" lang="en-US" sz="800" spc="148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abstraction 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000" spc="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process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simplifying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complex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focusing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on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most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important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features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characteristics, while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ignoring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hiding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irrelevant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details. </a:t>
            </a:r>
            <a:r>
              <a:rPr b="0" lang="en-US" sz="1000" spc="-111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context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visualization,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abstraction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involves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reducing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amount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presented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user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provide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clearer,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more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concise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view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underlying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patterns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trends.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Here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some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754"/>
              </a:spcBef>
              <a:buClr>
                <a:srgbClr val="b31166"/>
              </a:buClr>
              <a:buSzPct val="80000"/>
              <a:buFont typeface="OpenSymbol"/>
              <a:buAutoNum type="arabicPeriod"/>
              <a:tabLst>
                <a:tab algn="l" pos="354960"/>
                <a:tab algn="l" pos="355680"/>
              </a:tabLst>
            </a:pP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Aggregation: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Aggregation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combining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multiple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points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into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single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summary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value.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97" strike="noStrike">
                <a:solidFill>
                  <a:srgbClr val="404040"/>
                </a:solidFill>
                <a:latin typeface="Verdana"/>
              </a:rPr>
              <a:t>This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often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done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provide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higher-level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view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9" strike="noStrike">
                <a:solidFill>
                  <a:srgbClr val="404040"/>
                </a:solidFill>
                <a:latin typeface="Verdana"/>
              </a:rPr>
              <a:t>data, </a:t>
            </a:r>
            <a:r>
              <a:rPr b="0" lang="en-US" sz="9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make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9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easier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18" strike="noStrike">
                <a:solidFill>
                  <a:srgbClr val="404040"/>
                </a:solidFill>
                <a:latin typeface="Verdana"/>
              </a:rPr>
              <a:t>compare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values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across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groups.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6"/>
              </a:spcBef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bar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chart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sales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figures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products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3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18" strike="noStrike">
                <a:solidFill>
                  <a:srgbClr val="404040"/>
                </a:solidFill>
                <a:latin typeface="Verdana"/>
              </a:rPr>
              <a:t>aggregated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" strike="noStrike">
                <a:solidFill>
                  <a:srgbClr val="404040"/>
                </a:solidFill>
                <a:latin typeface="Verdana"/>
              </a:rPr>
              <a:t>product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" strike="noStrike">
                <a:solidFill>
                  <a:srgbClr val="404040"/>
                </a:solidFill>
                <a:latin typeface="Verdana"/>
              </a:rPr>
              <a:t>category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provide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summary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total</a:t>
            </a:r>
            <a:r>
              <a:rPr b="0" lang="en-US" sz="9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sales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each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category.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765"/>
              </a:spcBef>
              <a:buClr>
                <a:srgbClr val="b31166"/>
              </a:buClr>
              <a:buSzPct val="80000"/>
              <a:buFont typeface="OpenSymbol"/>
              <a:buAutoNum type="arabicPeriod" startAt="2"/>
              <a:tabLst>
                <a:tab algn="l" pos="354960"/>
                <a:tab algn="l" pos="355680"/>
              </a:tabLst>
            </a:pP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Sampling: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Sampling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involves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selecting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subset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visualization. </a:t>
            </a:r>
            <a:r>
              <a:rPr b="0" lang="en-US" sz="900" spc="-100" strike="noStrike">
                <a:solidFill>
                  <a:srgbClr val="404040"/>
                </a:solidFill>
                <a:latin typeface="Verdana"/>
              </a:rPr>
              <a:t>This 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often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done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provide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representative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view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900" spc="9" strike="noStrike">
                <a:solidFill>
                  <a:srgbClr val="404040"/>
                </a:solidFill>
                <a:latin typeface="Verdana"/>
              </a:rPr>
              <a:t>data,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900" spc="12" strike="noStrike">
                <a:solidFill>
                  <a:srgbClr val="404040"/>
                </a:solidFill>
                <a:latin typeface="Verdana"/>
              </a:rPr>
              <a:t>reduce </a:t>
            </a:r>
            <a:r>
              <a:rPr b="0" lang="en-US" sz="900" spc="-30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amount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9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9" strike="noStrike">
                <a:solidFill>
                  <a:srgbClr val="404040"/>
                </a:solidFill>
                <a:latin typeface="Verdana"/>
              </a:rPr>
              <a:t>being</a:t>
            </a:r>
            <a:r>
              <a:rPr b="0" lang="en-US" sz="9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presented.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6"/>
              </a:spcBef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scatter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plot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relationship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12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person's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age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their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9" strike="noStrike">
                <a:solidFill>
                  <a:srgbClr val="404040"/>
                </a:solidFill>
                <a:latin typeface="Verdana"/>
              </a:rPr>
              <a:t>income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3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sampled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" strike="noStrike">
                <a:solidFill>
                  <a:srgbClr val="404040"/>
                </a:solidFill>
                <a:latin typeface="Verdana"/>
              </a:rPr>
              <a:t>include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only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subset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 population,</a:t>
            </a:r>
            <a:r>
              <a:rPr b="0" lang="en-US" sz="9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9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individuals</a:t>
            </a:r>
            <a:r>
              <a:rPr b="0" lang="en-US" sz="9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within</a:t>
            </a:r>
            <a:r>
              <a:rPr b="0" lang="en-US" sz="9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certain</a:t>
            </a:r>
            <a:r>
              <a:rPr b="0" lang="en-US" sz="9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age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range.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765"/>
              </a:spcBef>
              <a:buClr>
                <a:srgbClr val="b31166"/>
              </a:buClr>
              <a:buSzPct val="80000"/>
              <a:buFont typeface="OpenSymbol"/>
              <a:buAutoNum type="arabicPeriod" startAt="3"/>
              <a:tabLst>
                <a:tab algn="l" pos="354960"/>
                <a:tab algn="l" pos="355680"/>
              </a:tabLst>
            </a:pP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Filtering: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Filtering</a:t>
            </a:r>
            <a:r>
              <a:rPr b="0" lang="en-US" sz="9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900" spc="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selecting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subset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900" spc="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12" strike="noStrike">
                <a:solidFill>
                  <a:srgbClr val="404040"/>
                </a:solidFill>
                <a:latin typeface="Verdana"/>
              </a:rPr>
              <a:t>based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900" spc="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certain</a:t>
            </a:r>
            <a:r>
              <a:rPr b="0" lang="en-US" sz="9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criteria.</a:t>
            </a:r>
            <a:r>
              <a:rPr b="0" lang="en-US" sz="900" spc="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00" strike="noStrike">
                <a:solidFill>
                  <a:srgbClr val="404040"/>
                </a:solidFill>
                <a:latin typeface="Verdana"/>
              </a:rPr>
              <a:t>This</a:t>
            </a:r>
            <a:r>
              <a:rPr b="0" lang="en-US" sz="900" spc="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900" spc="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often</a:t>
            </a:r>
            <a:r>
              <a:rPr b="0" lang="en-US" sz="9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done</a:t>
            </a:r>
            <a:r>
              <a:rPr b="0" lang="en-US" sz="9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focus</a:t>
            </a:r>
            <a:r>
              <a:rPr b="0" lang="en-US" sz="9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9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900" spc="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specific</a:t>
            </a:r>
            <a:r>
              <a:rPr b="0" lang="en-US" sz="9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12" strike="noStrike">
                <a:solidFill>
                  <a:srgbClr val="404040"/>
                </a:solidFill>
                <a:latin typeface="Verdana"/>
              </a:rPr>
              <a:t>aspect</a:t>
            </a:r>
            <a:r>
              <a:rPr b="0" lang="en-US" sz="900" spc="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9" strike="noStrike">
                <a:solidFill>
                  <a:srgbClr val="404040"/>
                </a:solidFill>
                <a:latin typeface="Verdana"/>
              </a:rPr>
              <a:t>data,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9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remove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outliers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irrelevant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points.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6"/>
              </a:spcBef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9" strike="noStrike">
                <a:solidFill>
                  <a:srgbClr val="404040"/>
                </a:solidFill>
                <a:latin typeface="Verdana"/>
              </a:rPr>
              <a:t>heat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map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temperature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distribution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region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3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filtered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show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only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temperatures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above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certain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threshold,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" strike="noStrike">
                <a:solidFill>
                  <a:srgbClr val="404040"/>
                </a:solidFill>
                <a:latin typeface="Verdana"/>
              </a:rPr>
              <a:t>exclude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points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from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areas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9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inconsistent</a:t>
            </a:r>
            <a:r>
              <a:rPr b="0" lang="en-US" sz="9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unreliable</a:t>
            </a:r>
            <a:r>
              <a:rPr b="0" lang="en-US" sz="9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temperature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readings.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object 4"/>
          <p:cNvSpPr/>
          <p:nvPr/>
        </p:nvSpPr>
        <p:spPr>
          <a:xfrm>
            <a:off x="10662120" y="570960"/>
            <a:ext cx="22176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36" strike="noStrike">
                <a:solidFill>
                  <a:srgbClr val="ffffff"/>
                </a:solidFill>
                <a:latin typeface="Verdana"/>
              </a:rPr>
              <a:t>7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37987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69" strike="noStrike">
                <a:solidFill>
                  <a:srgbClr val="ebebeb"/>
                </a:solidFill>
                <a:latin typeface="Verdana"/>
              </a:rPr>
              <a:t>Data</a:t>
            </a:r>
            <a:r>
              <a:rPr b="0" lang="en-US" sz="3600" spc="-321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32" strike="noStrike">
                <a:solidFill>
                  <a:srgbClr val="ebebeb"/>
                </a:solidFill>
                <a:latin typeface="Verdana"/>
              </a:rPr>
              <a:t>abstracti</a:t>
            </a:r>
            <a:r>
              <a:rPr b="0" lang="en-US" sz="3600" spc="-32" strike="noStrike">
                <a:solidFill>
                  <a:srgbClr val="ebebeb"/>
                </a:solidFill>
                <a:latin typeface="Verdana"/>
              </a:rPr>
              <a:t>on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object 3"/>
          <p:cNvSpPr/>
          <p:nvPr/>
        </p:nvSpPr>
        <p:spPr>
          <a:xfrm>
            <a:off x="1234080" y="2599920"/>
            <a:ext cx="8670600" cy="31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105"/>
              </a:spcBef>
              <a:buClr>
                <a:srgbClr val="b31166"/>
              </a:buClr>
              <a:buSzPct val="77000"/>
              <a:buFont typeface="OpenSymbol"/>
              <a:buAutoNum type="arabicPeriod" startAt="3"/>
              <a:tabLst>
                <a:tab algn="l" pos="354960"/>
                <a:tab algn="l" pos="355680"/>
              </a:tabLst>
            </a:pP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Clustering: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ts val="961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Clustering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involves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grouping 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similar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points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together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based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on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their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characteristics. </a:t>
            </a:r>
            <a:r>
              <a:rPr b="0" lang="en-US" sz="1000" spc="-111" strike="noStrike">
                <a:solidFill>
                  <a:srgbClr val="404040"/>
                </a:solidFill>
                <a:latin typeface="Verdana"/>
              </a:rPr>
              <a:t>This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 is</a:t>
            </a:r>
            <a:r>
              <a:rPr b="0" lang="en-US" sz="10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often </a:t>
            </a:r>
            <a:r>
              <a:rPr b="0" lang="en-US" sz="1000" spc="24" strike="noStrike">
                <a:solidFill>
                  <a:srgbClr val="404040"/>
                </a:solidFill>
                <a:latin typeface="Verdana"/>
              </a:rPr>
              <a:t>done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reduce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complexity </a:t>
            </a:r>
            <a:r>
              <a:rPr b="0" lang="en-US" sz="1000" spc="-3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provide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more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focused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view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data.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ts val="961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tree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map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shows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organizational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structure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24" strike="noStrike">
                <a:solidFill>
                  <a:srgbClr val="404040"/>
                </a:solidFill>
                <a:latin typeface="Verdana"/>
              </a:rPr>
              <a:t>company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clustered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group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 departments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with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similar </a:t>
            </a:r>
            <a:r>
              <a:rPr b="0" lang="en-US" sz="1000" spc="-3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functions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responsibilities,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grouping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all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marketing-related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departments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together.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751"/>
              </a:spcBef>
              <a:buClr>
                <a:srgbClr val="b31166"/>
              </a:buClr>
              <a:buSzPct val="77000"/>
              <a:buFont typeface="OpenSymbol"/>
              <a:buAutoNum type="arabicPeriod" startAt="4"/>
              <a:tabLst>
                <a:tab algn="l" pos="354960"/>
                <a:tab algn="l" pos="355680"/>
              </a:tabLst>
            </a:pP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m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ens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ty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Re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du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ti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100" spc="-197" strike="noStrike">
                <a:solidFill>
                  <a:srgbClr val="404040"/>
                </a:solidFill>
                <a:latin typeface="Verdana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Dimensionality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reduction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reducing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number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variables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used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 to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data.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11" strike="noStrike">
                <a:solidFill>
                  <a:srgbClr val="404040"/>
                </a:solidFill>
                <a:latin typeface="Verdana"/>
              </a:rPr>
              <a:t>This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often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24" strike="noStrike">
                <a:solidFill>
                  <a:srgbClr val="404040"/>
                </a:solidFill>
                <a:latin typeface="Verdana"/>
              </a:rPr>
              <a:t>done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simplify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3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improve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clarity.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ts val="961"/>
              </a:lnSpc>
              <a:spcBef>
                <a:spcPts val="989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line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graph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shows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trend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stock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prices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over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time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simplified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only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showing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closing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price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3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stock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24" strike="noStrike">
                <a:solidFill>
                  <a:srgbClr val="404040"/>
                </a:solidFill>
                <a:latin typeface="Verdana"/>
              </a:rPr>
              <a:t>end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each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day,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rather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than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including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all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intermediate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price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values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throughout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day.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ts val="106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0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Overall,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abstraction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techniques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are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important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visualization </a:t>
            </a:r>
            <a:r>
              <a:rPr b="0" lang="en-US" sz="1100" spc="29" strike="noStrike">
                <a:solidFill>
                  <a:srgbClr val="404040"/>
                </a:solidFill>
                <a:latin typeface="Verdana"/>
              </a:rPr>
              <a:t>because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they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help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simplify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complex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100" spc="-3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provide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more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focused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view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most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important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aspects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data. 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using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techniques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such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aggregation,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sampling,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filtering,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clustering,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dimensionality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reduction,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designers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create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visualizations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easier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understand</a:t>
            </a:r>
            <a:r>
              <a:rPr b="0" lang="en-US" sz="11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interpret,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while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still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conveying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most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insights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from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data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ts val="1060"/>
              </a:lnSpc>
              <a:spcBef>
                <a:spcPts val="981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134" strike="noStrike">
                <a:solidFill>
                  <a:srgbClr val="b31166"/>
                </a:solidFill>
                <a:latin typeface="Lucida Sans Unicode"/>
              </a:rPr>
              <a:t>  </a:t>
            </a:r>
            <a:r>
              <a:rPr b="0" lang="en-US" sz="850" spc="143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abstraction 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100" spc="15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24" strike="noStrike">
                <a:solidFill>
                  <a:srgbClr val="404040"/>
                </a:solidFill>
                <a:latin typeface="Verdana"/>
              </a:rPr>
              <a:t>an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important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technique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visualization </a:t>
            </a:r>
            <a:r>
              <a:rPr b="0" lang="en-US" sz="1100" spc="29" strike="noStrike">
                <a:solidFill>
                  <a:srgbClr val="404040"/>
                </a:solidFill>
                <a:latin typeface="Verdana"/>
              </a:rPr>
              <a:t>because 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100" spc="24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allows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designers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focus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on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most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important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aspects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while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reducing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clutter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improving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user's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ability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identify patterns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trends.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However,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strike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balance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abstraction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fidelity,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removing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too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much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100" spc="-3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2" strike="noStrike">
                <a:solidFill>
                  <a:srgbClr val="404040"/>
                </a:solidFill>
                <a:latin typeface="Verdana"/>
              </a:rPr>
              <a:t>lead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loss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insights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object 4"/>
          <p:cNvSpPr/>
          <p:nvPr/>
        </p:nvSpPr>
        <p:spPr>
          <a:xfrm>
            <a:off x="10662120" y="570960"/>
            <a:ext cx="22176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36" strike="noStrike">
                <a:solidFill>
                  <a:srgbClr val="ffffff"/>
                </a:solidFill>
                <a:latin typeface="Verdana"/>
              </a:rPr>
              <a:t>8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37155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40" strike="noStrike">
                <a:solidFill>
                  <a:srgbClr val="ebebeb"/>
                </a:solidFill>
                <a:latin typeface="Verdana"/>
              </a:rPr>
              <a:t>Visua</a:t>
            </a:r>
            <a:r>
              <a:rPr b="0" lang="en-US" sz="3600" spc="-72" strike="noStrike">
                <a:solidFill>
                  <a:srgbClr val="ebebeb"/>
                </a:solidFill>
                <a:latin typeface="Verdana"/>
              </a:rPr>
              <a:t>l</a:t>
            </a:r>
            <a:r>
              <a:rPr b="0" lang="en-US" sz="3600" spc="-262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341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109" strike="noStrike">
                <a:solidFill>
                  <a:srgbClr val="ebebeb"/>
                </a:solidFill>
                <a:latin typeface="Verdana"/>
              </a:rPr>
              <a:t>ncod</a:t>
            </a:r>
            <a:r>
              <a:rPr b="0" lang="en-US" sz="3600" spc="52" strike="noStrike">
                <a:solidFill>
                  <a:srgbClr val="ebebeb"/>
                </a:solidFill>
                <a:latin typeface="Verdana"/>
              </a:rPr>
              <a:t>i</a:t>
            </a:r>
            <a:r>
              <a:rPr b="0" lang="en-US" sz="3600" spc="-131" strike="noStrike">
                <a:solidFill>
                  <a:srgbClr val="ebebeb"/>
                </a:solidFill>
                <a:latin typeface="Verdana"/>
              </a:rPr>
              <a:t>ngs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9" name="object 3"/>
          <p:cNvSpPr/>
          <p:nvPr/>
        </p:nvSpPr>
        <p:spPr>
          <a:xfrm>
            <a:off x="1234080" y="2632680"/>
            <a:ext cx="8670600" cy="25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algn="just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45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encodings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are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cues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symbols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represent 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800" spc="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13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u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242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sua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13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y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10000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154" strike="noStrike">
                <a:solidFill>
                  <a:srgbClr val="b31166"/>
                </a:solidFill>
                <a:latin typeface="Lucida Sans Unicode"/>
              </a:rPr>
              <a:t>  </a:t>
            </a:r>
            <a:r>
              <a:rPr b="0" lang="en-US" sz="1800" spc="-197" strike="noStrike">
                <a:solidFill>
                  <a:srgbClr val="404040"/>
                </a:solidFill>
                <a:latin typeface="Verdana"/>
              </a:rPr>
              <a:t>This </a:t>
            </a:r>
            <a:r>
              <a:rPr b="0" lang="en-US" sz="1800" spc="10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include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types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shapes, colors, 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sizes, 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800" spc="-97" strike="noStrike">
                <a:solidFill>
                  <a:srgbClr val="404040"/>
                </a:solidFill>
                <a:latin typeface="Verdana"/>
              </a:rPr>
              <a:t>textures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8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used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types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data.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10000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1450" spc="-14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40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Choosing appropriate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encodings </a:t>
            </a:r>
            <a:r>
              <a:rPr b="0" lang="en-US" sz="1800" spc="-182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important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creating effective 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visualizations,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it </a:t>
            </a:r>
            <a:r>
              <a:rPr b="0" lang="en-US" sz="1800" spc="10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help 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users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quickly </a:t>
            </a:r>
            <a:r>
              <a:rPr b="0" lang="en-US" sz="1800" spc="6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accurately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interpret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data.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100000"/>
              </a:lnSpc>
              <a:spcBef>
                <a:spcPts val="1009"/>
              </a:spcBef>
              <a:tabLst>
                <a:tab algn="l" pos="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45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example,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scatter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plot,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-205" strike="noStrike">
                <a:solidFill>
                  <a:srgbClr val="404040"/>
                </a:solidFill>
                <a:latin typeface="Verdana"/>
              </a:rPr>
              <a:t>x</a:t>
            </a:r>
            <a:r>
              <a:rPr b="0" lang="en-US" sz="1800" spc="-20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y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axes 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may 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be encoded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with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colors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symbols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types</a:t>
            </a:r>
            <a:r>
              <a:rPr b="0" lang="en-US" sz="18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variables.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object 4"/>
          <p:cNvSpPr/>
          <p:nvPr/>
        </p:nvSpPr>
        <p:spPr>
          <a:xfrm>
            <a:off x="10662120" y="570960"/>
            <a:ext cx="22176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36" strike="noStrike">
                <a:solidFill>
                  <a:srgbClr val="ffffff"/>
                </a:solidFill>
                <a:latin typeface="Verdana"/>
              </a:rPr>
              <a:t>9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37155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40" strike="noStrike">
                <a:solidFill>
                  <a:srgbClr val="ebebeb"/>
                </a:solidFill>
                <a:latin typeface="Verdana"/>
              </a:rPr>
              <a:t>Visua</a:t>
            </a:r>
            <a:r>
              <a:rPr b="0" lang="en-US" sz="3600" spc="-72" strike="noStrike">
                <a:solidFill>
                  <a:srgbClr val="ebebeb"/>
                </a:solidFill>
                <a:latin typeface="Verdana"/>
              </a:rPr>
              <a:t>l</a:t>
            </a:r>
            <a:r>
              <a:rPr b="0" lang="en-US" sz="3600" spc="-262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341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109" strike="noStrike">
                <a:solidFill>
                  <a:srgbClr val="ebebeb"/>
                </a:solidFill>
                <a:latin typeface="Verdana"/>
              </a:rPr>
              <a:t>ncod</a:t>
            </a:r>
            <a:r>
              <a:rPr b="0" lang="en-US" sz="3600" spc="52" strike="noStrike">
                <a:solidFill>
                  <a:srgbClr val="ebebeb"/>
                </a:solidFill>
                <a:latin typeface="Verdana"/>
              </a:rPr>
              <a:t>i</a:t>
            </a:r>
            <a:r>
              <a:rPr b="0" lang="en-US" sz="3600" spc="-131" strike="noStrike">
                <a:solidFill>
                  <a:srgbClr val="ebebeb"/>
                </a:solidFill>
                <a:latin typeface="Verdana"/>
              </a:rPr>
              <a:t>ngs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object 3"/>
          <p:cNvSpPr/>
          <p:nvPr/>
        </p:nvSpPr>
        <p:spPr>
          <a:xfrm>
            <a:off x="1234080" y="2507040"/>
            <a:ext cx="8668800" cy="12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62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836"/>
              </a:spcBef>
              <a:tabLst>
                <a:tab algn="l" pos="35496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Here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some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examples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encodings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visualization: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734"/>
              </a:spcBef>
              <a:tabLst>
                <a:tab algn="l" pos="354960"/>
              </a:tabLst>
            </a:pPr>
            <a:r>
              <a:rPr b="0" lang="en-US" sz="850" spc="-72" strike="noStrike">
                <a:solidFill>
                  <a:srgbClr val="b31166"/>
                </a:solidFill>
                <a:latin typeface="Verdana"/>
              </a:rPr>
              <a:t>1.</a:t>
            </a:r>
            <a:r>
              <a:rPr b="0" lang="en-US" sz="850" spc="-72" strike="noStrike">
                <a:solidFill>
                  <a:srgbClr val="b31166"/>
                </a:solidFill>
                <a:latin typeface="Verdana"/>
              </a:rPr>
              <a:t>	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Position: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69800" defTabSz="914400">
              <a:lnSpc>
                <a:spcPts val="1080"/>
              </a:lnSpc>
              <a:spcBef>
                <a:spcPts val="760"/>
              </a:spcBef>
              <a:tabLst>
                <a:tab algn="l" pos="75636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Position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one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most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basic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000" spc="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encodings,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 mapping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14" strike="noStrike">
                <a:solidFill>
                  <a:srgbClr val="404040"/>
                </a:solidFill>
                <a:latin typeface="Verdana"/>
              </a:rPr>
              <a:t>x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y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coordinates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element.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defTabSz="914400">
              <a:lnSpc>
                <a:spcPts val="1080"/>
              </a:lnSpc>
              <a:tabLst>
                <a:tab algn="l" pos="756360"/>
              </a:tabLst>
            </a:pPr>
            <a:r>
              <a:rPr b="0" lang="en-US" sz="1000" spc="-111" strike="noStrike">
                <a:solidFill>
                  <a:srgbClr val="404040"/>
                </a:solidFill>
                <a:latin typeface="Verdana"/>
              </a:rPr>
              <a:t>This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encoding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often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used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scatter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plots,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line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graphs,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bar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charts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show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relationship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two</a:t>
            </a:r>
            <a:r>
              <a:rPr b="0" lang="en-US" sz="10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variables.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ts val="961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scatter plot that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relationship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between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person's 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age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their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income 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uses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position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encoding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29" strike="noStrike">
                <a:solidFill>
                  <a:srgbClr val="404040"/>
                </a:solidFill>
                <a:latin typeface="Verdana"/>
              </a:rPr>
              <a:t>map </a:t>
            </a:r>
            <a:r>
              <a:rPr b="0" lang="en-US" sz="1000" spc="-3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each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point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specific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location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14" strike="noStrike">
                <a:solidFill>
                  <a:srgbClr val="404040"/>
                </a:solidFill>
                <a:latin typeface="Verdana"/>
              </a:rPr>
              <a:t>x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y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axes.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object 4"/>
          <p:cNvSpPr/>
          <p:nvPr/>
        </p:nvSpPr>
        <p:spPr>
          <a:xfrm>
            <a:off x="1234080" y="3864240"/>
            <a:ext cx="657000" cy="4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  <a:tabLst>
                <a:tab algn="l" pos="354960"/>
              </a:tabLst>
            </a:pPr>
            <a:r>
              <a:rPr b="0" lang="en-US" sz="850" spc="-92" strike="noStrike">
                <a:solidFill>
                  <a:srgbClr val="b31166"/>
                </a:solidFill>
                <a:latin typeface="Verdana"/>
              </a:rPr>
              <a:t>2</a:t>
            </a:r>
            <a:r>
              <a:rPr b="0" lang="en-US" sz="850" spc="-46" strike="noStrike">
                <a:solidFill>
                  <a:srgbClr val="b31166"/>
                </a:solidFill>
                <a:latin typeface="Verdana"/>
              </a:rPr>
              <a:t>.</a:t>
            </a:r>
            <a:r>
              <a:rPr b="0" lang="en-US" sz="850" spc="-1" strike="noStrike">
                <a:solidFill>
                  <a:srgbClr val="b31166"/>
                </a:solidFill>
                <a:latin typeface="Verdana"/>
              </a:rPr>
              <a:t>	</a:t>
            </a:r>
            <a:r>
              <a:rPr b="0" lang="en-US" sz="1100" spc="-211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ze</a:t>
            </a:r>
            <a:r>
              <a:rPr b="0" lang="en-US" sz="1100" spc="-197" strike="noStrike">
                <a:solidFill>
                  <a:srgbClr val="404040"/>
                </a:solidFill>
                <a:latin typeface="Verdana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spcBef>
                <a:spcPts val="964"/>
              </a:spcBef>
              <a:tabLst>
                <a:tab algn="l" pos="35496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object 5"/>
          <p:cNvSpPr/>
          <p:nvPr/>
        </p:nvSpPr>
        <p:spPr>
          <a:xfrm>
            <a:off x="1691280" y="4128840"/>
            <a:ext cx="82134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99160" defTabSz="914400">
              <a:lnSpc>
                <a:spcPts val="1080"/>
              </a:lnSpc>
              <a:spcBef>
                <a:spcPts val="96"/>
              </a:spcBef>
            </a:pP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Size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24" strike="noStrike">
                <a:solidFill>
                  <a:srgbClr val="404040"/>
                </a:solidFill>
                <a:latin typeface="Verdana"/>
              </a:rPr>
              <a:t>encoding</a:t>
            </a:r>
            <a:r>
              <a:rPr b="0" lang="en-US" sz="10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mapping</a:t>
            </a:r>
            <a:r>
              <a:rPr b="0" lang="en-US" sz="10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size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7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element,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0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area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7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circle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width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7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bar.</a:t>
            </a:r>
            <a:r>
              <a:rPr b="0" lang="en-US" sz="10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11" strike="noStrike">
                <a:solidFill>
                  <a:srgbClr val="404040"/>
                </a:solidFill>
                <a:latin typeface="Verdana"/>
              </a:rPr>
              <a:t>This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99160" defTabSz="914400">
              <a:lnSpc>
                <a:spcPts val="1080"/>
              </a:lnSpc>
            </a:pP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encoding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used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highlight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differences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magnitude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emphasize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points.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299160" indent="-286920" defTabSz="914400">
              <a:lnSpc>
                <a:spcPts val="961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bubble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chart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shows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population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GDP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countries 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uses 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size </a:t>
            </a:r>
            <a:r>
              <a:rPr b="0" lang="en-US" sz="1000" spc="24" strike="noStrike">
                <a:solidFill>
                  <a:srgbClr val="404040"/>
                </a:solidFill>
                <a:latin typeface="Verdana"/>
              </a:rPr>
              <a:t>encoding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29" strike="noStrike">
                <a:solidFill>
                  <a:srgbClr val="404040"/>
                </a:solidFill>
                <a:latin typeface="Verdana"/>
              </a:rPr>
              <a:t>map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each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bubble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-3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total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population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country,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larger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bubbles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representing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larger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populations.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object 6"/>
          <p:cNvSpPr/>
          <p:nvPr/>
        </p:nvSpPr>
        <p:spPr>
          <a:xfrm>
            <a:off x="1234080" y="4867200"/>
            <a:ext cx="8672400" cy="9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9"/>
              </a:spcBef>
              <a:tabLst>
                <a:tab algn="l" pos="354960"/>
              </a:tabLst>
            </a:pPr>
            <a:r>
              <a:rPr b="0" lang="en-US" sz="850" spc="-72" strike="noStrike">
                <a:solidFill>
                  <a:srgbClr val="b31166"/>
                </a:solidFill>
                <a:latin typeface="Verdana"/>
              </a:rPr>
              <a:t>3.</a:t>
            </a:r>
            <a:r>
              <a:rPr b="0" lang="en-US" sz="850" spc="-72" strike="noStrike">
                <a:solidFill>
                  <a:srgbClr val="b31166"/>
                </a:solidFill>
                <a:latin typeface="Verdana"/>
              </a:rPr>
              <a:t>	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Color: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encoding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mapping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hue,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saturation,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 brightness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element.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encoding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used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-3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highlight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differences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categorical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data,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convey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about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magnitude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value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quantitative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variable.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10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heat</a:t>
            </a:r>
            <a:r>
              <a:rPr b="0" lang="en-US" sz="10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29" strike="noStrike">
                <a:solidFill>
                  <a:srgbClr val="404040"/>
                </a:solidFill>
                <a:latin typeface="Verdana"/>
              </a:rPr>
              <a:t>map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temperature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distribution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region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uses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encoding</a:t>
            </a:r>
            <a:r>
              <a:rPr b="0" lang="en-US" sz="10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29" strike="noStrike">
                <a:solidFill>
                  <a:srgbClr val="404040"/>
                </a:solidFill>
                <a:latin typeface="Verdana"/>
              </a:rPr>
              <a:t>map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 each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point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2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000" spc="-3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specific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gradient,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0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hotter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temperatures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represented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warmer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colors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like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red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orange.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object 7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10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37155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40" strike="noStrike">
                <a:solidFill>
                  <a:srgbClr val="ebebeb"/>
                </a:solidFill>
                <a:latin typeface="Verdana"/>
              </a:rPr>
              <a:t>Visua</a:t>
            </a:r>
            <a:r>
              <a:rPr b="0" lang="en-US" sz="3600" spc="-72" strike="noStrike">
                <a:solidFill>
                  <a:srgbClr val="ebebeb"/>
                </a:solidFill>
                <a:latin typeface="Verdana"/>
              </a:rPr>
              <a:t>l</a:t>
            </a:r>
            <a:r>
              <a:rPr b="0" lang="en-US" sz="3600" spc="-262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341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109" strike="noStrike">
                <a:solidFill>
                  <a:srgbClr val="ebebeb"/>
                </a:solidFill>
                <a:latin typeface="Verdana"/>
              </a:rPr>
              <a:t>ncod</a:t>
            </a:r>
            <a:r>
              <a:rPr b="0" lang="en-US" sz="3600" spc="52" strike="noStrike">
                <a:solidFill>
                  <a:srgbClr val="ebebeb"/>
                </a:solidFill>
                <a:latin typeface="Verdana"/>
              </a:rPr>
              <a:t>i</a:t>
            </a:r>
            <a:r>
              <a:rPr b="0" lang="en-US" sz="3600" spc="-131" strike="noStrike">
                <a:solidFill>
                  <a:srgbClr val="ebebeb"/>
                </a:solidFill>
                <a:latin typeface="Verdana"/>
              </a:rPr>
              <a:t>ngs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object 3"/>
          <p:cNvSpPr/>
          <p:nvPr/>
        </p:nvSpPr>
        <p:spPr>
          <a:xfrm>
            <a:off x="1234080" y="2483640"/>
            <a:ext cx="8671320" cy="33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64"/>
              </a:spcBef>
              <a:buClr>
                <a:srgbClr val="b31166"/>
              </a:buClr>
              <a:buSzPct val="81000"/>
              <a:buFont typeface="OpenSymbol"/>
              <a:buAutoNum type="arabicPeriod" startAt="4"/>
              <a:tabLst>
                <a:tab algn="l" pos="354960"/>
                <a:tab algn="l" pos="355680"/>
              </a:tabLst>
            </a:pP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Shape: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9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18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Shape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29" strike="noStrike">
                <a:solidFill>
                  <a:srgbClr val="404040"/>
                </a:solidFill>
                <a:latin typeface="Verdana"/>
              </a:rPr>
              <a:t>encoding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mapping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shape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element,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symbols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icons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categories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points.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Shape </a:t>
            </a:r>
            <a:r>
              <a:rPr b="0" lang="en-US" sz="1100" spc="24" strike="noStrike">
                <a:solidFill>
                  <a:srgbClr val="404040"/>
                </a:solidFill>
                <a:latin typeface="Verdana"/>
              </a:rPr>
              <a:t>encoding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useful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 for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highlighting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differences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categorical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creating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distinctive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patterns.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ts val="1060"/>
              </a:lnSpc>
              <a:spcBef>
                <a:spcPts val="981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284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850" spc="287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scatter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plot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relationship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person's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height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weight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use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symbols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shapes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11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genders,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circles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females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squares</a:t>
            </a:r>
            <a:r>
              <a:rPr b="0" lang="en-US" sz="11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males.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94"/>
              </a:spcBef>
              <a:buClr>
                <a:srgbClr val="b31166"/>
              </a:buClr>
              <a:buSzPct val="81000"/>
              <a:buFont typeface="OpenSymbol"/>
              <a:buAutoNum type="arabicPeriod" startAt="5"/>
              <a:tabLst>
                <a:tab algn="l" pos="354960"/>
                <a:tab algn="l" pos="355680"/>
              </a:tabLst>
            </a:pPr>
            <a:r>
              <a:rPr b="0" lang="en-US" sz="1300" spc="-106" strike="noStrike">
                <a:solidFill>
                  <a:srgbClr val="404040"/>
                </a:solidFill>
                <a:latin typeface="Verdana"/>
              </a:rPr>
              <a:t>Texture: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18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Texture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29" strike="noStrike">
                <a:solidFill>
                  <a:srgbClr val="404040"/>
                </a:solidFill>
                <a:latin typeface="Verdana"/>
              </a:rPr>
              <a:t>encoding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mapping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texture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pattern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element,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diagonal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lines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dots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represent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categories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points. 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Texture </a:t>
            </a:r>
            <a:r>
              <a:rPr b="0" lang="en-US" sz="1100" spc="24" strike="noStrike">
                <a:solidFill>
                  <a:srgbClr val="404040"/>
                </a:solidFill>
                <a:latin typeface="Verdana"/>
              </a:rPr>
              <a:t>encoding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useful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creating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 interest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100" spc="-3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highlighting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differences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categorical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data.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9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choropleth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2" strike="noStrike">
                <a:solidFill>
                  <a:srgbClr val="404040"/>
                </a:solidFill>
                <a:latin typeface="Verdana"/>
              </a:rPr>
              <a:t>map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 distribution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different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types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vegetation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region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use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patterns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textures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vegetation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types,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diagonal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lines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grasslands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dots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forests.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ts val="1250"/>
              </a:lnSpc>
              <a:spcBef>
                <a:spcPts val="984"/>
              </a:spcBef>
              <a:tabLst>
                <a:tab algn="l" pos="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300" spc="33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encodings</a:t>
            </a:r>
            <a:r>
              <a:rPr b="0" lang="en-US" sz="1300" spc="31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300" spc="3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32" strike="noStrike">
                <a:solidFill>
                  <a:srgbClr val="404040"/>
                </a:solidFill>
                <a:latin typeface="Verdana"/>
              </a:rPr>
              <a:t>an</a:t>
            </a:r>
            <a:r>
              <a:rPr b="0" lang="en-US" sz="1300" spc="32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300" spc="33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24" strike="noStrike">
                <a:solidFill>
                  <a:srgbClr val="404040"/>
                </a:solidFill>
                <a:latin typeface="Verdana"/>
              </a:rPr>
              <a:t>aspect</a:t>
            </a:r>
            <a:r>
              <a:rPr b="0" lang="en-US" sz="1300" spc="3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300" spc="3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300" spc="3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visualization</a:t>
            </a:r>
            <a:r>
              <a:rPr b="0" lang="en-US" sz="1300" spc="33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32" strike="noStrike">
                <a:solidFill>
                  <a:srgbClr val="404040"/>
                </a:solidFill>
                <a:latin typeface="Verdana"/>
              </a:rPr>
              <a:t>because</a:t>
            </a:r>
            <a:r>
              <a:rPr b="0" lang="en-US" sz="1300" spc="3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they</a:t>
            </a:r>
            <a:r>
              <a:rPr b="0" lang="en-US" sz="1300" spc="32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allow</a:t>
            </a:r>
            <a:r>
              <a:rPr b="0" lang="en-US" sz="1300" spc="31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designers</a:t>
            </a:r>
            <a:r>
              <a:rPr b="0" lang="en-US" sz="1300" spc="32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300" spc="-4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effectively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communicate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3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24" strike="noStrike">
                <a:solidFill>
                  <a:srgbClr val="404040"/>
                </a:solidFill>
                <a:latin typeface="Verdana"/>
              </a:rPr>
              <a:t>about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3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through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means.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ts val="1406"/>
              </a:lnSpc>
              <a:spcBef>
                <a:spcPts val="694"/>
              </a:spcBef>
              <a:tabLst>
                <a:tab algn="l" pos="35496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111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choosing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appropriate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29" strike="noStrike">
                <a:solidFill>
                  <a:srgbClr val="404040"/>
                </a:solidFill>
                <a:latin typeface="Verdana"/>
              </a:rPr>
              <a:t>encoding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data,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designers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7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24" strike="noStrike">
                <a:solidFill>
                  <a:srgbClr val="404040"/>
                </a:solidFill>
                <a:latin typeface="Verdana"/>
              </a:rPr>
              <a:t>create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visualizations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are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55680" defTabSz="914400">
              <a:lnSpc>
                <a:spcPts val="1406"/>
              </a:lnSpc>
              <a:tabLst>
                <a:tab algn="l" pos="354960"/>
              </a:tabLst>
            </a:pP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m</a:t>
            </a:r>
            <a:r>
              <a:rPr b="0" lang="en-US" sz="1300" spc="-66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300" spc="6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58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300" spc="49" strike="noStrike">
                <a:solidFill>
                  <a:srgbClr val="404040"/>
                </a:solidFill>
                <a:latin typeface="Verdana"/>
              </a:rPr>
              <a:t>ngag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ng,</a:t>
            </a:r>
            <a:r>
              <a:rPr b="0" lang="en-US" sz="13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nf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300" spc="-177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ma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e,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an</a:t>
            </a:r>
            <a:r>
              <a:rPr b="0" lang="en-US" sz="1300" spc="49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m</a:t>
            </a:r>
            <a:r>
              <a:rPr b="0" lang="en-US" sz="1300" spc="58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m</a:t>
            </a:r>
            <a:r>
              <a:rPr b="0" lang="en-US" sz="1300" spc="-66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300" spc="24" strike="noStrike">
                <a:solidFill>
                  <a:srgbClr val="404040"/>
                </a:solidFill>
                <a:latin typeface="Verdana"/>
              </a:rPr>
              <a:t>ab</a:t>
            </a:r>
            <a:r>
              <a:rPr b="0" lang="en-US" sz="1300" spc="18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300" spc="6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fo</a:t>
            </a:r>
            <a:r>
              <a:rPr b="0" lang="en-US" sz="1300" spc="-165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he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6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300" spc="58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w</a:t>
            </a:r>
            <a:r>
              <a:rPr b="0" lang="en-US" sz="1300" spc="58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300" spc="-177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300" spc="-114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object 4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11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37155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40" strike="noStrike">
                <a:solidFill>
                  <a:srgbClr val="ebebeb"/>
                </a:solidFill>
                <a:latin typeface="Verdana"/>
              </a:rPr>
              <a:t>Visua</a:t>
            </a:r>
            <a:r>
              <a:rPr b="0" lang="en-US" sz="3600" spc="-72" strike="noStrike">
                <a:solidFill>
                  <a:srgbClr val="ebebeb"/>
                </a:solidFill>
                <a:latin typeface="Verdana"/>
              </a:rPr>
              <a:t>l</a:t>
            </a:r>
            <a:r>
              <a:rPr b="0" lang="en-US" sz="3600" spc="-262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341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109" strike="noStrike">
                <a:solidFill>
                  <a:srgbClr val="ebebeb"/>
                </a:solidFill>
                <a:latin typeface="Verdana"/>
              </a:rPr>
              <a:t>ncod</a:t>
            </a:r>
            <a:r>
              <a:rPr b="0" lang="en-US" sz="3600" spc="52" strike="noStrike">
                <a:solidFill>
                  <a:srgbClr val="ebebeb"/>
                </a:solidFill>
                <a:latin typeface="Verdana"/>
              </a:rPr>
              <a:t>i</a:t>
            </a:r>
            <a:r>
              <a:rPr b="0" lang="en-US" sz="3600" spc="-131" strike="noStrike">
                <a:solidFill>
                  <a:srgbClr val="ebebeb"/>
                </a:solidFill>
                <a:latin typeface="Verdana"/>
              </a:rPr>
              <a:t>ngs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1" name="object 3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12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object 4" descr=""/>
          <p:cNvPicPr/>
          <p:nvPr/>
        </p:nvPicPr>
        <p:blipFill>
          <a:blip r:embed="rId1"/>
          <a:stretch/>
        </p:blipFill>
        <p:spPr>
          <a:xfrm>
            <a:off x="998280" y="2281320"/>
            <a:ext cx="9955800" cy="373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371556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40" strike="noStrike">
                <a:solidFill>
                  <a:srgbClr val="ebebeb"/>
                </a:solidFill>
                <a:latin typeface="Verdana"/>
              </a:rPr>
              <a:t>Visua</a:t>
            </a:r>
            <a:r>
              <a:rPr b="0" lang="en-US" sz="3600" spc="-72" strike="noStrike">
                <a:solidFill>
                  <a:srgbClr val="ebebeb"/>
                </a:solidFill>
                <a:latin typeface="Verdana"/>
              </a:rPr>
              <a:t>l</a:t>
            </a:r>
            <a:r>
              <a:rPr b="0" lang="en-US" sz="3600" spc="-262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341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109" strike="noStrike">
                <a:solidFill>
                  <a:srgbClr val="ebebeb"/>
                </a:solidFill>
                <a:latin typeface="Verdana"/>
              </a:rPr>
              <a:t>ncod</a:t>
            </a:r>
            <a:r>
              <a:rPr b="0" lang="en-US" sz="3600" spc="52" strike="noStrike">
                <a:solidFill>
                  <a:srgbClr val="ebebeb"/>
                </a:solidFill>
                <a:latin typeface="Verdana"/>
              </a:rPr>
              <a:t>i</a:t>
            </a:r>
            <a:r>
              <a:rPr b="0" lang="en-US" sz="3600" spc="-131" strike="noStrike">
                <a:solidFill>
                  <a:srgbClr val="ebebeb"/>
                </a:solidFill>
                <a:latin typeface="Verdana"/>
              </a:rPr>
              <a:t>ngs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object 3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13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object 4" descr=""/>
          <p:cNvPicPr/>
          <p:nvPr/>
        </p:nvPicPr>
        <p:blipFill>
          <a:blip r:embed="rId1"/>
          <a:stretch/>
        </p:blipFill>
        <p:spPr>
          <a:xfrm>
            <a:off x="1155240" y="2603160"/>
            <a:ext cx="9715320" cy="3552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262080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46" strike="noStrike">
                <a:solidFill>
                  <a:srgbClr val="ebebeb"/>
                </a:solidFill>
                <a:latin typeface="Verdana"/>
              </a:rPr>
              <a:t>U</a:t>
            </a:r>
            <a:r>
              <a:rPr b="0" lang="en-US" sz="3600" spc="-327" strike="noStrike">
                <a:solidFill>
                  <a:srgbClr val="ebebeb"/>
                </a:solidFill>
                <a:latin typeface="Verdana"/>
              </a:rPr>
              <a:t>s</a:t>
            </a:r>
            <a:r>
              <a:rPr b="0" lang="en-US" sz="3600" spc="194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-25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of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color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object 3"/>
          <p:cNvSpPr/>
          <p:nvPr/>
        </p:nvSpPr>
        <p:spPr>
          <a:xfrm>
            <a:off x="1234080" y="2632680"/>
            <a:ext cx="8669160" cy="31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algn="just" defTabSz="914400">
              <a:lnSpc>
                <a:spcPct val="100000"/>
              </a:lnSpc>
              <a:spcBef>
                <a:spcPts val="99"/>
              </a:spcBef>
            </a:pP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85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powerful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tool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8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representation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data,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0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used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62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highlight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important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information </a:t>
            </a:r>
            <a:r>
              <a:rPr b="0" lang="en-US" sz="1800" spc="6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differentiate </a:t>
            </a:r>
            <a:r>
              <a:rPr b="0" lang="en-US" sz="1800" spc="32" strike="noStrike">
                <a:solidFill>
                  <a:srgbClr val="404040"/>
                </a:solidFill>
                <a:latin typeface="Verdana"/>
              </a:rPr>
              <a:t>between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types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data.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 algn="just" defTabSz="914400">
              <a:lnSpc>
                <a:spcPct val="100000"/>
              </a:lnSpc>
              <a:spcBef>
                <a:spcPts val="995"/>
              </a:spcBef>
            </a:pP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However,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use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0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also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introduce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perceptual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issues,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 as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color </a:t>
            </a:r>
            <a:r>
              <a:rPr b="0" lang="en-US" sz="1800" spc="-62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b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49" strike="noStrike">
                <a:solidFill>
                  <a:srgbClr val="404040"/>
                </a:solidFill>
                <a:latin typeface="Verdana"/>
              </a:rPr>
              <a:t>dn</a:t>
            </a:r>
            <a:r>
              <a:rPr b="0" lang="en-US" sz="1800" spc="38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245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242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800" spc="-60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su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f</a:t>
            </a:r>
            <a:r>
              <a:rPr b="0" lang="en-US" sz="1800" spc="38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ti</a:t>
            </a:r>
            <a:r>
              <a:rPr b="0" lang="en-US" sz="1800" spc="43" strike="noStrike">
                <a:solidFill>
                  <a:srgbClr val="404040"/>
                </a:solidFill>
                <a:latin typeface="Verdana"/>
              </a:rPr>
              <a:t>gu</a:t>
            </a:r>
            <a:r>
              <a:rPr b="0" lang="en-US" sz="1800" spc="38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 algn="just" defTabSz="914400">
              <a:lnSpc>
                <a:spcPct val="100000"/>
              </a:lnSpc>
              <a:spcBef>
                <a:spcPts val="1001"/>
              </a:spcBef>
            </a:pP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When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8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visualizations,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82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8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29" strike="noStrike">
                <a:solidFill>
                  <a:srgbClr val="404040"/>
                </a:solidFill>
                <a:latin typeface="Verdana"/>
              </a:rPr>
              <a:t>choose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colors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easy </a:t>
            </a:r>
            <a:r>
              <a:rPr b="0" lang="en-US" sz="1800" spc="-62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distinguish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6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8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appropriate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target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29" strike="noStrike">
                <a:solidFill>
                  <a:srgbClr val="404040"/>
                </a:solidFill>
                <a:latin typeface="Verdana"/>
              </a:rPr>
              <a:t>audience.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 indent="63360" algn="just" defTabSz="914400">
              <a:lnSpc>
                <a:spcPct val="10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example,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heat </a:t>
            </a:r>
            <a:r>
              <a:rPr b="0" lang="en-US" sz="1800" spc="58" strike="noStrike">
                <a:solidFill>
                  <a:srgbClr val="404040"/>
                </a:solidFill>
                <a:latin typeface="Verdana"/>
              </a:rPr>
              <a:t>map 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may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use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range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colors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represent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levels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data,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but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colors 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chosen 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should 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800" spc="-60" strike="noStrike">
                <a:solidFill>
                  <a:srgbClr val="404040"/>
                </a:solidFill>
                <a:latin typeface="Verdana"/>
              </a:rPr>
              <a:t>easily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distinguishable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users </a:t>
            </a:r>
            <a:r>
              <a:rPr b="0" lang="en-US" sz="1800" spc="-62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w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ff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y</a:t>
            </a:r>
            <a:r>
              <a:rPr b="0" lang="en-US" sz="1800" spc="97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242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800" spc="157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250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object 4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14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262080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46" strike="noStrike">
                <a:solidFill>
                  <a:srgbClr val="ebebeb"/>
                </a:solidFill>
                <a:latin typeface="Verdana"/>
              </a:rPr>
              <a:t>U</a:t>
            </a:r>
            <a:r>
              <a:rPr b="0" lang="en-US" sz="3600" spc="-327" strike="noStrike">
                <a:solidFill>
                  <a:srgbClr val="ebebeb"/>
                </a:solidFill>
                <a:latin typeface="Verdana"/>
              </a:rPr>
              <a:t>s</a:t>
            </a:r>
            <a:r>
              <a:rPr b="0" lang="en-US" sz="3600" spc="194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-25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of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color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object 3"/>
          <p:cNvSpPr/>
          <p:nvPr/>
        </p:nvSpPr>
        <p:spPr>
          <a:xfrm>
            <a:off x="1234080" y="2604600"/>
            <a:ext cx="8670600" cy="32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marL="12600" algn="just" defTabSz="914400">
              <a:lnSpc>
                <a:spcPct val="80000"/>
              </a:lnSpc>
              <a:spcBef>
                <a:spcPts val="334"/>
              </a:spcBef>
            </a:pP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Color 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000" spc="77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powerful tool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visualization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it 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convey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types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information,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such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highlighting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specific </a:t>
            </a:r>
            <a:r>
              <a:rPr b="0" lang="en-US" sz="1000" spc="43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points,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indicating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magnitude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variable,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distinguishing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categories.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However,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use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visualization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requires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careful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consideration,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inappropriate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inconsistent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use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color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000" spc="24" strike="noStrike">
                <a:solidFill>
                  <a:srgbClr val="404040"/>
                </a:solidFill>
                <a:latin typeface="Verdana"/>
              </a:rPr>
              <a:t>lead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confusion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misinterpretation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data.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Here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some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examples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how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used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in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visualization: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754"/>
              </a:spcBef>
              <a:tabLst>
                <a:tab algn="l" pos="35496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Hi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g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li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g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000" spc="43" strike="noStrike">
                <a:solidFill>
                  <a:srgbClr val="404040"/>
                </a:solidFill>
                <a:latin typeface="Verdana"/>
              </a:rPr>
              <a:t>g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spe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fi</a:t>
            </a:r>
            <a:r>
              <a:rPr b="0" lang="en-US" sz="1000" spc="117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000" spc="-137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000" spc="-182" strike="noStrike">
                <a:solidFill>
                  <a:srgbClr val="404040"/>
                </a:solidFill>
                <a:latin typeface="Verdana"/>
              </a:rPr>
              <a:t>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ts val="859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bright</a:t>
            </a:r>
            <a:r>
              <a:rPr b="0" lang="en-US" sz="9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contrasting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highlight</a:t>
            </a:r>
            <a:r>
              <a:rPr b="0" lang="en-US" sz="9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specific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points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draw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attention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9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make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9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easier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9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viewer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identify</a:t>
            </a:r>
            <a:r>
              <a:rPr b="0" lang="en-US" sz="9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patterns</a:t>
            </a:r>
            <a:r>
              <a:rPr b="0" lang="en-US" sz="9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outliers.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1"/>
              </a:spcBef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6"/>
              </a:spcBef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scatter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plot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relationship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12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two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variables,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using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red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highlight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points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fall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outside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900" spc="-30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certain</a:t>
            </a:r>
            <a:r>
              <a:rPr b="0" lang="en-US" sz="9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range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9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help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identify</a:t>
            </a:r>
            <a:r>
              <a:rPr b="0" lang="en-US" sz="9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outliers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9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anomalies.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760"/>
              </a:spcBef>
              <a:tabLst>
                <a:tab algn="l" pos="35496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Indicating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magnitude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7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variable: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" strike="noStrike">
                <a:solidFill>
                  <a:srgbClr val="404040"/>
                </a:solidFill>
                <a:latin typeface="Verdana"/>
              </a:rPr>
              <a:t>scale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magnitude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variable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make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easier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for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viewer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understand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identify patterns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trends.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0"/>
              </a:tabLst>
            </a:pPr>
            <a:endParaRPr b="0" lang="en-US" sz="8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6"/>
              </a:spcBef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9" strike="noStrike">
                <a:solidFill>
                  <a:srgbClr val="404040"/>
                </a:solidFill>
                <a:latin typeface="Verdana"/>
              </a:rPr>
              <a:t>heat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18" strike="noStrike">
                <a:solidFill>
                  <a:srgbClr val="404040"/>
                </a:solidFill>
                <a:latin typeface="Verdana"/>
              </a:rPr>
              <a:t>map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distribution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variable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across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12" strike="noStrike">
                <a:solidFill>
                  <a:srgbClr val="404040"/>
                </a:solidFill>
                <a:latin typeface="Verdana"/>
              </a:rPr>
              <a:t>geographic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region,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" strike="noStrike">
                <a:solidFill>
                  <a:srgbClr val="404040"/>
                </a:solidFill>
                <a:latin typeface="Verdana"/>
              </a:rPr>
              <a:t>scale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magnitude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variable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help</a:t>
            </a:r>
            <a:r>
              <a:rPr b="0" lang="en-US" sz="9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identify</a:t>
            </a:r>
            <a:r>
              <a:rPr b="0" lang="en-US" sz="9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areas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9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high</a:t>
            </a:r>
            <a:r>
              <a:rPr b="0" lang="en-US" sz="9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low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values.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760"/>
              </a:spcBef>
              <a:tabLst>
                <a:tab algn="l" pos="35496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Distinguishing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categories: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9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colors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categories</a:t>
            </a:r>
            <a:r>
              <a:rPr b="0" lang="en-US" sz="9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make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9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easier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viewer</a:t>
            </a:r>
            <a:r>
              <a:rPr b="0" lang="en-US" sz="9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distinguish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12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2" strike="noStrike">
                <a:solidFill>
                  <a:srgbClr val="404040"/>
                </a:solidFill>
                <a:latin typeface="Verdana"/>
              </a:rPr>
              <a:t>types</a:t>
            </a:r>
            <a:r>
              <a:rPr b="0" lang="en-US" sz="9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900" spc="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understand</a:t>
            </a:r>
            <a:r>
              <a:rPr b="0" lang="en-US" sz="9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relationships</a:t>
            </a:r>
            <a:r>
              <a:rPr b="0" lang="en-US" sz="9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12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them.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469800" defTabSz="914400">
              <a:lnSpc>
                <a:spcPts val="975"/>
              </a:lnSpc>
              <a:spcBef>
                <a:spcPts val="780"/>
              </a:spcBef>
              <a:tabLst>
                <a:tab algn="l" pos="756360"/>
              </a:tabLst>
            </a:pP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700" spc="-5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92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900" spc="8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bar</a:t>
            </a:r>
            <a:r>
              <a:rPr b="0" lang="en-US" sz="900" spc="8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chart</a:t>
            </a:r>
            <a:r>
              <a:rPr b="0" lang="en-US" sz="900" spc="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900" spc="7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8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6" strike="noStrike">
                <a:solidFill>
                  <a:srgbClr val="404040"/>
                </a:solidFill>
                <a:latin typeface="Verdana"/>
              </a:rPr>
              <a:t>sales</a:t>
            </a:r>
            <a:r>
              <a:rPr b="0" lang="en-US" sz="900" spc="7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900" spc="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products,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900" spc="7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1" strike="noStrike">
                <a:solidFill>
                  <a:srgbClr val="404040"/>
                </a:solidFill>
                <a:latin typeface="Verdana"/>
              </a:rPr>
              <a:t>colors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9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900" spc="7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each</a:t>
            </a:r>
            <a:r>
              <a:rPr b="0" lang="en-US" sz="900" spc="8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" strike="noStrike">
                <a:solidFill>
                  <a:srgbClr val="404040"/>
                </a:solidFill>
                <a:latin typeface="Verdana"/>
              </a:rPr>
              <a:t>product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5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900" spc="8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7" strike="noStrike">
                <a:solidFill>
                  <a:srgbClr val="404040"/>
                </a:solidFill>
                <a:latin typeface="Verdana"/>
              </a:rPr>
              <a:t>make</a:t>
            </a:r>
            <a:r>
              <a:rPr b="0" lang="en-US" sz="900" spc="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9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easier</a:t>
            </a:r>
            <a:r>
              <a:rPr b="0" lang="en-US" sz="900" spc="6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to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marL="756360" defTabSz="914400">
              <a:lnSpc>
                <a:spcPts val="975"/>
              </a:lnSpc>
              <a:tabLst>
                <a:tab algn="l" pos="756360"/>
              </a:tabLst>
            </a:pPr>
            <a:r>
              <a:rPr b="0" lang="en-US" sz="900" spc="18" strike="noStrike">
                <a:solidFill>
                  <a:srgbClr val="404040"/>
                </a:solidFill>
                <a:latin typeface="Verdana"/>
              </a:rPr>
              <a:t>compare</a:t>
            </a:r>
            <a:r>
              <a:rPr b="0" lang="en-US" sz="9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sales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9" strike="noStrike">
                <a:solidFill>
                  <a:srgbClr val="404040"/>
                </a:solidFill>
                <a:latin typeface="Verdana"/>
              </a:rPr>
              <a:t>each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4" strike="noStrike">
                <a:solidFill>
                  <a:srgbClr val="404040"/>
                </a:solidFill>
                <a:latin typeface="Verdana"/>
              </a:rPr>
              <a:t>product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29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9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26" strike="noStrike">
                <a:solidFill>
                  <a:srgbClr val="404040"/>
                </a:solidFill>
                <a:latin typeface="Verdana"/>
              </a:rPr>
              <a:t>identify</a:t>
            </a:r>
            <a:r>
              <a:rPr b="0" lang="en-US" sz="9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900" spc="-52" strike="noStrike">
                <a:solidFill>
                  <a:srgbClr val="404040"/>
                </a:solidFill>
                <a:latin typeface="Verdana"/>
              </a:rPr>
              <a:t> most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" strike="noStrike">
                <a:solidFill>
                  <a:srgbClr val="404040"/>
                </a:solidFill>
                <a:latin typeface="Verdana"/>
              </a:rPr>
              <a:t>popular</a:t>
            </a:r>
            <a:r>
              <a:rPr b="0" lang="en-US" sz="9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41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9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12" strike="noStrike">
                <a:solidFill>
                  <a:srgbClr val="404040"/>
                </a:solidFill>
                <a:latin typeface="Verdana"/>
              </a:rPr>
              <a:t>profitable</a:t>
            </a:r>
            <a:r>
              <a:rPr b="0" lang="en-US" sz="9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900" spc="-55" strike="noStrike">
                <a:solidFill>
                  <a:srgbClr val="404040"/>
                </a:solidFill>
                <a:latin typeface="Verdana"/>
              </a:rPr>
              <a:t>items.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object 4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15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262080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46" strike="noStrike">
                <a:solidFill>
                  <a:srgbClr val="ebebeb"/>
                </a:solidFill>
                <a:latin typeface="Verdana"/>
              </a:rPr>
              <a:t>U</a:t>
            </a:r>
            <a:r>
              <a:rPr b="0" lang="en-US" sz="3600" spc="-327" strike="noStrike">
                <a:solidFill>
                  <a:srgbClr val="ebebeb"/>
                </a:solidFill>
                <a:latin typeface="Verdana"/>
              </a:rPr>
              <a:t>s</a:t>
            </a:r>
            <a:r>
              <a:rPr b="0" lang="en-US" sz="3600" spc="194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-25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of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color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object 3"/>
          <p:cNvSpPr/>
          <p:nvPr/>
        </p:nvSpPr>
        <p:spPr>
          <a:xfrm>
            <a:off x="1234080" y="2257560"/>
            <a:ext cx="10077840" cy="41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When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3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visualization,</a:t>
            </a:r>
            <a:r>
              <a:rPr b="0" lang="en-US" sz="13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there</a:t>
            </a:r>
            <a:r>
              <a:rPr b="0" lang="en-US" sz="13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some</a:t>
            </a:r>
            <a:r>
              <a:rPr b="0" lang="en-US" sz="13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considerations</a:t>
            </a:r>
            <a:r>
              <a:rPr b="0" lang="en-US" sz="13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3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keep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 in</a:t>
            </a:r>
            <a:r>
              <a:rPr b="0" lang="en-US" sz="13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6" strike="noStrike">
                <a:solidFill>
                  <a:srgbClr val="404040"/>
                </a:solidFill>
                <a:latin typeface="Verdana"/>
              </a:rPr>
              <a:t>mind: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995"/>
              </a:spcBef>
              <a:tabLst>
                <a:tab algn="l" pos="35496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3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6" strike="noStrike">
                <a:solidFill>
                  <a:srgbClr val="404040"/>
                </a:solidFill>
                <a:latin typeface="Verdana"/>
              </a:rPr>
              <a:t>blindness: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100000"/>
              </a:lnSpc>
              <a:spcBef>
                <a:spcPts val="1009"/>
              </a:spcBef>
              <a:tabLst>
                <a:tab algn="l" pos="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Approximately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56" strike="noStrike">
                <a:solidFill>
                  <a:srgbClr val="404040"/>
                </a:solidFill>
                <a:latin typeface="Verdana"/>
              </a:rPr>
              <a:t>8%</a:t>
            </a:r>
            <a:r>
              <a:rPr b="0" lang="en-US" sz="1300" spc="-16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men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85" strike="noStrike">
                <a:solidFill>
                  <a:srgbClr val="404040"/>
                </a:solidFill>
                <a:latin typeface="Verdana"/>
              </a:rPr>
              <a:t>0.5%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300" spc="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women</a:t>
            </a:r>
            <a:r>
              <a:rPr b="0" lang="en-US" sz="1300" spc="18" strike="noStrike">
                <a:solidFill>
                  <a:srgbClr val="404040"/>
                </a:solidFill>
                <a:latin typeface="Verdana"/>
              </a:rPr>
              <a:t> have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some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form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blindness,</a:t>
            </a:r>
            <a:r>
              <a:rPr b="0" lang="en-US" sz="13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which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6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24" strike="noStrike">
                <a:solidFill>
                  <a:srgbClr val="404040"/>
                </a:solidFill>
                <a:latin typeface="Verdana"/>
              </a:rPr>
              <a:t>affect</a:t>
            </a:r>
            <a:r>
              <a:rPr b="0" lang="en-US" sz="13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their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ability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300" spc="-4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6" strike="noStrike">
                <a:solidFill>
                  <a:srgbClr val="404040"/>
                </a:solidFill>
                <a:latin typeface="Verdana"/>
              </a:rPr>
              <a:t>distinguish</a:t>
            </a:r>
            <a:r>
              <a:rPr b="0" lang="en-US" sz="13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8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certain</a:t>
            </a:r>
            <a:r>
              <a:rPr b="0" lang="en-US" sz="13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colors.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106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3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ensure</a:t>
            </a:r>
            <a:r>
              <a:rPr b="0" lang="en-US" sz="1300" spc="26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300" spc="24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colorblind</a:t>
            </a:r>
            <a:r>
              <a:rPr b="0" lang="en-US" sz="1300" spc="25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viewers</a:t>
            </a:r>
            <a:r>
              <a:rPr b="0" lang="en-US" sz="1300" spc="26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7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300" spc="25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11" strike="noStrike">
                <a:solidFill>
                  <a:srgbClr val="404040"/>
                </a:solidFill>
                <a:latin typeface="Verdana"/>
              </a:rPr>
              <a:t>still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understand</a:t>
            </a:r>
            <a:r>
              <a:rPr b="0" lang="en-US" sz="1300" spc="25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25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8" strike="noStrike">
                <a:solidFill>
                  <a:srgbClr val="404040"/>
                </a:solidFill>
                <a:latin typeface="Verdana"/>
              </a:rPr>
              <a:t>data,</a:t>
            </a:r>
            <a:r>
              <a:rPr b="0" lang="en-US" sz="1300" spc="24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300" spc="24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31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300" spc="25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300" spc="25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use</a:t>
            </a:r>
            <a:r>
              <a:rPr b="0" lang="en-US" sz="1300" spc="24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300" spc="25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schemes</a:t>
            </a:r>
            <a:r>
              <a:rPr b="0" lang="en-US" sz="1300" spc="27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300" spc="24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are </a:t>
            </a:r>
            <a:r>
              <a:rPr b="0" lang="en-US" sz="1300" spc="-4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accessible</a:t>
            </a:r>
            <a:r>
              <a:rPr b="0" lang="en-US" sz="13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9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3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avoid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3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colors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3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easily</a:t>
            </a:r>
            <a:r>
              <a:rPr b="0" lang="en-US" sz="13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confused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29" strike="noStrike">
                <a:solidFill>
                  <a:srgbClr val="404040"/>
                </a:solidFill>
                <a:latin typeface="Verdana"/>
              </a:rPr>
              <a:t>one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another.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995"/>
              </a:spcBef>
              <a:tabLst>
                <a:tab algn="l" pos="35496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Consistency: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100000"/>
              </a:lnSpc>
              <a:spcBef>
                <a:spcPts val="1009"/>
              </a:spcBef>
              <a:tabLst>
                <a:tab algn="l" pos="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72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consistent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schemes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throughout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97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visualization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6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make 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easier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viewer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understand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300" spc="-4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3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identify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patterns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3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relationships.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10000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72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too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many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colors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8" strike="noStrike">
                <a:solidFill>
                  <a:srgbClr val="404040"/>
                </a:solidFill>
                <a:latin typeface="Verdana"/>
              </a:rPr>
              <a:t>changing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schemes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7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24" strike="noStrike">
                <a:solidFill>
                  <a:srgbClr val="404040"/>
                </a:solidFill>
                <a:latin typeface="Verdana"/>
              </a:rPr>
              <a:t>create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confusion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make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more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difficult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viewer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300" spc="-4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understand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data.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995"/>
              </a:spcBef>
              <a:tabLst>
                <a:tab algn="l" pos="35496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Context: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69800" defTabSz="914400">
              <a:lnSpc>
                <a:spcPct val="100000"/>
              </a:lnSpc>
              <a:spcBef>
                <a:spcPts val="1009"/>
              </a:spcBef>
              <a:tabLst>
                <a:tab algn="l" pos="75636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7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1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use</a:t>
            </a:r>
            <a:r>
              <a:rPr b="0" lang="en-US" sz="1300" spc="1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300" spc="1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300" spc="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should</a:t>
            </a:r>
            <a:r>
              <a:rPr b="0" lang="en-US" sz="1300" spc="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always</a:t>
            </a:r>
            <a:r>
              <a:rPr b="0" lang="en-US" sz="13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69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300" spc="1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considered</a:t>
            </a:r>
            <a:r>
              <a:rPr b="0" lang="en-US" sz="13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300" spc="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10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context</a:t>
            </a:r>
            <a:r>
              <a:rPr b="0" lang="en-US" sz="1300" spc="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300" spc="1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1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300" spc="1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being</a:t>
            </a:r>
            <a:r>
              <a:rPr b="0" lang="en-US" sz="1300" spc="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presented</a:t>
            </a:r>
            <a:r>
              <a:rPr b="0" lang="en-US" sz="1300" spc="12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300" spc="10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3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goals</a:t>
            </a:r>
            <a:r>
              <a:rPr b="0" lang="en-US" sz="1300" spc="10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300" spc="11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the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56360" defTabSz="914400">
              <a:lnSpc>
                <a:spcPct val="100000"/>
              </a:lnSpc>
              <a:tabLst>
                <a:tab algn="l" pos="756360"/>
              </a:tabLst>
            </a:pP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visualization.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69800" defTabSz="914400">
              <a:lnSpc>
                <a:spcPct val="100000"/>
              </a:lnSpc>
              <a:spcBef>
                <a:spcPts val="995"/>
              </a:spcBef>
              <a:tabLst>
                <a:tab algn="l" pos="75636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example,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bright,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attention-grabbing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colors 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may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72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appropriate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highlighting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points,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but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object 4"/>
          <p:cNvSpPr/>
          <p:nvPr/>
        </p:nvSpPr>
        <p:spPr>
          <a:xfrm>
            <a:off x="1977480" y="6373080"/>
            <a:ext cx="43264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may</a:t>
            </a:r>
            <a:r>
              <a:rPr b="0" lang="en-US" sz="13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69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300" spc="-151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300" spc="-120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300" spc="-177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300" spc="13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300" spc="117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ti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ng</a:t>
            </a:r>
            <a:r>
              <a:rPr b="0" lang="en-US" sz="13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3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w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helm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ng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300" spc="-97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3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her</a:t>
            </a:r>
            <a:r>
              <a:rPr b="0" lang="en-US" sz="13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09" strike="noStrike">
                <a:solidFill>
                  <a:srgbClr val="404040"/>
                </a:solidFill>
                <a:latin typeface="Verdana"/>
              </a:rPr>
              <a:t>co</a:t>
            </a:r>
            <a:r>
              <a:rPr b="0" lang="en-US" sz="1300" spc="-66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ex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300" spc="-177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300" spc="-114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object 5"/>
          <p:cNvSpPr/>
          <p:nvPr/>
        </p:nvSpPr>
        <p:spPr>
          <a:xfrm>
            <a:off x="1234080" y="6697800"/>
            <a:ext cx="1007640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Overall,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7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69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97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powerful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tool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visualization,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 but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1" strike="noStrike">
                <a:solidFill>
                  <a:srgbClr val="404040"/>
                </a:solidFill>
                <a:latin typeface="Verdana"/>
              </a:rPr>
              <a:t>should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63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used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46" strike="noStrike">
                <a:solidFill>
                  <a:srgbClr val="404040"/>
                </a:solidFill>
                <a:latin typeface="Verdana"/>
              </a:rPr>
              <a:t>thoughtfully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consistently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ensure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that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object 7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16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262080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46" strike="noStrike">
                <a:solidFill>
                  <a:srgbClr val="ebebeb"/>
                </a:solidFill>
                <a:latin typeface="Verdana"/>
              </a:rPr>
              <a:t>U</a:t>
            </a:r>
            <a:r>
              <a:rPr b="0" lang="en-US" sz="3600" spc="-327" strike="noStrike">
                <a:solidFill>
                  <a:srgbClr val="ebebeb"/>
                </a:solidFill>
                <a:latin typeface="Verdana"/>
              </a:rPr>
              <a:t>s</a:t>
            </a:r>
            <a:r>
              <a:rPr b="0" lang="en-US" sz="3600" spc="194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-25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of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color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object 3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17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object 4" descr=""/>
          <p:cNvPicPr/>
          <p:nvPr/>
        </p:nvPicPr>
        <p:blipFill>
          <a:blip r:embed="rId1"/>
          <a:stretch/>
        </p:blipFill>
        <p:spPr>
          <a:xfrm>
            <a:off x="1246680" y="2097000"/>
            <a:ext cx="8857080" cy="441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262080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46" strike="noStrike">
                <a:solidFill>
                  <a:srgbClr val="ebebeb"/>
                </a:solidFill>
                <a:latin typeface="Verdana"/>
              </a:rPr>
              <a:t>U</a:t>
            </a:r>
            <a:r>
              <a:rPr b="0" lang="en-US" sz="3600" spc="-327" strike="noStrike">
                <a:solidFill>
                  <a:srgbClr val="ebebeb"/>
                </a:solidFill>
                <a:latin typeface="Verdana"/>
              </a:rPr>
              <a:t>s</a:t>
            </a:r>
            <a:r>
              <a:rPr b="0" lang="en-US" sz="3600" spc="194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-25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of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color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object 3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18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object 4" descr=""/>
          <p:cNvPicPr/>
          <p:nvPr/>
        </p:nvPicPr>
        <p:blipFill>
          <a:blip r:embed="rId1"/>
          <a:stretch/>
        </p:blipFill>
        <p:spPr>
          <a:xfrm>
            <a:off x="1281600" y="2603160"/>
            <a:ext cx="8573760" cy="341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262080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46" strike="noStrike">
                <a:solidFill>
                  <a:srgbClr val="ebebeb"/>
                </a:solidFill>
                <a:latin typeface="Verdana"/>
              </a:rPr>
              <a:t>U</a:t>
            </a:r>
            <a:r>
              <a:rPr b="0" lang="en-US" sz="3600" spc="-327" strike="noStrike">
                <a:solidFill>
                  <a:srgbClr val="ebebeb"/>
                </a:solidFill>
                <a:latin typeface="Verdana"/>
              </a:rPr>
              <a:t>s</a:t>
            </a:r>
            <a:r>
              <a:rPr b="0" lang="en-US" sz="3600" spc="194" strike="noStrike">
                <a:solidFill>
                  <a:srgbClr val="ebebeb"/>
                </a:solidFill>
                <a:latin typeface="Verdana"/>
              </a:rPr>
              <a:t>e</a:t>
            </a:r>
            <a:r>
              <a:rPr b="0" lang="en-US" sz="3600" spc="-25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of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12" strike="noStrike">
                <a:solidFill>
                  <a:srgbClr val="ebebeb"/>
                </a:solidFill>
                <a:latin typeface="Verdana"/>
              </a:rPr>
              <a:t>color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4" name="object 3" descr=""/>
          <p:cNvPicPr/>
          <p:nvPr/>
        </p:nvPicPr>
        <p:blipFill>
          <a:blip r:embed="rId1"/>
          <a:stretch/>
        </p:blipFill>
        <p:spPr>
          <a:xfrm>
            <a:off x="479880" y="2309040"/>
            <a:ext cx="5499720" cy="3907080"/>
          </a:xfrm>
          <a:prstGeom prst="rect">
            <a:avLst/>
          </a:prstGeom>
          <a:ln w="0">
            <a:noFill/>
          </a:ln>
        </p:spPr>
      </p:pic>
      <p:sp>
        <p:nvSpPr>
          <p:cNvPr id="155" name="object 4"/>
          <p:cNvSpPr/>
          <p:nvPr/>
        </p:nvSpPr>
        <p:spPr>
          <a:xfrm>
            <a:off x="6269760" y="2399040"/>
            <a:ext cx="5308200" cy="36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algn="just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950" spc="-8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950" spc="-80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1" lang="en-US" sz="1200" spc="-32" strike="noStrike">
                <a:solidFill>
                  <a:srgbClr val="404040"/>
                </a:solidFill>
                <a:latin typeface="Tahoma"/>
              </a:rPr>
              <a:t>Sequential </a:t>
            </a:r>
            <a:r>
              <a:rPr b="1" lang="en-US" sz="1200" spc="-15" strike="noStrike">
                <a:solidFill>
                  <a:srgbClr val="404040"/>
                </a:solidFill>
                <a:latin typeface="Tahoma"/>
              </a:rPr>
              <a:t>color 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use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41" strike="noStrike">
                <a:solidFill>
                  <a:srgbClr val="404040"/>
                </a:solidFill>
                <a:latin typeface="Verdana"/>
              </a:rPr>
              <a:t>single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color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from </a:t>
            </a:r>
            <a:r>
              <a:rPr b="0" lang="en-US" sz="1200" spc="-41" strike="noStrike">
                <a:solidFill>
                  <a:srgbClr val="404040"/>
                </a:solidFill>
                <a:latin typeface="Verdana"/>
              </a:rPr>
              <a:t>light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200" spc="-35" strike="noStrike">
                <a:solidFill>
                  <a:srgbClr val="404040"/>
                </a:solidFill>
                <a:latin typeface="Verdana"/>
              </a:rPr>
              <a:t>dark. </a:t>
            </a:r>
            <a:r>
              <a:rPr b="0" lang="en-US" sz="1200" spc="24" strike="noStrike">
                <a:solidFill>
                  <a:srgbClr val="404040"/>
                </a:solidFill>
                <a:latin typeface="Verdana"/>
              </a:rPr>
              <a:t>An </a:t>
            </a:r>
            <a:r>
              <a:rPr b="0" lang="en-US" sz="1200" spc="2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example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2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29" strike="noStrike">
                <a:solidFill>
                  <a:srgbClr val="404040"/>
                </a:solidFill>
                <a:latin typeface="Verdana"/>
              </a:rPr>
              <a:t>encoding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total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7" strike="noStrike">
                <a:solidFill>
                  <a:srgbClr val="404040"/>
                </a:solidFill>
                <a:latin typeface="Verdana"/>
              </a:rPr>
              <a:t>amount</a:t>
            </a:r>
            <a:r>
              <a:rPr b="0" lang="en-US" sz="12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2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sales</a:t>
            </a:r>
            <a:r>
              <a:rPr b="0" lang="en-US" sz="12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7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2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state</a:t>
            </a:r>
            <a:r>
              <a:rPr b="0" lang="en-US" sz="12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blue, </a:t>
            </a:r>
            <a:r>
              <a:rPr b="0" lang="en-US" sz="1200" spc="-40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where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 darker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blue</a:t>
            </a:r>
            <a:r>
              <a:rPr b="0" lang="en-US" sz="12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shows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higher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sales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lighter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blue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shows </a:t>
            </a:r>
            <a:r>
              <a:rPr b="0" lang="en-US" sz="1200" spc="-40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lower</a:t>
            </a:r>
            <a:r>
              <a:rPr b="0" lang="en-US" sz="12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sales.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10000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950" spc="-8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950" spc="-80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1" lang="en-US" sz="1200" spc="-41" strike="noStrike">
                <a:solidFill>
                  <a:srgbClr val="404040"/>
                </a:solidFill>
                <a:latin typeface="Tahoma"/>
              </a:rPr>
              <a:t>Diverging</a:t>
            </a:r>
            <a:r>
              <a:rPr b="1" lang="en-US" sz="1200" spc="-35" strike="noStrike">
                <a:solidFill>
                  <a:srgbClr val="404040"/>
                </a:solidFill>
                <a:latin typeface="Tahoma"/>
              </a:rPr>
              <a:t> </a:t>
            </a:r>
            <a:r>
              <a:rPr b="1" lang="en-US" sz="1200" spc="-15" strike="noStrike">
                <a:solidFill>
                  <a:srgbClr val="404040"/>
                </a:solidFill>
                <a:latin typeface="Tahoma"/>
              </a:rPr>
              <a:t>color</a:t>
            </a:r>
            <a:r>
              <a:rPr b="1" lang="en-US" sz="1200" spc="-12" strike="noStrike">
                <a:solidFill>
                  <a:srgbClr val="404040"/>
                </a:solidFill>
                <a:latin typeface="Tahoma"/>
              </a:rPr>
              <a:t> </a:t>
            </a:r>
            <a:r>
              <a:rPr b="0" lang="en-US" sz="1200" spc="-137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200" spc="14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200" spc="-35" strike="noStrike">
                <a:solidFill>
                  <a:srgbClr val="404040"/>
                </a:solidFill>
                <a:latin typeface="Verdana"/>
              </a:rPr>
              <a:t>show</a:t>
            </a:r>
            <a:r>
              <a:rPr b="0" lang="en-US" sz="1200" spc="34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9" strike="noStrike">
                <a:solidFill>
                  <a:srgbClr val="404040"/>
                </a:solidFill>
                <a:latin typeface="Verdana"/>
              </a:rPr>
              <a:t>range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diverging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from</a:t>
            </a:r>
            <a:r>
              <a:rPr b="0" lang="en-US" sz="1200" spc="3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midpoint. 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2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69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also 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used to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show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weather, 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with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blue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showing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12" strike="noStrike">
                <a:solidFill>
                  <a:srgbClr val="404040"/>
                </a:solidFill>
                <a:latin typeface="Verdana"/>
              </a:rPr>
              <a:t>cooler</a:t>
            </a:r>
            <a:r>
              <a:rPr b="0" lang="en-US" sz="12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temperatures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49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200" spc="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7" strike="noStrike">
                <a:solidFill>
                  <a:srgbClr val="404040"/>
                </a:solidFill>
                <a:latin typeface="Verdana"/>
              </a:rPr>
              <a:t>red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showing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5" strike="noStrike">
                <a:solidFill>
                  <a:srgbClr val="404040"/>
                </a:solidFill>
                <a:latin typeface="Verdana"/>
              </a:rPr>
              <a:t>hotter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5" strike="noStrike">
                <a:solidFill>
                  <a:srgbClr val="404040"/>
                </a:solidFill>
                <a:latin typeface="Verdana"/>
              </a:rPr>
              <a:t>temperatures. 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midpoint </a:t>
            </a:r>
            <a:r>
              <a:rPr b="0" lang="en-US" sz="1200" spc="7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9" strike="noStrike">
                <a:solidFill>
                  <a:srgbClr val="404040"/>
                </a:solidFill>
                <a:latin typeface="Verdana"/>
              </a:rPr>
              <a:t>average,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target, 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37" strike="noStrike">
                <a:solidFill>
                  <a:srgbClr val="404040"/>
                </a:solidFill>
                <a:latin typeface="Verdana"/>
              </a:rPr>
              <a:t>z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ero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148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2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200" spc="-97" strike="noStrike">
                <a:solidFill>
                  <a:srgbClr val="404040"/>
                </a:solidFill>
                <a:latin typeface="Verdana"/>
              </a:rPr>
              <a:t>se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2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18" strike="noStrike">
                <a:solidFill>
                  <a:srgbClr val="404040"/>
                </a:solidFill>
                <a:latin typeface="Verdana"/>
              </a:rPr>
              <a:t>w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here</a:t>
            </a:r>
            <a:r>
              <a:rPr b="0" lang="en-US" sz="12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97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here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re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58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200" spc="49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200" spc="-114" strike="noStrike">
                <a:solidFill>
                  <a:srgbClr val="404040"/>
                </a:solidFill>
                <a:latin typeface="Verdana"/>
              </a:rPr>
              <a:t>si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iv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200" spc="18" strike="noStrike">
                <a:solidFill>
                  <a:srgbClr val="404040"/>
                </a:solidFill>
                <a:latin typeface="Verdana"/>
              </a:rPr>
              <a:t>nd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neg</a:t>
            </a:r>
            <a:r>
              <a:rPr b="0" lang="en-US" sz="1200" spc="3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200" spc="-97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iv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num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ber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200" spc="-114" strike="noStrike">
                <a:solidFill>
                  <a:srgbClr val="404040"/>
                </a:solidFill>
                <a:latin typeface="Verdana"/>
              </a:rPr>
              <a:t>.</a:t>
            </a:r>
            <a:r>
              <a:rPr b="0" lang="en-US" sz="1200" spc="-106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ts val="1434"/>
              </a:lnSpc>
              <a:spcBef>
                <a:spcPts val="1009"/>
              </a:spcBef>
              <a:tabLst>
                <a:tab algn="l" pos="354960"/>
              </a:tabLst>
            </a:pPr>
            <a:r>
              <a:rPr b="0" lang="en-US" sz="950" spc="-8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950" spc="-8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1" lang="en-US" sz="1200" spc="4" strike="noStrike">
                <a:solidFill>
                  <a:srgbClr val="404040"/>
                </a:solidFill>
                <a:latin typeface="Tahoma"/>
              </a:rPr>
              <a:t>Categorical</a:t>
            </a:r>
            <a:r>
              <a:rPr b="1" lang="en-US" sz="1200" spc="103" strike="noStrike">
                <a:solidFill>
                  <a:srgbClr val="404040"/>
                </a:solidFill>
                <a:latin typeface="Tahoma"/>
              </a:rPr>
              <a:t> </a:t>
            </a:r>
            <a:r>
              <a:rPr b="1" lang="en-US" sz="1200" spc="-15" strike="noStrike">
                <a:solidFill>
                  <a:srgbClr val="404040"/>
                </a:solidFill>
                <a:latin typeface="Tahoma"/>
              </a:rPr>
              <a:t>color</a:t>
            </a:r>
            <a:r>
              <a:rPr b="1" lang="en-US" sz="1200" spc="111" strike="noStrike">
                <a:solidFill>
                  <a:srgbClr val="404040"/>
                </a:solidFill>
                <a:latin typeface="Tahoma"/>
              </a:rPr>
              <a:t> 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uses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2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41" strike="noStrike">
                <a:solidFill>
                  <a:srgbClr val="404040"/>
                </a:solidFill>
                <a:latin typeface="Verdana"/>
              </a:rPr>
              <a:t>hues</a:t>
            </a:r>
            <a:r>
              <a:rPr b="0" lang="en-US" sz="12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200" spc="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distinguish</a:t>
            </a:r>
            <a:r>
              <a:rPr b="0" lang="en-US" sz="1200" spc="3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24" strike="noStrike">
                <a:solidFill>
                  <a:srgbClr val="404040"/>
                </a:solidFill>
                <a:latin typeface="Verdana"/>
              </a:rPr>
              <a:t>between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55680" defTabSz="914400">
              <a:lnSpc>
                <a:spcPts val="1434"/>
              </a:lnSpc>
              <a:tabLst>
                <a:tab algn="l" pos="354960"/>
              </a:tabLst>
            </a:pPr>
            <a:r>
              <a:rPr b="0" lang="en-US" sz="1200" spc="72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f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f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er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nt</a:t>
            </a:r>
            <a:r>
              <a:rPr b="0" lang="en-US" sz="12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63" strike="noStrike">
                <a:solidFill>
                  <a:srgbClr val="404040"/>
                </a:solidFill>
                <a:latin typeface="Verdana"/>
              </a:rPr>
              <a:t>ca</a:t>
            </a:r>
            <a:r>
              <a:rPr b="0" lang="en-US" sz="1200" spc="1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200" spc="58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200" spc="52" strike="noStrike">
                <a:solidFill>
                  <a:srgbClr val="404040"/>
                </a:solidFill>
                <a:latin typeface="Verdana"/>
              </a:rPr>
              <a:t>g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ri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200" spc="-160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200" spc="-106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100000"/>
              </a:lnSpc>
              <a:spcBef>
                <a:spcPts val="1009"/>
              </a:spcBef>
              <a:tabLst>
                <a:tab algn="l" pos="0"/>
              </a:tabLst>
            </a:pPr>
            <a:r>
              <a:rPr b="0" lang="en-US" sz="950" spc="-8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950" spc="134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1" lang="en-US" sz="1200" spc="-60" strike="noStrike">
                <a:solidFill>
                  <a:srgbClr val="404040"/>
                </a:solidFill>
                <a:latin typeface="Tahoma"/>
              </a:rPr>
              <a:t>Highlight </a:t>
            </a:r>
            <a:r>
              <a:rPr b="1" lang="en-US" sz="1200" spc="-12" strike="noStrike">
                <a:solidFill>
                  <a:srgbClr val="404040"/>
                </a:solidFill>
                <a:latin typeface="Tahoma"/>
              </a:rPr>
              <a:t>color </a:t>
            </a:r>
            <a:r>
              <a:rPr b="0" lang="en-US" sz="1200" spc="-137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when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there 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something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needs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stand </a:t>
            </a:r>
            <a:r>
              <a:rPr b="0" lang="en-US" sz="1200" spc="-40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out to the reader, </a:t>
            </a:r>
            <a:r>
              <a:rPr b="0" lang="en-US" sz="1200" spc="-7" strike="noStrike">
                <a:solidFill>
                  <a:srgbClr val="404040"/>
                </a:solidFill>
                <a:latin typeface="Verdana"/>
              </a:rPr>
              <a:t>but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not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alert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alarm </a:t>
            </a:r>
            <a:r>
              <a:rPr b="0" lang="en-US" sz="1200" spc="-41" strike="noStrike">
                <a:solidFill>
                  <a:srgbClr val="404040"/>
                </a:solidFill>
                <a:latin typeface="Verdana"/>
              </a:rPr>
              <a:t>them. </a:t>
            </a:r>
            <a:r>
              <a:rPr b="0" lang="en-US" sz="1200" spc="-72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instance </a:t>
            </a:r>
            <a:r>
              <a:rPr b="0" lang="en-US" sz="1200" spc="-35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2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highlighting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7" strike="noStrike">
                <a:solidFill>
                  <a:srgbClr val="404040"/>
                </a:solidFill>
                <a:latin typeface="Verdana"/>
              </a:rPr>
              <a:t>certain 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point,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text </a:t>
            </a:r>
            <a:r>
              <a:rPr b="0" lang="en-US" sz="1200" spc="-66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7" strike="noStrike">
                <a:solidFill>
                  <a:srgbClr val="404040"/>
                </a:solidFill>
                <a:latin typeface="Verdana"/>
              </a:rPr>
              <a:t>table, </a:t>
            </a:r>
            <a:r>
              <a:rPr b="0" lang="en-US" sz="1200" spc="-55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-1" strike="noStrike">
                <a:solidFill>
                  <a:srgbClr val="404040"/>
                </a:solidFill>
                <a:latin typeface="Verdana"/>
              </a:rPr>
              <a:t>specific bar </a:t>
            </a:r>
            <a:r>
              <a:rPr b="0" lang="en-US" sz="1200" spc="-40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200" spc="-86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2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2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77" strike="noStrike">
                <a:solidFill>
                  <a:srgbClr val="404040"/>
                </a:solidFill>
                <a:latin typeface="Verdana"/>
              </a:rPr>
              <a:t>b</a:t>
            </a:r>
            <a:r>
              <a:rPr b="0" lang="en-US" sz="12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200" spc="-157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2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148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200" spc="32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200" spc="2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200" spc="-114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200" spc="-106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10000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950" spc="-8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950" spc="-80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1" lang="en-US" sz="1200" spc="-41" strike="noStrike">
                <a:solidFill>
                  <a:srgbClr val="404040"/>
                </a:solidFill>
                <a:latin typeface="Tahoma"/>
              </a:rPr>
              <a:t>Alerting </a:t>
            </a:r>
            <a:r>
              <a:rPr b="1" lang="en-US" sz="1200" spc="-12" strike="noStrike">
                <a:solidFill>
                  <a:srgbClr val="404040"/>
                </a:solidFill>
                <a:latin typeface="Tahoma"/>
              </a:rPr>
              <a:t>color 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when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there </a:t>
            </a:r>
            <a:r>
              <a:rPr b="0" lang="en-US" sz="1200" spc="-131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2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200" spc="43" strike="noStrike">
                <a:solidFill>
                  <a:srgbClr val="404040"/>
                </a:solidFill>
                <a:latin typeface="Verdana"/>
              </a:rPr>
              <a:t>need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200" spc="4" strike="noStrike">
                <a:solidFill>
                  <a:srgbClr val="404040"/>
                </a:solidFill>
                <a:latin typeface="Verdana"/>
              </a:rPr>
              <a:t>draw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attention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2" strike="noStrike">
                <a:solidFill>
                  <a:srgbClr val="404040"/>
                </a:solidFill>
                <a:latin typeface="Verdana"/>
              </a:rPr>
              <a:t>something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the reader. </a:t>
            </a:r>
            <a:r>
              <a:rPr b="0" lang="en-US" sz="1200" spc="-92" strike="noStrike">
                <a:solidFill>
                  <a:srgbClr val="404040"/>
                </a:solidFill>
                <a:latin typeface="Verdana"/>
              </a:rPr>
              <a:t>It’s </a:t>
            </a:r>
            <a:r>
              <a:rPr b="0" lang="en-US" sz="1200" spc="-12" strike="noStrike">
                <a:solidFill>
                  <a:srgbClr val="404040"/>
                </a:solidFill>
                <a:latin typeface="Verdana"/>
              </a:rPr>
              <a:t>often </a:t>
            </a:r>
            <a:r>
              <a:rPr b="0" lang="en-US" sz="1200" spc="-26" strike="noStrike">
                <a:solidFill>
                  <a:srgbClr val="404040"/>
                </a:solidFill>
                <a:latin typeface="Verdana"/>
              </a:rPr>
              <a:t>best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200" spc="-46" strike="noStrike">
                <a:solidFill>
                  <a:srgbClr val="404040"/>
                </a:solidFill>
                <a:latin typeface="Verdana"/>
              </a:rPr>
              <a:t>use </a:t>
            </a:r>
            <a:r>
              <a:rPr b="0" lang="en-US" sz="1200" spc="-52" strike="noStrike">
                <a:solidFill>
                  <a:srgbClr val="404040"/>
                </a:solidFill>
                <a:latin typeface="Verdana"/>
              </a:rPr>
              <a:t>bright, </a:t>
            </a:r>
            <a:r>
              <a:rPr b="0" lang="en-US" sz="1200" spc="-21" strike="noStrike">
                <a:solidFill>
                  <a:srgbClr val="404040"/>
                </a:solidFill>
                <a:latin typeface="Verdana"/>
              </a:rPr>
              <a:t>alarming </a:t>
            </a:r>
            <a:r>
              <a:rPr b="0" lang="en-US" sz="12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200" spc="-35" strike="noStrike">
                <a:solidFill>
                  <a:srgbClr val="404040"/>
                </a:solidFill>
                <a:latin typeface="Verdana"/>
              </a:rPr>
              <a:t>colors.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object 5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19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37987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29" strike="noStrike">
                <a:solidFill>
                  <a:srgbClr val="ebebeb"/>
                </a:solidFill>
                <a:latin typeface="Verdana"/>
              </a:rPr>
              <a:t>Perceptual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276" strike="noStrike">
                <a:solidFill>
                  <a:srgbClr val="ebebeb"/>
                </a:solidFill>
                <a:latin typeface="Verdana"/>
              </a:rPr>
              <a:t>issues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object 3"/>
          <p:cNvSpPr/>
          <p:nvPr/>
        </p:nvSpPr>
        <p:spPr>
          <a:xfrm>
            <a:off x="1234080" y="2632680"/>
            <a:ext cx="8601480" cy="193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800" spc="-60" strike="noStrike">
                <a:solidFill>
                  <a:srgbClr val="404040"/>
                </a:solidFill>
                <a:latin typeface="Verdana"/>
              </a:rPr>
              <a:t>Pe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800" spc="148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800" spc="157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49" strike="noStrike">
                <a:solidFill>
                  <a:srgbClr val="404040"/>
                </a:solidFill>
                <a:latin typeface="Verdana"/>
              </a:rPr>
              <a:t>u</a:t>
            </a:r>
            <a:r>
              <a:rPr b="0" lang="en-US" sz="1800" spc="38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171" strike="noStrike">
                <a:solidFill>
                  <a:srgbClr val="404040"/>
                </a:solidFill>
                <a:latin typeface="Verdana"/>
              </a:rPr>
              <a:t>ss</a:t>
            </a:r>
            <a:r>
              <a:rPr b="0" lang="en-US" sz="1800" spc="-211" strike="noStrike">
                <a:solidFill>
                  <a:srgbClr val="404040"/>
                </a:solidFill>
                <a:latin typeface="Verdana"/>
              </a:rPr>
              <a:t>u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242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0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3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222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su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pr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13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8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52" strike="noStrike">
                <a:solidFill>
                  <a:srgbClr val="404040"/>
                </a:solidFill>
                <a:latin typeface="Verdana"/>
              </a:rPr>
              <a:t>da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w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su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l 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cues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represent 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values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are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not 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aligned 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with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way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human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brain 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processes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information. 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example,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certain 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types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encodings 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may 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more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difficult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interpret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than 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others, 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use </a:t>
            </a:r>
            <a:r>
              <a:rPr b="0" lang="en-US" sz="1800" spc="-62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certain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colors 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may 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difficult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some 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users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distinguish. 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address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perceptual </a:t>
            </a:r>
            <a:r>
              <a:rPr b="0" lang="en-US" sz="1800" spc="-140" strike="noStrike">
                <a:solidFill>
                  <a:srgbClr val="404040"/>
                </a:solidFill>
                <a:latin typeface="Verdana"/>
              </a:rPr>
              <a:t>issues, </a:t>
            </a:r>
            <a:r>
              <a:rPr b="0" lang="en-US" sz="1800" spc="-60" strike="noStrike">
                <a:solidFill>
                  <a:srgbClr val="404040"/>
                </a:solidFill>
                <a:latin typeface="Verdana"/>
              </a:rPr>
              <a:t>designers </a:t>
            </a:r>
            <a:r>
              <a:rPr b="0" lang="en-US" sz="1800" spc="10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use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techniques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such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scaling,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labeling,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6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filtering</a:t>
            </a:r>
            <a:r>
              <a:rPr b="0" lang="en-US" sz="1800" spc="-15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help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users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interpret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more</a:t>
            </a:r>
            <a:r>
              <a:rPr b="0" lang="en-US" sz="18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effectively.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object 4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20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37987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29" strike="noStrike">
                <a:solidFill>
                  <a:srgbClr val="ebebeb"/>
                </a:solidFill>
                <a:latin typeface="Verdana"/>
              </a:rPr>
              <a:t>Perceptual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276" strike="noStrike">
                <a:solidFill>
                  <a:srgbClr val="ebebeb"/>
                </a:solidFill>
                <a:latin typeface="Verdana"/>
              </a:rPr>
              <a:t>issues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object 3"/>
          <p:cNvSpPr/>
          <p:nvPr/>
        </p:nvSpPr>
        <p:spPr>
          <a:xfrm>
            <a:off x="1234080" y="2593800"/>
            <a:ext cx="8670600" cy="28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1480" bIns="0" anchor="t">
            <a:spAutoFit/>
          </a:bodyPr>
          <a:p>
            <a:pPr marL="12600" algn="just" defTabSz="914400">
              <a:lnSpc>
                <a:spcPct val="80000"/>
              </a:lnSpc>
              <a:spcBef>
                <a:spcPts val="405"/>
              </a:spcBef>
            </a:pP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Perceptual 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issues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refer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potential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problems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300" spc="7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arise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visualization </a:t>
            </a:r>
            <a:r>
              <a:rPr b="0" lang="en-US" sz="1300" spc="32" strike="noStrike">
                <a:solidFill>
                  <a:srgbClr val="404040"/>
                </a:solidFill>
                <a:latin typeface="Verdana"/>
              </a:rPr>
              <a:t>due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to the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limitations 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human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perception. 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Even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most 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well-designed </a:t>
            </a:r>
            <a:r>
              <a:rPr b="0" lang="en-US" sz="1300" spc="-52" strike="noStrike">
                <a:solidFill>
                  <a:srgbClr val="404040"/>
                </a:solidFill>
                <a:latin typeface="Verdana"/>
              </a:rPr>
              <a:t>visualization </a:t>
            </a:r>
            <a:r>
              <a:rPr b="0" lang="en-US" sz="1300" spc="69" strike="noStrike">
                <a:solidFill>
                  <a:srgbClr val="404040"/>
                </a:solidFill>
                <a:latin typeface="Verdana"/>
              </a:rPr>
              <a:t>can be 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rendered ineffective </a:t>
            </a:r>
            <a:r>
              <a:rPr b="0" lang="en-US" sz="1300" spc="-72" strike="noStrike">
                <a:solidFill>
                  <a:srgbClr val="404040"/>
                </a:solidFill>
                <a:latin typeface="Verdana"/>
              </a:rPr>
              <a:t>if 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human </a:t>
            </a:r>
            <a:r>
              <a:rPr b="0" lang="en-US" sz="13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system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29" strike="noStrike">
                <a:solidFill>
                  <a:srgbClr val="404040"/>
                </a:solidFill>
                <a:latin typeface="Verdana"/>
              </a:rPr>
              <a:t>cannot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process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80" strike="noStrike">
                <a:solidFill>
                  <a:srgbClr val="404040"/>
                </a:solidFill>
                <a:latin typeface="Verdana"/>
              </a:rPr>
              <a:t>it</a:t>
            </a:r>
            <a:r>
              <a:rPr b="0" lang="en-US" sz="13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accurately.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32" strike="noStrike">
                <a:solidFill>
                  <a:srgbClr val="404040"/>
                </a:solidFill>
                <a:latin typeface="Verdana"/>
              </a:rPr>
              <a:t>Here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26" strike="noStrike">
                <a:solidFill>
                  <a:srgbClr val="404040"/>
                </a:solidFill>
                <a:latin typeface="Verdana"/>
              </a:rPr>
              <a:t>some</a:t>
            </a:r>
            <a:r>
              <a:rPr b="0" lang="en-US" sz="1300" spc="-21" strike="noStrike">
                <a:solidFill>
                  <a:srgbClr val="404040"/>
                </a:solidFill>
                <a:latin typeface="Verdana"/>
              </a:rPr>
              <a:t> examples</a:t>
            </a:r>
            <a:r>
              <a:rPr b="0" lang="en-US" sz="13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300" spc="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perceptual 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issues</a:t>
            </a:r>
            <a:r>
              <a:rPr b="0" lang="en-US" sz="13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43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300" spc="4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visualization: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2600" algn="just" defTabSz="914400">
              <a:lnSpc>
                <a:spcPct val="100000"/>
              </a:lnSpc>
              <a:spcBef>
                <a:spcPts val="686"/>
              </a:spcBef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    </a:t>
            </a:r>
            <a:r>
              <a:rPr b="0" lang="en-US" sz="1050" spc="117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300" spc="-250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300" spc="-35" strike="noStrike">
                <a:solidFill>
                  <a:srgbClr val="404040"/>
                </a:solidFill>
                <a:latin typeface="Verdana"/>
              </a:rPr>
              <a:t>ze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69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300" spc="-60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300" spc="-55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300" spc="58" strike="noStrike">
                <a:solidFill>
                  <a:srgbClr val="404040"/>
                </a:solidFill>
                <a:latin typeface="Verdana"/>
              </a:rPr>
              <a:t>cep</a:t>
            </a:r>
            <a:r>
              <a:rPr b="0" lang="en-US" sz="1300" spc="32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300" spc="-86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300" spc="9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300" spc="12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300" spc="-236" strike="noStrike">
                <a:solidFill>
                  <a:srgbClr val="404040"/>
                </a:solidFill>
                <a:latin typeface="Verdana"/>
              </a:rPr>
              <a:t>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0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Humans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tend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perceive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differences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size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more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easily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than differences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other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properties,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such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color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shape.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However,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our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ability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accurately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judge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relative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size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objects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influenced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variety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factors, </a:t>
            </a:r>
            <a:r>
              <a:rPr b="0" lang="en-US" sz="1100" spc="-3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distance,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angle,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orientation.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0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Example: 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1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bar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chart,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using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bars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heights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represent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magnitude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100" spc="94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variable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may </a:t>
            </a:r>
            <a:r>
              <a:rPr b="0" lang="en-US" sz="1100" spc="52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more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effective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than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using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different colors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shapes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convey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 same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information,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size 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more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easily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perceptible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variable.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2600" algn="just" defTabSz="914400">
              <a:lnSpc>
                <a:spcPct val="100000"/>
              </a:lnSpc>
              <a:spcBef>
                <a:spcPts val="680"/>
              </a:spcBef>
              <a:tabLst>
                <a:tab algn="l" pos="0"/>
              </a:tabLst>
            </a:pPr>
            <a:r>
              <a:rPr b="0" lang="en-US" sz="1050" spc="-10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050" spc="162" strike="noStrike">
                <a:solidFill>
                  <a:srgbClr val="b31166"/>
                </a:solidFill>
                <a:latin typeface="Lucida Sans Unicode"/>
              </a:rPr>
              <a:t>  </a:t>
            </a:r>
            <a:r>
              <a:rPr b="0" lang="en-US" sz="1050" spc="174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3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3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300" spc="-12" strike="noStrike">
                <a:solidFill>
                  <a:srgbClr val="404040"/>
                </a:solidFill>
                <a:latin typeface="Verdana"/>
              </a:rPr>
              <a:t>perception: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137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While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color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powerful tool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visualization,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our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ability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accurately perceive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differences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color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100" spc="-3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influenced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variety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factors,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lighting,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background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color,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blindness.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ts val="106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418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scale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magnitude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variable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may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effective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some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contexts,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but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may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less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effective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if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viewer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is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colorblind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if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color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scale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not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clearly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visible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against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background.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object 4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21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37987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29" strike="noStrike">
                <a:solidFill>
                  <a:srgbClr val="ebebeb"/>
                </a:solidFill>
                <a:latin typeface="Verdana"/>
              </a:rPr>
              <a:t>Perceptual</a:t>
            </a:r>
            <a:r>
              <a:rPr b="0" lang="en-US" sz="3600" spc="-270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276" strike="noStrike">
                <a:solidFill>
                  <a:srgbClr val="ebebeb"/>
                </a:solidFill>
                <a:latin typeface="Verdana"/>
              </a:rPr>
              <a:t>issues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object 3"/>
          <p:cNvSpPr/>
          <p:nvPr/>
        </p:nvSpPr>
        <p:spPr>
          <a:xfrm>
            <a:off x="1234080" y="2599920"/>
            <a:ext cx="8669880" cy="29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05"/>
              </a:spcBef>
              <a:tabLst>
                <a:tab algn="l" pos="35496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er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pe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100" spc="137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100" spc="52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ti</a:t>
            </a:r>
            <a:r>
              <a:rPr b="0" lang="en-US" sz="1100" spc="49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100" spc="-197" strike="noStrike">
                <a:solidFill>
                  <a:srgbClr val="404040"/>
                </a:solidFill>
                <a:latin typeface="Verdana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ts val="961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157" strike="noStrike">
                <a:solidFill>
                  <a:srgbClr val="b31166"/>
                </a:solidFill>
                <a:latin typeface="Lucida Sans Unicode"/>
              </a:rPr>
              <a:t>  </a:t>
            </a:r>
            <a:r>
              <a:rPr b="0" lang="en-US" sz="800" spc="162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Humans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tend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perceive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patterns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textures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more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easily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than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individual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objects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shapes,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these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patterns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convey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information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visualization.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However,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our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ability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accurately perceive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patterns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influenced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factors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size,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complexity,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orientation.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2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 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Using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heat </a:t>
            </a:r>
            <a:r>
              <a:rPr b="0" lang="en-US" sz="1000" spc="29" strike="noStrike">
                <a:solidFill>
                  <a:srgbClr val="404040"/>
                </a:solidFill>
                <a:latin typeface="Verdana"/>
              </a:rPr>
              <a:t>map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represent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distribution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variable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may 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effective 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if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viewer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easily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perceive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pattern,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but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may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less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effective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if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29" strike="noStrike">
                <a:solidFill>
                  <a:srgbClr val="404040"/>
                </a:solidFill>
                <a:latin typeface="Verdana"/>
              </a:rPr>
              <a:t>map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too</a:t>
            </a:r>
            <a:r>
              <a:rPr b="0" lang="en-US" sz="10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small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if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pattern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too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complex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easily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perceived.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740"/>
              </a:spcBef>
              <a:tabLst>
                <a:tab algn="l" pos="35496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Group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ng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x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m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ty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pe</a:t>
            </a:r>
            <a:r>
              <a:rPr b="0" lang="en-US" sz="1100" spc="-140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100" spc="137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100" spc="52" strike="noStrike">
                <a:solidFill>
                  <a:srgbClr val="404040"/>
                </a:solidFill>
                <a:latin typeface="Verdana"/>
              </a:rPr>
              <a:t>p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ti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100" spc="-197" strike="noStrike">
                <a:solidFill>
                  <a:srgbClr val="404040"/>
                </a:solidFill>
                <a:latin typeface="Verdana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ts val="961"/>
              </a:lnSpc>
              <a:spcBef>
                <a:spcPts val="989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97" strike="noStrike">
                <a:solidFill>
                  <a:srgbClr val="b31166"/>
                </a:solidFill>
                <a:latin typeface="Lucida Sans Unicode"/>
              </a:rPr>
              <a:t>  </a:t>
            </a:r>
            <a:r>
              <a:rPr b="0" lang="en-US" sz="800" spc="103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Humans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tend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perceive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objects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are close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together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belonging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same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group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category,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this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grouping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used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convey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information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visualization.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However,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our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ability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accurately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group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objects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influenced by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factors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distance,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size,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orientation.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89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Using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scatter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plot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represent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relationship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between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two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variables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may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effective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if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points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clearly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grouped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based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their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values,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but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may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be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less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effective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if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points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too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close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together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if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there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outliers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do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not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fit </a:t>
            </a:r>
            <a:r>
              <a:rPr b="0" lang="en-US" sz="1000" spc="-3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pattern.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2600" algn="just" defTabSz="914400">
              <a:lnSpc>
                <a:spcPts val="106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general,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when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designing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visualizations, 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it 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important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consider the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limitations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human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perception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use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100" spc="-3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encodings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are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easy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perceive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interpret. 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This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may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involve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using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multiple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encodings,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such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as 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size,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color,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shape,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convey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 same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information,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using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interactive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visualizations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that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allow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viewer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explore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different </a:t>
            </a:r>
            <a:r>
              <a:rPr b="0" lang="en-US" sz="1100" spc="-3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ways. 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taking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these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perceptual 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issues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into </a:t>
            </a:r>
            <a:r>
              <a:rPr b="0" lang="en-US" sz="1100" spc="24" strike="noStrike">
                <a:solidFill>
                  <a:srgbClr val="404040"/>
                </a:solidFill>
                <a:latin typeface="Verdana"/>
              </a:rPr>
              <a:t>account,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visualizations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100" spc="58" strike="noStrike">
                <a:solidFill>
                  <a:srgbClr val="404040"/>
                </a:solidFill>
                <a:latin typeface="Verdana"/>
              </a:rPr>
              <a:t>be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designed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accurately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convey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complex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facilitate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better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decision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making.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object 4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22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46861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97" strike="noStrike">
                <a:solidFill>
                  <a:srgbClr val="ebebeb"/>
                </a:solidFill>
                <a:latin typeface="Verdana"/>
              </a:rPr>
              <a:t>Infor</a:t>
            </a:r>
            <a:r>
              <a:rPr b="0" lang="en-US" sz="3600" spc="-395" strike="noStrike">
                <a:solidFill>
                  <a:srgbClr val="ebebeb"/>
                </a:solidFill>
                <a:latin typeface="Verdana"/>
              </a:rPr>
              <a:t>m</a:t>
            </a:r>
            <a:r>
              <a:rPr b="0" lang="en-US" sz="3600" spc="-21" strike="noStrike">
                <a:solidFill>
                  <a:srgbClr val="ebebeb"/>
                </a:solidFill>
                <a:latin typeface="Verdana"/>
              </a:rPr>
              <a:t>ation</a:t>
            </a:r>
            <a:r>
              <a:rPr b="0" lang="en-US" sz="3600" spc="-231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60" strike="noStrike">
                <a:solidFill>
                  <a:srgbClr val="ebebeb"/>
                </a:solidFill>
                <a:latin typeface="Verdana"/>
              </a:rPr>
              <a:t>ove</a:t>
            </a:r>
            <a:r>
              <a:rPr b="0" lang="en-US" sz="3600" spc="-55" strike="noStrike">
                <a:solidFill>
                  <a:srgbClr val="ebebeb"/>
                </a:solidFill>
                <a:latin typeface="Verdana"/>
              </a:rPr>
              <a:t>r</a:t>
            </a:r>
            <a:r>
              <a:rPr b="0" lang="en-US" sz="3600" spc="97" strike="noStrike">
                <a:solidFill>
                  <a:srgbClr val="ebebeb"/>
                </a:solidFill>
                <a:latin typeface="Verdana"/>
              </a:rPr>
              <a:t>load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object 3"/>
          <p:cNvSpPr/>
          <p:nvPr/>
        </p:nvSpPr>
        <p:spPr>
          <a:xfrm>
            <a:off x="1234080" y="2632680"/>
            <a:ext cx="8668080" cy="30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algn="just" defTabSz="914400">
              <a:lnSpc>
                <a:spcPct val="100000"/>
              </a:lnSpc>
              <a:spcBef>
                <a:spcPts val="99"/>
              </a:spcBef>
              <a:tabLst>
                <a:tab algn="l" pos="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45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Information 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overload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occurs when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display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presents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too much 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information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at </a:t>
            </a:r>
            <a:r>
              <a:rPr b="0" lang="en-US" sz="1800" spc="38" strike="noStrike">
                <a:solidFill>
                  <a:srgbClr val="404040"/>
                </a:solidFill>
                <a:latin typeface="Verdana"/>
              </a:rPr>
              <a:t>once,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making 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it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difficult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users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effectively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process </a:t>
            </a:r>
            <a:r>
              <a:rPr b="0" lang="en-US" sz="1800" spc="6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interpret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data. </a:t>
            </a:r>
            <a:r>
              <a:rPr b="0" lang="en-US" sz="1800" spc="-191" strike="noStrike">
                <a:solidFill>
                  <a:srgbClr val="404040"/>
                </a:solidFill>
                <a:latin typeface="Verdana"/>
              </a:rPr>
              <a:t>This </a:t>
            </a:r>
            <a:r>
              <a:rPr b="0" lang="en-US" sz="1800" spc="97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800" spc="49" strike="noStrike">
                <a:solidFill>
                  <a:srgbClr val="404040"/>
                </a:solidFill>
                <a:latin typeface="Verdana"/>
              </a:rPr>
              <a:t>occur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when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display </a:t>
            </a:r>
            <a:r>
              <a:rPr b="0" lang="en-US" sz="1800" spc="-182" strike="noStrike">
                <a:solidFill>
                  <a:srgbClr val="404040"/>
                </a:solidFill>
                <a:latin typeface="Verdana"/>
              </a:rPr>
              <a:t>is 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too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cluttered 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when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too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many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5" strike="noStrike">
                <a:solidFill>
                  <a:srgbClr val="404040"/>
                </a:solidFill>
                <a:latin typeface="Verdana"/>
              </a:rPr>
              <a:t>variables</a:t>
            </a:r>
            <a:r>
              <a:rPr b="0" lang="en-US" sz="18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800" spc="-14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presented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32" strike="noStrike">
                <a:solidFill>
                  <a:srgbClr val="404040"/>
                </a:solidFill>
                <a:latin typeface="Verdana"/>
              </a:rPr>
              <a:t>once.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10000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  </a:t>
            </a:r>
            <a:r>
              <a:rPr b="0" lang="en-US" sz="1450" spc="52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800" spc="-145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23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109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fo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ma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245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69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800" spc="13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117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,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97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800" spc="10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250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g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236" strike="noStrike">
                <a:solidFill>
                  <a:srgbClr val="404040"/>
                </a:solidFill>
                <a:latin typeface="Verdana"/>
              </a:rPr>
              <a:t>rs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68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800" spc="188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u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" strike="noStrike">
                <a:solidFill>
                  <a:srgbClr val="404040"/>
                </a:solidFill>
                <a:latin typeface="Verdana"/>
              </a:rPr>
              <a:t>techn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q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u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242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26" strike="noStrike">
                <a:solidFill>
                  <a:srgbClr val="404040"/>
                </a:solidFill>
                <a:latin typeface="Verdana"/>
              </a:rPr>
              <a:t>su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8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52" strike="noStrike">
                <a:solidFill>
                  <a:srgbClr val="404040"/>
                </a:solidFill>
                <a:latin typeface="Verdana"/>
              </a:rPr>
              <a:t>da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103" strike="noStrike">
                <a:solidFill>
                  <a:srgbClr val="404040"/>
                </a:solidFill>
                <a:latin typeface="Verdana"/>
              </a:rPr>
              <a:t>a 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abstraction,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filtering, </a:t>
            </a:r>
            <a:r>
              <a:rPr b="0" lang="en-US" sz="1800" spc="63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hierarchical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organization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4" strike="noStrike">
                <a:solidFill>
                  <a:srgbClr val="404040"/>
                </a:solidFill>
                <a:latin typeface="Verdana"/>
              </a:rPr>
              <a:t>help 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users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focus 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on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800" spc="94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most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mport</a:t>
            </a:r>
            <a:r>
              <a:rPr b="0" lang="en-US" sz="1800" spc="13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ma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160" strike="noStrike">
                <a:solidFill>
                  <a:srgbClr val="404040"/>
                </a:solidFill>
                <a:latin typeface="Verdana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50" spc="-151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1450" spc="-145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example,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financial 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dashboard </a:t>
            </a:r>
            <a:r>
              <a:rPr b="0" lang="en-US" sz="1800" spc="-7" strike="noStrike">
                <a:solidFill>
                  <a:srgbClr val="404040"/>
                </a:solidFill>
                <a:latin typeface="Verdana"/>
              </a:rPr>
              <a:t>may </a:t>
            </a:r>
            <a:r>
              <a:rPr b="0" lang="en-US" sz="1800" spc="-66" strike="noStrike">
                <a:solidFill>
                  <a:srgbClr val="404040"/>
                </a:solidFill>
                <a:latin typeface="Verdana"/>
              </a:rPr>
              <a:t>use </a:t>
            </a:r>
            <a:r>
              <a:rPr b="0" lang="en-US" sz="1800" spc="143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tree 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structure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800" spc="-46" strike="noStrike">
                <a:solidFill>
                  <a:srgbClr val="404040"/>
                </a:solidFill>
                <a:latin typeface="Verdana"/>
              </a:rPr>
              <a:t>present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financial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data,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72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80" strike="noStrike">
                <a:solidFill>
                  <a:srgbClr val="404040"/>
                </a:solidFill>
                <a:latin typeface="Verdana"/>
              </a:rPr>
              <a:t>most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41" strike="noStrike">
                <a:solidFill>
                  <a:srgbClr val="404040"/>
                </a:solidFill>
                <a:latin typeface="Verdana"/>
              </a:rPr>
              <a:t>variables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5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top</a:t>
            </a:r>
            <a:r>
              <a:rPr b="0" lang="en-US" sz="18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level</a:t>
            </a:r>
            <a:r>
              <a:rPr b="0" lang="en-US" sz="18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5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8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32" strike="noStrike">
                <a:solidFill>
                  <a:srgbClr val="404040"/>
                </a:solidFill>
                <a:latin typeface="Verdana"/>
              </a:rPr>
              <a:t>more </a:t>
            </a:r>
            <a:r>
              <a:rPr b="0" lang="en-US" sz="1800" spc="-62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32" strike="noStrike">
                <a:solidFill>
                  <a:srgbClr val="404040"/>
                </a:solidFill>
                <a:latin typeface="Verdana"/>
              </a:rPr>
              <a:t>de</a:t>
            </a:r>
            <a:r>
              <a:rPr b="0" lang="en-US" sz="1800" spc="9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13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109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800" spc="-75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800" spc="-12" strike="noStrike">
                <a:solidFill>
                  <a:srgbClr val="404040"/>
                </a:solidFill>
                <a:latin typeface="Verdana"/>
              </a:rPr>
              <a:t>ma</a:t>
            </a:r>
            <a:r>
              <a:rPr b="0" lang="en-US" sz="1800" spc="-21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800" spc="-114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800" spc="18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800" spc="-15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12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8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43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800" spc="24" strike="noStrike">
                <a:solidFill>
                  <a:srgbClr val="404040"/>
                </a:solidFill>
                <a:latin typeface="Verdana"/>
              </a:rPr>
              <a:t>w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231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8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5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800" spc="83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800" spc="-126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800" spc="-242" strike="noStrike">
                <a:solidFill>
                  <a:srgbClr val="404040"/>
                </a:solidFill>
                <a:latin typeface="Verdana"/>
              </a:rPr>
              <a:t>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object 4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23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46861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97" strike="noStrike">
                <a:solidFill>
                  <a:srgbClr val="ebebeb"/>
                </a:solidFill>
                <a:latin typeface="Verdana"/>
              </a:rPr>
              <a:t>Infor</a:t>
            </a:r>
            <a:r>
              <a:rPr b="0" lang="en-US" sz="3600" spc="-395" strike="noStrike">
                <a:solidFill>
                  <a:srgbClr val="ebebeb"/>
                </a:solidFill>
                <a:latin typeface="Verdana"/>
              </a:rPr>
              <a:t>m</a:t>
            </a:r>
            <a:r>
              <a:rPr b="0" lang="en-US" sz="3600" spc="-21" strike="noStrike">
                <a:solidFill>
                  <a:srgbClr val="ebebeb"/>
                </a:solidFill>
                <a:latin typeface="Verdana"/>
              </a:rPr>
              <a:t>ation</a:t>
            </a:r>
            <a:r>
              <a:rPr b="0" lang="en-US" sz="3600" spc="-231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60" strike="noStrike">
                <a:solidFill>
                  <a:srgbClr val="ebebeb"/>
                </a:solidFill>
                <a:latin typeface="Verdana"/>
              </a:rPr>
              <a:t>ove</a:t>
            </a:r>
            <a:r>
              <a:rPr b="0" lang="en-US" sz="3600" spc="-55" strike="noStrike">
                <a:solidFill>
                  <a:srgbClr val="ebebeb"/>
                </a:solidFill>
                <a:latin typeface="Verdana"/>
              </a:rPr>
              <a:t>r</a:t>
            </a:r>
            <a:r>
              <a:rPr b="0" lang="en-US" sz="3600" spc="97" strike="noStrike">
                <a:solidFill>
                  <a:srgbClr val="ebebeb"/>
                </a:solidFill>
                <a:latin typeface="Verdana"/>
              </a:rPr>
              <a:t>load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0" name="object 3"/>
          <p:cNvSpPr/>
          <p:nvPr/>
        </p:nvSpPr>
        <p:spPr>
          <a:xfrm>
            <a:off x="1234080" y="2599920"/>
            <a:ext cx="8669880" cy="31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defTabSz="914400">
              <a:lnSpc>
                <a:spcPts val="1191"/>
              </a:lnSpc>
              <a:spcBef>
                <a:spcPts val="105"/>
              </a:spcBef>
            </a:pP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100" spc="12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overload</a:t>
            </a:r>
            <a:r>
              <a:rPr b="0" lang="en-US" sz="11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9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100" spc="13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29" strike="noStrike">
                <a:solidFill>
                  <a:srgbClr val="404040"/>
                </a:solidFill>
                <a:latin typeface="Verdana"/>
              </a:rPr>
              <a:t>occur</a:t>
            </a:r>
            <a:r>
              <a:rPr b="0" lang="en-US" sz="1100" spc="12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100" spc="13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any</a:t>
            </a:r>
            <a:r>
              <a:rPr b="0" lang="en-US" sz="1100" spc="12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type</a:t>
            </a:r>
            <a:r>
              <a:rPr b="0" lang="en-US" sz="1100" spc="13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13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visual</a:t>
            </a:r>
            <a:r>
              <a:rPr b="0" lang="en-US" sz="1100" spc="13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display,</a:t>
            </a:r>
            <a:r>
              <a:rPr b="0" lang="en-US" sz="1100" spc="13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from</a:t>
            </a:r>
            <a:r>
              <a:rPr b="0" lang="en-US" sz="1100" spc="12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simple</a:t>
            </a:r>
            <a:r>
              <a:rPr b="0" lang="en-US" sz="1100" spc="12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charts</a:t>
            </a:r>
            <a:r>
              <a:rPr b="0" lang="en-US" sz="1100" spc="12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graphs</a:t>
            </a:r>
            <a:r>
              <a:rPr b="0" lang="en-US" sz="1100" spc="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12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complex</a:t>
            </a:r>
            <a:r>
              <a:rPr b="0" lang="en-US" sz="11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dashboards</a:t>
            </a:r>
            <a:r>
              <a:rPr b="0" lang="en-US" sz="1100" spc="12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ts val="1191"/>
              </a:lnSpc>
            </a:pP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reports.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80000"/>
              </a:lnSpc>
              <a:spcBef>
                <a:spcPts val="995"/>
              </a:spcBef>
            </a:pP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When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visual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display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presents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too much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information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at </a:t>
            </a:r>
            <a:r>
              <a:rPr b="0" lang="en-US" sz="1100" spc="24" strike="noStrike">
                <a:solidFill>
                  <a:srgbClr val="404040"/>
                </a:solidFill>
                <a:latin typeface="Verdana"/>
              </a:rPr>
              <a:t>once, 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it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 be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difficult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for 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users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identify patterns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relationships, </a:t>
            </a:r>
            <a:r>
              <a:rPr b="0" lang="en-US" sz="1100" spc="-3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make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informed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decisions,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draw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meaningful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conclusions.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734"/>
              </a:spcBef>
            </a:pP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Here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some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examples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techniques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designers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use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avoid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overload: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740"/>
              </a:spcBef>
              <a:tabLst>
                <a:tab algn="l" pos="35496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D</a:t>
            </a:r>
            <a:r>
              <a:rPr b="0" lang="en-US" sz="1100" spc="29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77" strike="noStrike">
                <a:solidFill>
                  <a:srgbClr val="404040"/>
                </a:solidFill>
                <a:latin typeface="Verdana"/>
              </a:rPr>
              <a:t>b</a:t>
            </a:r>
            <a:r>
              <a:rPr b="0" lang="en-US" sz="1100" spc="-145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tra</a:t>
            </a:r>
            <a:r>
              <a:rPr b="0" lang="en-US" sz="1100" spc="137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ti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100" spc="-197" strike="noStrike">
                <a:solidFill>
                  <a:srgbClr val="404040"/>
                </a:solidFill>
                <a:latin typeface="Verdana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109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abstraction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000" spc="26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reducing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complexity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dataset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removing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irrelevant</a:t>
            </a:r>
            <a:r>
              <a:rPr b="0" lang="en-US" sz="1000" spc="27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25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redundant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information,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while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preserving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most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important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aspects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data. </a:t>
            </a:r>
            <a:r>
              <a:rPr b="0" lang="en-US" sz="1000" spc="-111" strike="noStrike">
                <a:solidFill>
                  <a:srgbClr val="404040"/>
                </a:solidFill>
                <a:latin typeface="Verdana"/>
              </a:rPr>
              <a:t>This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help 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users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focus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on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most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relevant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information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avoid being </a:t>
            </a:r>
            <a:r>
              <a:rPr b="0" lang="en-US" sz="1000" spc="-3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overwhelmed</a:t>
            </a:r>
            <a:r>
              <a:rPr b="0" lang="en-US" sz="10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too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much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data.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ts val="961"/>
              </a:lnSpc>
              <a:spcBef>
                <a:spcPts val="989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97" strike="noStrike">
                <a:solidFill>
                  <a:srgbClr val="b31166"/>
                </a:solidFill>
                <a:latin typeface="Lucida Sans Unicode"/>
              </a:rPr>
              <a:t>  </a:t>
            </a:r>
            <a:r>
              <a:rPr b="0" lang="en-US" sz="800" spc="103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A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stock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market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dashboard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may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use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abstraction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show only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most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important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stocks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their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key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metrics,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price,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volume,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change,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rather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than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displaying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every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stock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market.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751"/>
              </a:spcBef>
              <a:tabLst>
                <a:tab algn="l" pos="35496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100" spc="-66" strike="noStrike">
                <a:solidFill>
                  <a:srgbClr val="404040"/>
                </a:solidFill>
                <a:latin typeface="Verdana"/>
              </a:rPr>
              <a:t>Filtering: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97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800" spc="103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Filtering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involves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selectively displaying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based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on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user-defined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criteria,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such as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time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period,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location,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category. 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This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 </a:t>
            </a:r>
            <a:r>
              <a:rPr b="0" lang="en-US" sz="1000" spc="58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help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users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focus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specific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subsets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avoid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being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overwhelmed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too</a:t>
            </a:r>
            <a:r>
              <a:rPr b="0" lang="en-US" sz="10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much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information.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algn="just" defTabSz="914400">
              <a:lnSpc>
                <a:spcPct val="80000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2" strike="noStrike">
                <a:solidFill>
                  <a:srgbClr val="b31166"/>
                </a:solidFill>
                <a:latin typeface="Lucida Sans Unicode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An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e-commerce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website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may allow 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users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filter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products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price, brand,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customer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rating,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help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them find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products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best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meet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their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needs.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object 4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24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234080" y="1029600"/>
            <a:ext cx="46861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197" strike="noStrike">
                <a:solidFill>
                  <a:srgbClr val="ebebeb"/>
                </a:solidFill>
                <a:latin typeface="Verdana"/>
              </a:rPr>
              <a:t>Infor</a:t>
            </a:r>
            <a:r>
              <a:rPr b="0" lang="en-US" sz="3600" spc="-395" strike="noStrike">
                <a:solidFill>
                  <a:srgbClr val="ebebeb"/>
                </a:solidFill>
                <a:latin typeface="Verdana"/>
              </a:rPr>
              <a:t>m</a:t>
            </a:r>
            <a:r>
              <a:rPr b="0" lang="en-US" sz="3600" spc="-21" strike="noStrike">
                <a:solidFill>
                  <a:srgbClr val="ebebeb"/>
                </a:solidFill>
                <a:latin typeface="Verdana"/>
              </a:rPr>
              <a:t>ation</a:t>
            </a:r>
            <a:r>
              <a:rPr b="0" lang="en-US" sz="3600" spc="-231" strike="noStrike">
                <a:solidFill>
                  <a:srgbClr val="ebebeb"/>
                </a:solidFill>
                <a:latin typeface="Verdana"/>
              </a:rPr>
              <a:t> </a:t>
            </a:r>
            <a:r>
              <a:rPr b="0" lang="en-US" sz="3600" spc="-60" strike="noStrike">
                <a:solidFill>
                  <a:srgbClr val="ebebeb"/>
                </a:solidFill>
                <a:latin typeface="Verdana"/>
              </a:rPr>
              <a:t>ove</a:t>
            </a:r>
            <a:r>
              <a:rPr b="0" lang="en-US" sz="3600" spc="-55" strike="noStrike">
                <a:solidFill>
                  <a:srgbClr val="ebebeb"/>
                </a:solidFill>
                <a:latin typeface="Verdana"/>
              </a:rPr>
              <a:t>r</a:t>
            </a:r>
            <a:r>
              <a:rPr b="0" lang="en-US" sz="3600" spc="97" strike="noStrike">
                <a:solidFill>
                  <a:srgbClr val="ebebeb"/>
                </a:solidFill>
                <a:latin typeface="Verdana"/>
              </a:rPr>
              <a:t>load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" name="object 3"/>
          <p:cNvSpPr/>
          <p:nvPr/>
        </p:nvSpPr>
        <p:spPr>
          <a:xfrm>
            <a:off x="1234080" y="2599920"/>
            <a:ext cx="8550720" cy="28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105"/>
              </a:spcBef>
              <a:tabLst>
                <a:tab algn="l" pos="35496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H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ier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ar</a:t>
            </a:r>
            <a:r>
              <a:rPr b="0" lang="en-US" sz="1100" spc="137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hi</a:t>
            </a:r>
            <a:r>
              <a:rPr b="0" lang="en-US" sz="1100" spc="128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1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9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rgan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za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49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ts val="961"/>
              </a:lnSpc>
              <a:spcBef>
                <a:spcPts val="995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Hierarchical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organization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organizing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into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nested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structure,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0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most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important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top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level </a:t>
            </a:r>
            <a:r>
              <a:rPr b="0" lang="en-US" sz="1000" spc="-3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more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detailed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lower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levels.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11" strike="noStrike">
                <a:solidFill>
                  <a:srgbClr val="404040"/>
                </a:solidFill>
                <a:latin typeface="Verdana"/>
              </a:rPr>
              <a:t>This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help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users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navigate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through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large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amounts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focus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most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relevant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information.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ct val="80000"/>
              </a:lnSpc>
              <a:spcBef>
                <a:spcPts val="1006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marketing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dashboard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may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use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hierarchical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organization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show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overall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29" strike="noStrike">
                <a:solidFill>
                  <a:srgbClr val="404040"/>
                </a:solidFill>
                <a:latin typeface="Verdana"/>
              </a:rPr>
              <a:t>campaign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performance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2" strike="noStrike">
                <a:solidFill>
                  <a:srgbClr val="404040"/>
                </a:solidFill>
                <a:latin typeface="Verdana"/>
              </a:rPr>
              <a:t>top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level, </a:t>
            </a:r>
            <a:r>
              <a:rPr b="0" lang="en-US" sz="1000" spc="-3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0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more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detailed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metrics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click-through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rates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conversion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rates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at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lower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levels.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740"/>
              </a:spcBef>
              <a:tabLst>
                <a:tab algn="l" pos="35496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100" spc="-191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t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r</a:t>
            </a:r>
            <a:r>
              <a:rPr b="0" lang="en-US" sz="1100" spc="72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137" strike="noStrike">
                <a:solidFill>
                  <a:srgbClr val="404040"/>
                </a:solidFill>
                <a:latin typeface="Verdana"/>
              </a:rPr>
              <a:t>c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ti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e</a:t>
            </a:r>
            <a:r>
              <a:rPr b="0" lang="en-US" sz="1100" spc="-13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2" strike="noStrike">
                <a:solidFill>
                  <a:srgbClr val="404040"/>
                </a:solidFill>
                <a:latin typeface="Verdana"/>
              </a:rPr>
              <a:t>v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-145" strike="noStrike">
                <a:solidFill>
                  <a:srgbClr val="404040"/>
                </a:solidFill>
                <a:latin typeface="Verdana"/>
              </a:rPr>
              <a:t>s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ua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l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i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zati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o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n</a:t>
            </a:r>
            <a:r>
              <a:rPr b="0" lang="en-US" sz="1100" spc="-197" strike="noStrike">
                <a:solidFill>
                  <a:srgbClr val="404040"/>
                </a:solidFill>
                <a:latin typeface="Verdana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ts val="961"/>
              </a:lnSpc>
              <a:spcBef>
                <a:spcPts val="989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Interactive</a:t>
            </a:r>
            <a:r>
              <a:rPr b="0" lang="en-US" sz="10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visualization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allowing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users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interact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with</a:t>
            </a:r>
            <a:r>
              <a:rPr b="0" lang="en-US" sz="10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display,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zooming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out,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panning,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 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drilling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down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into</a:t>
            </a:r>
            <a:r>
              <a:rPr b="0" lang="en-US" sz="10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9" strike="noStrike">
                <a:solidFill>
                  <a:srgbClr val="404040"/>
                </a:solidFill>
                <a:latin typeface="Verdana"/>
              </a:rPr>
              <a:t>data.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11" strike="noStrike">
                <a:solidFill>
                  <a:srgbClr val="404040"/>
                </a:solidFill>
                <a:latin typeface="Verdana"/>
              </a:rPr>
              <a:t>This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52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help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users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explore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more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detail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focus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2" strike="noStrike">
                <a:solidFill>
                  <a:srgbClr val="404040"/>
                </a:solidFill>
                <a:latin typeface="Verdana"/>
              </a:rPr>
              <a:t>most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relevant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information.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756360" indent="-286920" defTabSz="914400">
              <a:lnSpc>
                <a:spcPts val="961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00" spc="-75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000" spc="-41" strike="noStrike">
                <a:solidFill>
                  <a:srgbClr val="404040"/>
                </a:solidFill>
                <a:latin typeface="Verdana"/>
              </a:rPr>
              <a:t>Example: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4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geographic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system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00" strike="noStrike">
                <a:solidFill>
                  <a:srgbClr val="404040"/>
                </a:solidFill>
                <a:latin typeface="Verdana"/>
              </a:rPr>
              <a:t>(GIS)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may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allow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users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interactively</a:t>
            </a:r>
            <a:r>
              <a:rPr b="0" lang="en-US" sz="10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explore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2" strike="noStrike">
                <a:solidFill>
                  <a:srgbClr val="404040"/>
                </a:solidFill>
                <a:latin typeface="Verdana"/>
              </a:rPr>
              <a:t>maps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layers,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such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2" strike="noStrike">
                <a:solidFill>
                  <a:srgbClr val="404040"/>
                </a:solidFill>
                <a:latin typeface="Verdana"/>
              </a:rPr>
              <a:t>as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7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000" spc="-33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1" strike="noStrike">
                <a:solidFill>
                  <a:srgbClr val="404040"/>
                </a:solidFill>
                <a:latin typeface="Verdana"/>
              </a:rPr>
              <a:t>zooming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0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2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35" strike="noStrike">
                <a:solidFill>
                  <a:srgbClr val="404040"/>
                </a:solidFill>
                <a:latin typeface="Verdana"/>
              </a:rPr>
              <a:t>out,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5" strike="noStrike">
                <a:solidFill>
                  <a:srgbClr val="404040"/>
                </a:solidFill>
                <a:latin typeface="Verdana"/>
              </a:rPr>
              <a:t>selecting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different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55" strike="noStrike">
                <a:solidFill>
                  <a:srgbClr val="404040"/>
                </a:solidFill>
                <a:latin typeface="Verdana"/>
              </a:rPr>
              <a:t>layers,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or</a:t>
            </a:r>
            <a:r>
              <a:rPr b="0" lang="en-US" sz="10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displaying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38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000" spc="-7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46" strike="noStrike">
                <a:solidFill>
                  <a:srgbClr val="404040"/>
                </a:solidFill>
                <a:latin typeface="Verdana"/>
              </a:rPr>
              <a:t>for</a:t>
            </a:r>
            <a:r>
              <a:rPr b="0" lang="en-US" sz="10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1" strike="noStrike">
                <a:solidFill>
                  <a:srgbClr val="404040"/>
                </a:solidFill>
                <a:latin typeface="Verdana"/>
              </a:rPr>
              <a:t>specific</a:t>
            </a:r>
            <a:r>
              <a:rPr b="0" lang="en-US" sz="1000" spc="-6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18" strike="noStrike">
                <a:solidFill>
                  <a:srgbClr val="404040"/>
                </a:solidFill>
                <a:latin typeface="Verdana"/>
              </a:rPr>
              <a:t>geographic</a:t>
            </a:r>
            <a:r>
              <a:rPr b="0" lang="en-US" sz="1000" spc="-6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000" spc="-26" strike="noStrike">
                <a:solidFill>
                  <a:srgbClr val="404040"/>
                </a:solidFill>
                <a:latin typeface="Verdana"/>
              </a:rPr>
              <a:t>areas.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80000"/>
              </a:lnSpc>
              <a:spcBef>
                <a:spcPts val="1009"/>
              </a:spcBef>
              <a:tabLst>
                <a:tab algn="l" pos="0"/>
              </a:tabLst>
            </a:pP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▶</a:t>
            </a:r>
            <a:r>
              <a:rPr b="0" lang="en-US" sz="850" spc="-66" strike="noStrike">
                <a:solidFill>
                  <a:srgbClr val="b31166"/>
                </a:solidFill>
                <a:latin typeface="Lucida Sans Unicode"/>
              </a:rPr>
              <a:t>	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In </a:t>
            </a:r>
            <a:r>
              <a:rPr b="0" lang="en-US" sz="1100" spc="-60" strike="noStrike">
                <a:solidFill>
                  <a:srgbClr val="404040"/>
                </a:solidFill>
                <a:latin typeface="Verdana"/>
              </a:rPr>
              <a:t>summary,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avoiding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overload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in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1" strike="noStrike">
                <a:solidFill>
                  <a:srgbClr val="404040"/>
                </a:solidFill>
                <a:latin typeface="Verdana"/>
              </a:rPr>
              <a:t>visualization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involves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using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89" strike="noStrike">
                <a:solidFill>
                  <a:srgbClr val="404040"/>
                </a:solidFill>
                <a:latin typeface="Verdana"/>
              </a:rPr>
              <a:t>a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variety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techniques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help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users</a:t>
            </a:r>
            <a:r>
              <a:rPr b="0" lang="en-US" sz="11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focus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on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most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relevant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information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avoid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being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overwhelmed</a:t>
            </a:r>
            <a:r>
              <a:rPr b="0" lang="en-US" sz="11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by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too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much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data.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These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techniques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9" strike="noStrike">
                <a:solidFill>
                  <a:srgbClr val="404040"/>
                </a:solidFill>
                <a:latin typeface="Verdana"/>
              </a:rPr>
              <a:t>include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abstraction, </a:t>
            </a:r>
            <a:r>
              <a:rPr b="0" lang="en-US" sz="1100" spc="-52" strike="noStrike">
                <a:solidFill>
                  <a:srgbClr val="404040"/>
                </a:solidFill>
                <a:latin typeface="Verdana"/>
              </a:rPr>
              <a:t>filtering,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hierarchical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organization,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interactive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visualization, </a:t>
            </a:r>
            <a:r>
              <a:rPr b="0" lang="en-US" sz="1100" spc="24" strike="noStrike">
                <a:solidFill>
                  <a:srgbClr val="404040"/>
                </a:solidFill>
                <a:latin typeface="Verdana"/>
              </a:rPr>
              <a:t>among </a:t>
            </a:r>
            <a:r>
              <a:rPr b="0" lang="en-US" sz="1100" spc="-55" strike="noStrike">
                <a:solidFill>
                  <a:srgbClr val="404040"/>
                </a:solidFill>
                <a:latin typeface="Verdana"/>
              </a:rPr>
              <a:t>others. 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By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carefully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designing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data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46" strike="noStrike">
                <a:solidFill>
                  <a:srgbClr val="404040"/>
                </a:solidFill>
                <a:latin typeface="Verdana"/>
              </a:rPr>
              <a:t>visualizations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100" spc="-8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are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tailored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needs</a:t>
            </a:r>
            <a:r>
              <a:rPr b="0" lang="en-US" sz="1100" spc="-10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of</a:t>
            </a:r>
            <a:r>
              <a:rPr b="0" lang="en-US" sz="1100" spc="-80" strike="noStrike">
                <a:solidFill>
                  <a:srgbClr val="404040"/>
                </a:solidFill>
                <a:latin typeface="Verdana"/>
              </a:rPr>
              <a:t> users,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designers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63" strike="noStrike">
                <a:solidFill>
                  <a:srgbClr val="404040"/>
                </a:solidFill>
                <a:latin typeface="Verdana"/>
              </a:rPr>
              <a:t>can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" strike="noStrike">
                <a:solidFill>
                  <a:srgbClr val="404040"/>
                </a:solidFill>
                <a:latin typeface="Verdana"/>
              </a:rPr>
              <a:t>help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35" strike="noStrike">
                <a:solidFill>
                  <a:srgbClr val="404040"/>
                </a:solidFill>
                <a:latin typeface="Verdana"/>
              </a:rPr>
              <a:t>ensure</a:t>
            </a:r>
            <a:r>
              <a:rPr b="0" lang="en-US" sz="1100" spc="-126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that</a:t>
            </a:r>
            <a:r>
              <a:rPr b="0" lang="en-US" sz="1100" spc="-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the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43" strike="noStrike">
                <a:solidFill>
                  <a:srgbClr val="404040"/>
                </a:solidFill>
                <a:latin typeface="Verdana"/>
              </a:rPr>
              <a:t>data</a:t>
            </a:r>
            <a:r>
              <a:rPr b="0" lang="en-US" sz="1100" spc="-92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is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effectively</a:t>
            </a:r>
            <a:r>
              <a:rPr b="0" lang="en-US" sz="1100" spc="-12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8" strike="noStrike">
                <a:solidFill>
                  <a:srgbClr val="404040"/>
                </a:solidFill>
                <a:latin typeface="Verdana"/>
              </a:rPr>
              <a:t>communicated </a:t>
            </a:r>
            <a:r>
              <a:rPr b="0" lang="en-US" sz="1100" spc="-375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6" strike="noStrike">
                <a:solidFill>
                  <a:srgbClr val="404040"/>
                </a:solidFill>
                <a:latin typeface="Verdana"/>
              </a:rPr>
              <a:t>interpreted,</a:t>
            </a:r>
            <a:r>
              <a:rPr b="0" lang="en-US" sz="1100" spc="-13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12" strike="noStrike">
                <a:solidFill>
                  <a:srgbClr val="404040"/>
                </a:solidFill>
                <a:latin typeface="Verdana"/>
              </a:rPr>
              <a:t>leading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to</a:t>
            </a:r>
            <a:r>
              <a:rPr b="0" lang="en-US" sz="1100" spc="-97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5" strike="noStrike">
                <a:solidFill>
                  <a:srgbClr val="404040"/>
                </a:solidFill>
                <a:latin typeface="Verdana"/>
              </a:rPr>
              <a:t>better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" strike="noStrike">
                <a:solidFill>
                  <a:srgbClr val="404040"/>
                </a:solidFill>
                <a:latin typeface="Verdana"/>
              </a:rPr>
              <a:t>decision</a:t>
            </a:r>
            <a:r>
              <a:rPr b="0" lang="en-US" sz="1100" spc="-114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21" strike="noStrike">
                <a:solidFill>
                  <a:srgbClr val="404040"/>
                </a:solidFill>
                <a:latin typeface="Verdana"/>
              </a:rPr>
              <a:t>making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38" strike="noStrike">
                <a:solidFill>
                  <a:srgbClr val="404040"/>
                </a:solidFill>
                <a:latin typeface="Verdana"/>
              </a:rPr>
              <a:t>and</a:t>
            </a:r>
            <a:r>
              <a:rPr b="0" lang="en-US" sz="1100" spc="-100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7" strike="noStrike">
                <a:solidFill>
                  <a:srgbClr val="404040"/>
                </a:solidFill>
                <a:latin typeface="Verdana"/>
              </a:rPr>
              <a:t>improved</a:t>
            </a:r>
            <a:r>
              <a:rPr b="0" lang="en-US" sz="1100" spc="-111" strike="noStrike">
                <a:solidFill>
                  <a:srgbClr val="404040"/>
                </a:solidFill>
                <a:latin typeface="Verdana"/>
              </a:rPr>
              <a:t> </a:t>
            </a:r>
            <a:r>
              <a:rPr b="0" lang="en-US" sz="1100" spc="-12" strike="noStrike">
                <a:solidFill>
                  <a:srgbClr val="404040"/>
                </a:solidFill>
                <a:latin typeface="Verdana"/>
              </a:rPr>
              <a:t>outcomes.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object 4"/>
          <p:cNvSpPr/>
          <p:nvPr/>
        </p:nvSpPr>
        <p:spPr>
          <a:xfrm>
            <a:off x="10563120" y="570960"/>
            <a:ext cx="418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defTabSz="914400">
              <a:lnSpc>
                <a:spcPct val="100000"/>
              </a:lnSpc>
              <a:spcBef>
                <a:spcPts val="96"/>
              </a:spcBef>
            </a:pPr>
            <a:r>
              <a:rPr b="0" lang="en-US" sz="2800" spc="-242" strike="noStrike">
                <a:solidFill>
                  <a:srgbClr val="ffffff"/>
                </a:solidFill>
                <a:latin typeface="Verdana"/>
              </a:rPr>
              <a:t>25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4583</Words>
  <Paragraphs>251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2023-07-06T16:52:46Z</dcterms:created>
  <dc:creator>Dell</dc:creator>
  <dc:description/>
  <dc:language>en-US</dc:language>
  <cp:lastModifiedBy/>
  <dcterms:modified xsi:type="dcterms:W3CDTF">2026-07-21T16:17:33Z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2023-07-06T00:00:00Z</vt:filetime>
  </property>
  <property fmtid="{D5CDD505-2E9C-101B-9397-08002B2CF9AE}" pid="5" name="PresentationFormat">
    <vt:lpwstr>Widescreen</vt:lpwstr>
  </property>
  <property fmtid="{D5CDD505-2E9C-101B-9397-08002B2CF9AE}" pid="6" name="Slides">
    <vt:i4>27</vt:i4>
  </property>
</Properties>
</file>