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369" r:id="rId5"/>
    <p:sldId id="370" r:id="rId6"/>
    <p:sldId id="371" r:id="rId7"/>
    <p:sldId id="372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16883-6C6B-4440-BEAA-6E8AB5C1FE8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8EF09-70ED-447A-96C4-BEDCF66F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>
            <a:extLst>
              <a:ext uri="{FF2B5EF4-FFF2-40B4-BE49-F238E27FC236}">
                <a16:creationId xmlns:a16="http://schemas.microsoft.com/office/drawing/2014/main" id="{62EF3D80-3A44-264D-29E4-4CA80EC4C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197350"/>
            <a:ext cx="5029200" cy="42608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3" tIns="44448" rIns="90483" bIns="44448"/>
          <a:lstStyle/>
          <a:p>
            <a:pPr eaLnBrk="1" hangingPunct="1"/>
            <a:endParaRPr lang="en-US" altLang="en-US"/>
          </a:p>
        </p:txBody>
      </p:sp>
      <p:sp>
        <p:nvSpPr>
          <p:cNvPr id="57347" name="Rectangle 1027">
            <a:extLst>
              <a:ext uri="{FF2B5EF4-FFF2-40B4-BE49-F238E27FC236}">
                <a16:creationId xmlns:a16="http://schemas.microsoft.com/office/drawing/2014/main" id="{D01D2E46-C23C-2AC9-A5C7-A871F0A8F3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00095BA-2DE4-1FB0-31FE-B08F5259E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DB4C6DF-D1C8-CDD8-EDD5-B45E81B19F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cap="flat"/>
        </p:spPr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B5B7E63D-55C3-28F1-3EFC-27388651C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197350"/>
            <a:ext cx="5029200" cy="42608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2" tIns="44448" rIns="90482" bIns="4444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3B021D0-297B-36EC-468A-5087763EC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197350"/>
            <a:ext cx="5029200" cy="42608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2" tIns="44448" rIns="90482" bIns="44448"/>
          <a:lstStyle/>
          <a:p>
            <a:pPr eaLnBrk="1" hangingPunct="1"/>
            <a:endParaRPr lang="en-US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AF9DF4D-7B44-6B17-4EDE-14FE220123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8F04-DDBB-1159-4E47-D98696F20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9490C-4DC7-7E66-AA8E-83D934C3A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53C24-F555-7F17-C24C-AEAF1302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E4C77-EE9D-E500-7C57-9561FB8E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59E2F-6CAD-E7EF-5841-8749C395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EA64-AE18-DB38-B150-39257085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4A28A-831C-65AA-F96C-AE1677D36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E6D91-5DCA-B156-316E-79DFA20C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AE672-C581-0090-6641-7FE69B7B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96539-13F5-84EE-CD3C-2DA5F84D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5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63BA-8267-1BDE-7965-CB519CED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E0034-F7C2-3494-FA91-BF0F363D6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13FA6-C73B-AEB7-5871-EE8ADBA5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578B8-C777-DF44-C201-06415263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F3B0E-1E72-38BC-370A-6B8CDB6C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6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70C4-869D-A627-3B77-77C590A5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76B1-B996-E335-7BF0-4E17194F7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2AC95-74AA-54FC-F63B-C68646C7C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265E7-6D48-2351-02CF-4CFFC452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3DD7E-5BA1-426D-9E19-54587D07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B360F-D3A8-FD3C-7842-970D432B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0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D158-1382-3AC0-D0AB-A18AF524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5731F-7089-8972-5F7E-38E04A3F4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D89EB-8CF7-80FE-4CC1-7C8ADAE3A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4D64B-7079-41CA-3D3E-1E5612A46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CC808-F123-F7D4-9995-2DB928A57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171C7-3718-C2EE-73DD-A54B46CF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4195A-9AAF-D39D-0ECB-DD0EA85A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F53DD-DDA8-C35D-2287-5FF5233B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C0DD-BEF1-F80A-C466-4CCEDD01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C4A02-E552-7790-87F9-2C7F0A4B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A63C7-9856-2A9D-9EEE-D71A805B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AA924-175C-B8C9-69DE-73922685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1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92D94-A48D-D9BD-5339-15DFE190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BF8CC-39D0-F28A-4D52-847DA21E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51AAC-9E84-2AC9-0BAE-9DEE7FD3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6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C9DB-78E9-021F-8245-039388B9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A219-AB66-4D75-6C34-760D8142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BFD4B-EA5D-A128-4B65-37FF57BF5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2DC6F-CC11-7E90-E384-9DC8ACEA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F0AEE-FCF6-47EF-58EF-4A84CDFA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AD141-5812-76A9-84C3-60BE66E4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3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E570-A41D-6960-2D7C-06EAF2A4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79A28-D1EE-9292-C915-59D84ADCB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6C458-DAD8-E18B-AAC0-DABEC3A24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E8C57-2540-03A1-B022-4F088251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4548D-C981-6534-255D-F9033B3B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D4D51-1CA8-A4AD-7E5C-1417CB88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4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5A4E-EE07-D66E-4307-D1A682F5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33623-8CA2-98B0-43CE-C430C9A04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C9173-9407-D8C5-C3C2-7A866006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1A743-6BDD-4EC1-1859-45B172FD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3157-AC2A-500D-116E-8E6008A9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2EDC2-E9D8-FF60-2273-71DBED36A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3C7CB-B2CD-915D-3B27-E4793ABA0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9F74F-ED99-25B8-33E6-B140974E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6FD3D-C54C-B998-B9B7-8887B609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2CD93-BEB6-1988-A8EA-E2B16061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51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90717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600200"/>
            <a:ext cx="5283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600200"/>
            <a:ext cx="5283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C1DDDAC-29DD-3063-311A-4B7860C120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Business Statistics: A Decision-Making Approach, 7e © 2008 Prentice-Hall, Inc.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707AC25-B1E1-18A2-B5CE-B48811702A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Chap 6-</a:t>
            </a:r>
            <a:fld id="{082EF61F-9FAA-45AC-B58D-0763862FAF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298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90717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00200"/>
            <a:ext cx="5283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00" y="1600200"/>
            <a:ext cx="5283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FD2AE80-E1AA-B14E-6155-F91568019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Business Statistics: A Decision-Making Approach, 7e © 2008 Prentice-Hall, Inc.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C059452-A7FB-E9C3-3169-C2D2323E3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Chap 6-</a:t>
            </a:r>
            <a:fld id="{1DE7AB75-0014-40C0-B195-C580DEB936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60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02A04-930B-63D2-6484-FE55FA62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13DB7-DAB6-225F-E050-9566A350C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53F48-2452-1CBF-3E90-7B85869CF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A3A71-ADB1-4E77-B218-8B75954368D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CA416-935A-07EE-EDF5-E2B02CD08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2BE04-91C3-3566-12FA-69090774F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B07B-8083-46C7-B68C-6C62CCDE6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0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anova" TargetMode="External"/><Relationship Id="rId2" Type="http://schemas.openxmlformats.org/officeDocument/2006/relationships/hyperlink" Target="https://datatab.net/tutorial/t-t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tab.net/tutorial/linear-regressio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F4F5-9C44-2980-EC48-CE9D471C3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Checking Normality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48EFE-BE98-FBC9-F18D-DE91B7B97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Pravat Uprety</a:t>
            </a:r>
          </a:p>
        </p:txBody>
      </p:sp>
    </p:spTree>
    <p:extLst>
      <p:ext uri="{BB962C8B-B14F-4D97-AF65-F5344CB8AC3E}">
        <p14:creationId xmlns:p14="http://schemas.microsoft.com/office/powerpoint/2010/main" val="15222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95EB-78BB-4D11-CE59-BE224861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97A80-F8E9-34C7-F528-1C7EA5E38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normal distribution is a continuous distribution that is described by the familiar bell shaped curve and is perhaps the most important distribution used in statistics.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30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C9A4-3C75-01F7-EF0A-5414C02E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FD982-8028-132D-80C6-C0DBE11FC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One of the most common assumptions for various parametric is that the data used are normally distributed.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For example, if we want to run a </a:t>
            </a:r>
            <a:r>
              <a:rPr lang="en-US" b="0" i="0" u="none" strike="noStrike" dirty="0">
                <a:solidFill>
                  <a:srgbClr val="018786"/>
                </a:solidFill>
                <a:effectLst/>
                <a:latin typeface="Roboto" panose="02000000000000000000" pitchFamily="2" charset="0"/>
                <a:hlinkClick r:id="rId2"/>
              </a:rPr>
              <a:t>t-test</a:t>
            </a: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 or an </a:t>
            </a:r>
            <a:r>
              <a:rPr lang="en-US" b="0" i="0" u="none" strike="noStrike" dirty="0">
                <a:solidFill>
                  <a:srgbClr val="018786"/>
                </a:solidFill>
                <a:effectLst/>
                <a:latin typeface="Roboto" panose="02000000000000000000" pitchFamily="2" charset="0"/>
                <a:hlinkClick r:id="rId3"/>
              </a:rPr>
              <a:t>ANOVA</a:t>
            </a: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, we must first test whether the data or variables are normally distributed.</a:t>
            </a:r>
          </a:p>
          <a:p>
            <a:endParaRPr lang="en-US" dirty="0">
              <a:solidFill>
                <a:srgbClr val="212529"/>
              </a:solidFill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The assumption of normal distribution is also important for </a:t>
            </a:r>
            <a:r>
              <a:rPr lang="en-US" b="0" i="0" u="none" strike="noStrike" dirty="0">
                <a:solidFill>
                  <a:srgbClr val="018786"/>
                </a:solidFill>
                <a:effectLst/>
                <a:latin typeface="Roboto" panose="02000000000000000000" pitchFamily="2" charset="0"/>
                <a:hlinkClick r:id="rId4"/>
              </a:rPr>
              <a:t>linear regression analysis</a:t>
            </a: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, but in this case it is important that the error made by the model is normally distributed, not the data itself.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0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856804F1-5B08-4538-A32D-FEBD52F18E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Chap 6-</a:t>
            </a:r>
            <a:fld id="{FA20EE82-5193-4DFE-AEC1-18220A98A3E6}" type="slidenum">
              <a:rPr lang="en-US" altLang="en-US" sz="1000"/>
              <a:pPr eaLnBrk="1" hangingPunct="1"/>
              <a:t>4</a:t>
            </a:fld>
            <a:endParaRPr lang="en-US" altLang="en-US" sz="1000"/>
          </a:p>
        </p:txBody>
      </p:sp>
      <p:sp>
        <p:nvSpPr>
          <p:cNvPr id="18436" name="Rectangle 1026">
            <a:extLst>
              <a:ext uri="{FF2B5EF4-FFF2-40B4-BE49-F238E27FC236}">
                <a16:creationId xmlns:a16="http://schemas.microsoft.com/office/drawing/2014/main" id="{42150385-01A5-3E20-C81B-13B41DBF8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381000"/>
            <a:ext cx="7772400" cy="762000"/>
          </a:xfrm>
          <a:noFill/>
        </p:spPr>
        <p:txBody>
          <a:bodyPr vert="horz" lIns="90488" tIns="44450" rIns="90488" bIns="44450" rtlCol="0" anchor="ctr" anchorCtr="1">
            <a:normAutofit/>
          </a:bodyPr>
          <a:lstStyle/>
          <a:p>
            <a:pPr>
              <a:lnSpc>
                <a:spcPct val="95000"/>
              </a:lnSpc>
            </a:pPr>
            <a:r>
              <a:rPr lang="en-US" altLang="en-US"/>
              <a:t>The Normal Distribution</a:t>
            </a:r>
          </a:p>
        </p:txBody>
      </p:sp>
      <p:sp>
        <p:nvSpPr>
          <p:cNvPr id="18437" name="Rectangle 1027">
            <a:extLst>
              <a:ext uri="{FF2B5EF4-FFF2-40B4-BE49-F238E27FC236}">
                <a16:creationId xmlns:a16="http://schemas.microsoft.com/office/drawing/2014/main" id="{F468F385-A705-DA86-66AA-4176442E7F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752600"/>
            <a:ext cx="4800600" cy="48006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lnSpc>
                <a:spcPct val="80000"/>
              </a:lnSpc>
              <a:spcBef>
                <a:spcPct val="50000"/>
              </a:spcBef>
              <a:buSzPct val="80000"/>
            </a:pPr>
            <a:r>
              <a:rPr lang="en-US" altLang="en-US" sz="2000"/>
              <a:t> </a:t>
            </a:r>
            <a:r>
              <a:rPr lang="en-US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‘</a:t>
            </a:r>
            <a:r>
              <a:rPr lang="en-US" altLang="en-US" sz="2400" b="1">
                <a:solidFill>
                  <a:schemeClr val="folHlink"/>
                </a:solidFill>
              </a:rPr>
              <a:t>Bell Shaped</a:t>
            </a:r>
            <a:r>
              <a:rPr lang="en-US" altLang="en-US" sz="2400" b="1">
                <a:solidFill>
                  <a:schemeClr val="bg1"/>
                </a:solidFill>
              </a:rPr>
              <a:t>’</a:t>
            </a:r>
          </a:p>
          <a:p>
            <a:pPr marL="0" indent="0">
              <a:lnSpc>
                <a:spcPct val="60000"/>
              </a:lnSpc>
              <a:spcBef>
                <a:spcPct val="50000"/>
              </a:spcBef>
              <a:buClr>
                <a:srgbClr val="FF3300"/>
              </a:buClr>
            </a:pPr>
            <a:r>
              <a:rPr lang="en-US" altLang="en-US" sz="2400" b="1">
                <a:solidFill>
                  <a:srgbClr val="F8F8F8"/>
                </a:solidFill>
              </a:rPr>
              <a:t>  </a:t>
            </a:r>
            <a:r>
              <a:rPr lang="en-US" altLang="en-US" sz="2400" b="1">
                <a:solidFill>
                  <a:srgbClr val="FF3300"/>
                </a:solidFill>
              </a:rPr>
              <a:t>Symmetrical</a:t>
            </a:r>
            <a:r>
              <a:rPr lang="en-US" altLang="en-US" sz="2400" b="1">
                <a:solidFill>
                  <a:srgbClr val="F8F8F8"/>
                </a:solidFill>
              </a:rPr>
              <a:t>  </a:t>
            </a:r>
            <a:r>
              <a:rPr lang="en-US" altLang="en-US" sz="2400" b="1">
                <a:solidFill>
                  <a:srgbClr val="FCD7A6"/>
                </a:solidFill>
              </a:rPr>
              <a:t>  </a:t>
            </a:r>
          </a:p>
          <a:p>
            <a:pPr marL="0" indent="0">
              <a:lnSpc>
                <a:spcPct val="70000"/>
              </a:lnSpc>
              <a:spcBef>
                <a:spcPct val="50000"/>
              </a:spcBef>
              <a:buClr>
                <a:srgbClr val="339933"/>
              </a:buClr>
            </a:pPr>
            <a:r>
              <a:rPr lang="en-US" altLang="en-US" sz="2400" b="1">
                <a:solidFill>
                  <a:srgbClr val="FCD7A6"/>
                </a:solidFill>
              </a:rPr>
              <a:t>  </a:t>
            </a:r>
            <a:r>
              <a:rPr lang="en-US" altLang="en-US" sz="2400" b="1">
                <a:solidFill>
                  <a:srgbClr val="339933"/>
                </a:solidFill>
              </a:rPr>
              <a:t>Mean, Median and Mode</a:t>
            </a:r>
          </a:p>
          <a:p>
            <a:pPr marL="0" indent="0">
              <a:lnSpc>
                <a:spcPct val="30000"/>
              </a:lnSpc>
              <a:spcBef>
                <a:spcPct val="50000"/>
              </a:spcBef>
              <a:buNone/>
            </a:pPr>
            <a:r>
              <a:rPr lang="en-US" altLang="en-US" sz="2400" b="1">
                <a:solidFill>
                  <a:srgbClr val="339933"/>
                </a:solidFill>
              </a:rPr>
              <a:t>	 are Equal</a:t>
            </a:r>
            <a:endParaRPr lang="en-US" altLang="en-US" sz="2400" b="1"/>
          </a:p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400" b="1"/>
              <a:t>Location is determined by the mean, </a:t>
            </a:r>
            <a:r>
              <a:rPr lang="el-GR" altLang="en-US" sz="2400" b="1">
                <a:cs typeface="Arial" panose="020B0604020202020204" pitchFamily="34" charset="0"/>
                <a:sym typeface="Symbol" panose="05050102010706020507" pitchFamily="18" charset="2"/>
              </a:rPr>
              <a:t>μ</a:t>
            </a:r>
          </a:p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400" b="1"/>
              <a:t>Spread is determined by the standard deviation, </a:t>
            </a:r>
            <a:r>
              <a:rPr lang="el-GR" altLang="en-US" sz="2400" b="1"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2400" b="1"/>
              <a:t> </a:t>
            </a:r>
          </a:p>
          <a:p>
            <a:pPr marL="0" indent="0">
              <a:lnSpc>
                <a:spcPct val="20000"/>
              </a:lnSpc>
              <a:spcBef>
                <a:spcPct val="50000"/>
              </a:spcBef>
            </a:pPr>
            <a:endParaRPr lang="en-US" altLang="en-US" sz="2400" b="1"/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400" b="1"/>
              <a:t>The random variable has an infinite theoretical range: </a:t>
            </a:r>
          </a:p>
          <a:p>
            <a:pPr marL="0" indent="0">
              <a:lnSpc>
                <a:spcPct val="30000"/>
              </a:lnSpc>
              <a:spcBef>
                <a:spcPct val="50000"/>
              </a:spcBef>
              <a:buNone/>
            </a:pPr>
            <a:r>
              <a:rPr lang="en-US" altLang="en-US" sz="2400"/>
              <a:t>+</a:t>
            </a:r>
            <a:r>
              <a:rPr lang="en-US" altLang="en-US" sz="2400" b="1"/>
              <a:t> </a:t>
            </a:r>
            <a:r>
              <a:rPr lang="en-US" altLang="en-US" sz="2400" b="1">
                <a:sym typeface="Symbol" panose="05050102010706020507" pitchFamily="18" charset="2"/>
              </a:rPr>
              <a:t>  to   </a:t>
            </a:r>
          </a:p>
        </p:txBody>
      </p:sp>
      <p:sp>
        <p:nvSpPr>
          <p:cNvPr id="18438" name="Rectangle 1028">
            <a:extLst>
              <a:ext uri="{FF2B5EF4-FFF2-40B4-BE49-F238E27FC236}">
                <a16:creationId xmlns:a16="http://schemas.microsoft.com/office/drawing/2014/main" id="{94A320D0-EA87-BA42-00F7-E6BA0066E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1" y="4800601"/>
            <a:ext cx="1533525" cy="1036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 altLang="en-US" b="1">
                <a:solidFill>
                  <a:schemeClr val="folHlink"/>
                </a:solidFill>
              </a:rPr>
              <a:t>   Mean 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 altLang="en-US" b="1">
                <a:solidFill>
                  <a:schemeClr val="folHlink"/>
                </a:solidFill>
              </a:rPr>
              <a:t>= Median 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 altLang="en-US" b="1">
                <a:solidFill>
                  <a:schemeClr val="folHlink"/>
                </a:solidFill>
              </a:rPr>
              <a:t>= Mode</a:t>
            </a:r>
          </a:p>
        </p:txBody>
      </p:sp>
      <p:sp>
        <p:nvSpPr>
          <p:cNvPr id="18439" name="Line 1029">
            <a:extLst>
              <a:ext uri="{FF2B5EF4-FFF2-40B4-BE49-F238E27FC236}">
                <a16:creationId xmlns:a16="http://schemas.microsoft.com/office/drawing/2014/main" id="{F91859EA-D193-A51F-1AE0-32AE81A13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419600"/>
            <a:ext cx="0" cy="3508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Freeform 1030">
            <a:extLst>
              <a:ext uri="{FF2B5EF4-FFF2-40B4-BE49-F238E27FC236}">
                <a16:creationId xmlns:a16="http://schemas.microsoft.com/office/drawing/2014/main" id="{87173C76-B41D-6020-6AA8-819B88DF921E}"/>
              </a:ext>
            </a:extLst>
          </p:cNvPr>
          <p:cNvSpPr>
            <a:spLocks/>
          </p:cNvSpPr>
          <p:nvPr/>
        </p:nvSpPr>
        <p:spPr bwMode="auto">
          <a:xfrm>
            <a:off x="8534400" y="2743200"/>
            <a:ext cx="1430338" cy="1144588"/>
          </a:xfrm>
          <a:custGeom>
            <a:avLst/>
            <a:gdLst>
              <a:gd name="T0" fmla="*/ 900 w 901"/>
              <a:gd name="T1" fmla="*/ 720 h 721"/>
              <a:gd name="T2" fmla="*/ 805 w 901"/>
              <a:gd name="T3" fmla="*/ 712 h 721"/>
              <a:gd name="T4" fmla="*/ 758 w 901"/>
              <a:gd name="T5" fmla="*/ 704 h 721"/>
              <a:gd name="T6" fmla="*/ 711 w 901"/>
              <a:gd name="T7" fmla="*/ 691 h 721"/>
              <a:gd name="T8" fmla="*/ 663 w 901"/>
              <a:gd name="T9" fmla="*/ 675 h 721"/>
              <a:gd name="T10" fmla="*/ 615 w 901"/>
              <a:gd name="T11" fmla="*/ 653 h 721"/>
              <a:gd name="T12" fmla="*/ 568 w 901"/>
              <a:gd name="T13" fmla="*/ 623 h 721"/>
              <a:gd name="T14" fmla="*/ 473 w 901"/>
              <a:gd name="T15" fmla="*/ 540 h 721"/>
              <a:gd name="T16" fmla="*/ 378 w 901"/>
              <a:gd name="T17" fmla="*/ 422 h 721"/>
              <a:gd name="T18" fmla="*/ 284 w 901"/>
              <a:gd name="T19" fmla="*/ 281 h 721"/>
              <a:gd name="T20" fmla="*/ 236 w 901"/>
              <a:gd name="T21" fmla="*/ 209 h 721"/>
              <a:gd name="T22" fmla="*/ 189 w 901"/>
              <a:gd name="T23" fmla="*/ 142 h 721"/>
              <a:gd name="T24" fmla="*/ 142 w 901"/>
              <a:gd name="T25" fmla="*/ 83 h 721"/>
              <a:gd name="T26" fmla="*/ 94 w 901"/>
              <a:gd name="T27" fmla="*/ 38 h 721"/>
              <a:gd name="T28" fmla="*/ 47 w 901"/>
              <a:gd name="T29" fmla="*/ 9 h 721"/>
              <a:gd name="T30" fmla="*/ 0 w 901"/>
              <a:gd name="T31" fmla="*/ 0 h 72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01"/>
              <a:gd name="T49" fmla="*/ 0 h 721"/>
              <a:gd name="T50" fmla="*/ 901 w 901"/>
              <a:gd name="T51" fmla="*/ 721 h 72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01" h="721">
                <a:moveTo>
                  <a:pt x="900" y="720"/>
                </a:moveTo>
                <a:lnTo>
                  <a:pt x="805" y="712"/>
                </a:lnTo>
                <a:lnTo>
                  <a:pt x="758" y="704"/>
                </a:lnTo>
                <a:lnTo>
                  <a:pt x="711" y="691"/>
                </a:lnTo>
                <a:lnTo>
                  <a:pt x="663" y="675"/>
                </a:lnTo>
                <a:lnTo>
                  <a:pt x="615" y="653"/>
                </a:lnTo>
                <a:lnTo>
                  <a:pt x="568" y="623"/>
                </a:lnTo>
                <a:lnTo>
                  <a:pt x="473" y="540"/>
                </a:lnTo>
                <a:lnTo>
                  <a:pt x="378" y="422"/>
                </a:lnTo>
                <a:lnTo>
                  <a:pt x="284" y="281"/>
                </a:lnTo>
                <a:lnTo>
                  <a:pt x="236" y="209"/>
                </a:lnTo>
                <a:lnTo>
                  <a:pt x="189" y="142"/>
                </a:lnTo>
                <a:lnTo>
                  <a:pt x="142" y="83"/>
                </a:lnTo>
                <a:lnTo>
                  <a:pt x="94" y="38"/>
                </a:lnTo>
                <a:lnTo>
                  <a:pt x="47" y="9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1" name="Freeform 1031">
            <a:extLst>
              <a:ext uri="{FF2B5EF4-FFF2-40B4-BE49-F238E27FC236}">
                <a16:creationId xmlns:a16="http://schemas.microsoft.com/office/drawing/2014/main" id="{563615DC-514D-E34E-897B-49774F601B7C}"/>
              </a:ext>
            </a:extLst>
          </p:cNvPr>
          <p:cNvSpPr>
            <a:spLocks/>
          </p:cNvSpPr>
          <p:nvPr/>
        </p:nvSpPr>
        <p:spPr bwMode="auto">
          <a:xfrm>
            <a:off x="7086600" y="2743200"/>
            <a:ext cx="1430338" cy="1144588"/>
          </a:xfrm>
          <a:custGeom>
            <a:avLst/>
            <a:gdLst>
              <a:gd name="T0" fmla="*/ 0 w 901"/>
              <a:gd name="T1" fmla="*/ 720 h 721"/>
              <a:gd name="T2" fmla="*/ 95 w 901"/>
              <a:gd name="T3" fmla="*/ 712 h 721"/>
              <a:gd name="T4" fmla="*/ 142 w 901"/>
              <a:gd name="T5" fmla="*/ 704 h 721"/>
              <a:gd name="T6" fmla="*/ 189 w 901"/>
              <a:gd name="T7" fmla="*/ 691 h 721"/>
              <a:gd name="T8" fmla="*/ 237 w 901"/>
              <a:gd name="T9" fmla="*/ 675 h 721"/>
              <a:gd name="T10" fmla="*/ 284 w 901"/>
              <a:gd name="T11" fmla="*/ 653 h 721"/>
              <a:gd name="T12" fmla="*/ 331 w 901"/>
              <a:gd name="T13" fmla="*/ 623 h 721"/>
              <a:gd name="T14" fmla="*/ 426 w 901"/>
              <a:gd name="T15" fmla="*/ 540 h 721"/>
              <a:gd name="T16" fmla="*/ 521 w 901"/>
              <a:gd name="T17" fmla="*/ 422 h 721"/>
              <a:gd name="T18" fmla="*/ 616 w 901"/>
              <a:gd name="T19" fmla="*/ 281 h 721"/>
              <a:gd name="T20" fmla="*/ 663 w 901"/>
              <a:gd name="T21" fmla="*/ 209 h 721"/>
              <a:gd name="T22" fmla="*/ 710 w 901"/>
              <a:gd name="T23" fmla="*/ 142 h 721"/>
              <a:gd name="T24" fmla="*/ 757 w 901"/>
              <a:gd name="T25" fmla="*/ 83 h 721"/>
              <a:gd name="T26" fmla="*/ 805 w 901"/>
              <a:gd name="T27" fmla="*/ 38 h 721"/>
              <a:gd name="T28" fmla="*/ 852 w 901"/>
              <a:gd name="T29" fmla="*/ 9 h 721"/>
              <a:gd name="T30" fmla="*/ 900 w 901"/>
              <a:gd name="T31" fmla="*/ 0 h 72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01"/>
              <a:gd name="T49" fmla="*/ 0 h 721"/>
              <a:gd name="T50" fmla="*/ 901 w 901"/>
              <a:gd name="T51" fmla="*/ 721 h 72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01" h="721">
                <a:moveTo>
                  <a:pt x="0" y="720"/>
                </a:moveTo>
                <a:lnTo>
                  <a:pt x="95" y="712"/>
                </a:lnTo>
                <a:lnTo>
                  <a:pt x="142" y="704"/>
                </a:lnTo>
                <a:lnTo>
                  <a:pt x="189" y="691"/>
                </a:lnTo>
                <a:lnTo>
                  <a:pt x="237" y="675"/>
                </a:lnTo>
                <a:lnTo>
                  <a:pt x="284" y="653"/>
                </a:lnTo>
                <a:lnTo>
                  <a:pt x="331" y="623"/>
                </a:lnTo>
                <a:lnTo>
                  <a:pt x="426" y="540"/>
                </a:lnTo>
                <a:lnTo>
                  <a:pt x="521" y="422"/>
                </a:lnTo>
                <a:lnTo>
                  <a:pt x="616" y="281"/>
                </a:lnTo>
                <a:lnTo>
                  <a:pt x="663" y="209"/>
                </a:lnTo>
                <a:lnTo>
                  <a:pt x="710" y="142"/>
                </a:lnTo>
                <a:lnTo>
                  <a:pt x="757" y="83"/>
                </a:lnTo>
                <a:lnTo>
                  <a:pt x="805" y="38"/>
                </a:lnTo>
                <a:lnTo>
                  <a:pt x="852" y="9"/>
                </a:lnTo>
                <a:lnTo>
                  <a:pt x="90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2" name="Line 1032">
            <a:extLst>
              <a:ext uri="{FF2B5EF4-FFF2-40B4-BE49-F238E27FC236}">
                <a16:creationId xmlns:a16="http://schemas.microsoft.com/office/drawing/2014/main" id="{5E6C08DF-1D0B-965B-CB7F-F6510E5EC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2743200"/>
            <a:ext cx="0" cy="121920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Freeform 1033">
            <a:extLst>
              <a:ext uri="{FF2B5EF4-FFF2-40B4-BE49-F238E27FC236}">
                <a16:creationId xmlns:a16="http://schemas.microsoft.com/office/drawing/2014/main" id="{2750102F-45CD-E4A2-F2CD-2EAA171E03E4}"/>
              </a:ext>
            </a:extLst>
          </p:cNvPr>
          <p:cNvSpPr>
            <a:spLocks/>
          </p:cNvSpPr>
          <p:nvPr/>
        </p:nvSpPr>
        <p:spPr bwMode="auto">
          <a:xfrm>
            <a:off x="7010400" y="2743200"/>
            <a:ext cx="3005138" cy="1214438"/>
          </a:xfrm>
          <a:custGeom>
            <a:avLst/>
            <a:gdLst>
              <a:gd name="T0" fmla="*/ 0 w 1893"/>
              <a:gd name="T1" fmla="*/ 0 h 765"/>
              <a:gd name="T2" fmla="*/ 0 w 1893"/>
              <a:gd name="T3" fmla="*/ 764 h 765"/>
              <a:gd name="T4" fmla="*/ 1892 w 1893"/>
              <a:gd name="T5" fmla="*/ 764 h 765"/>
              <a:gd name="T6" fmla="*/ 0 60000 65536"/>
              <a:gd name="T7" fmla="*/ 0 60000 65536"/>
              <a:gd name="T8" fmla="*/ 0 60000 65536"/>
              <a:gd name="T9" fmla="*/ 0 w 1893"/>
              <a:gd name="T10" fmla="*/ 0 h 765"/>
              <a:gd name="T11" fmla="*/ 1893 w 1893"/>
              <a:gd name="T12" fmla="*/ 765 h 7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93" h="765">
                <a:moveTo>
                  <a:pt x="0" y="0"/>
                </a:moveTo>
                <a:lnTo>
                  <a:pt x="0" y="764"/>
                </a:lnTo>
                <a:lnTo>
                  <a:pt x="1892" y="764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4" name="Line 1034">
            <a:extLst>
              <a:ext uri="{FF2B5EF4-FFF2-40B4-BE49-F238E27FC236}">
                <a16:creationId xmlns:a16="http://schemas.microsoft.com/office/drawing/2014/main" id="{23AEA036-EEB3-ABB4-82AC-A593F3F48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2659063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1035">
            <a:extLst>
              <a:ext uri="{FF2B5EF4-FFF2-40B4-BE49-F238E27FC236}">
                <a16:creationId xmlns:a16="http://schemas.microsoft.com/office/drawing/2014/main" id="{8D0F854B-9259-750E-B435-2F08B5B7B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2781300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1036">
            <a:extLst>
              <a:ext uri="{FF2B5EF4-FFF2-40B4-BE49-F238E27FC236}">
                <a16:creationId xmlns:a16="http://schemas.microsoft.com/office/drawing/2014/main" id="{B2ABF02C-E067-3FFF-E1B0-0888477B1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2901950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Line 1037">
            <a:extLst>
              <a:ext uri="{FF2B5EF4-FFF2-40B4-BE49-F238E27FC236}">
                <a16:creationId xmlns:a16="http://schemas.microsoft.com/office/drawing/2014/main" id="{DBAC2733-FD4A-AA56-1A09-A92DC2E174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024188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1038">
            <a:extLst>
              <a:ext uri="{FF2B5EF4-FFF2-40B4-BE49-F238E27FC236}">
                <a16:creationId xmlns:a16="http://schemas.microsoft.com/office/drawing/2014/main" id="{52BF1BC5-AFF7-3ED8-27B6-D49A9E847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144838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Line 1039">
            <a:extLst>
              <a:ext uri="{FF2B5EF4-FFF2-40B4-BE49-F238E27FC236}">
                <a16:creationId xmlns:a16="http://schemas.microsoft.com/office/drawing/2014/main" id="{FABC4200-D0C8-6228-CACB-24212E7FC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267075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0" name="Line 1040">
            <a:extLst>
              <a:ext uri="{FF2B5EF4-FFF2-40B4-BE49-F238E27FC236}">
                <a16:creationId xmlns:a16="http://schemas.microsoft.com/office/drawing/2014/main" id="{A1390F2F-CE09-1625-7E83-A429B5AFA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387725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1" name="Line 1041">
            <a:extLst>
              <a:ext uri="{FF2B5EF4-FFF2-40B4-BE49-F238E27FC236}">
                <a16:creationId xmlns:a16="http://schemas.microsoft.com/office/drawing/2014/main" id="{D1C729CE-50D3-C5BC-1034-EDD851FE9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509963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2" name="Line 1042">
            <a:extLst>
              <a:ext uri="{FF2B5EF4-FFF2-40B4-BE49-F238E27FC236}">
                <a16:creationId xmlns:a16="http://schemas.microsoft.com/office/drawing/2014/main" id="{E8C7F6AB-F9D3-7A7D-B1F6-828F02ABF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630613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Line 1043">
            <a:extLst>
              <a:ext uri="{FF2B5EF4-FFF2-40B4-BE49-F238E27FC236}">
                <a16:creationId xmlns:a16="http://schemas.microsoft.com/office/drawing/2014/main" id="{C0556A59-3896-337B-F1DE-9A9318358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250" y="3751263"/>
            <a:ext cx="1588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Line 1044">
            <a:extLst>
              <a:ext uri="{FF2B5EF4-FFF2-40B4-BE49-F238E27FC236}">
                <a16:creationId xmlns:a16="http://schemas.microsoft.com/office/drawing/2014/main" id="{F191B6AF-A235-70F1-03B1-1EC79A56F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8088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Line 1045">
            <a:extLst>
              <a:ext uri="{FF2B5EF4-FFF2-40B4-BE49-F238E27FC236}">
                <a16:creationId xmlns:a16="http://schemas.microsoft.com/office/drawing/2014/main" id="{D86C3EEB-C303-F0D2-BBE0-D4BBF468D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8050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Line 1046">
            <a:extLst>
              <a:ext uri="{FF2B5EF4-FFF2-40B4-BE49-F238E27FC236}">
                <a16:creationId xmlns:a16="http://schemas.microsoft.com/office/drawing/2014/main" id="{6AF13514-D5E3-B97E-1AE2-5465A5841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6425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Line 1047">
            <a:extLst>
              <a:ext uri="{FF2B5EF4-FFF2-40B4-BE49-F238E27FC236}">
                <a16:creationId xmlns:a16="http://schemas.microsoft.com/office/drawing/2014/main" id="{4BDD7273-A3AB-4EE5-7401-382B0C6B0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6388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Line 1048">
            <a:extLst>
              <a:ext uri="{FF2B5EF4-FFF2-40B4-BE49-F238E27FC236}">
                <a16:creationId xmlns:a16="http://schemas.microsoft.com/office/drawing/2014/main" id="{B0EA0F84-CA2B-DA00-0186-33506BB0B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6350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9" name="Line 1049">
            <a:extLst>
              <a:ext uri="{FF2B5EF4-FFF2-40B4-BE49-F238E27FC236}">
                <a16:creationId xmlns:a16="http://schemas.microsoft.com/office/drawing/2014/main" id="{E510A132-FDA6-0E97-3639-1AED484E1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6313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0" name="Line 1050">
            <a:extLst>
              <a:ext uri="{FF2B5EF4-FFF2-40B4-BE49-F238E27FC236}">
                <a16:creationId xmlns:a16="http://schemas.microsoft.com/office/drawing/2014/main" id="{C321A912-6F49-234C-FD3C-79FF4059D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6275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1" name="Line 1051">
            <a:extLst>
              <a:ext uri="{FF2B5EF4-FFF2-40B4-BE49-F238E27FC236}">
                <a16:creationId xmlns:a16="http://schemas.microsoft.com/office/drawing/2014/main" id="{5160B7C8-5578-BC73-789F-E34FA9CE0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6238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2" name="Line 1052">
            <a:extLst>
              <a:ext uri="{FF2B5EF4-FFF2-40B4-BE49-F238E27FC236}">
                <a16:creationId xmlns:a16="http://schemas.microsoft.com/office/drawing/2014/main" id="{0999AA07-6950-BC2B-B499-9DECC0E43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613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3" name="Line 1053">
            <a:extLst>
              <a:ext uri="{FF2B5EF4-FFF2-40B4-BE49-F238E27FC236}">
                <a16:creationId xmlns:a16="http://schemas.microsoft.com/office/drawing/2014/main" id="{F4D44659-5579-D3B6-8603-9FC1A5BC9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4575" y="3879850"/>
            <a:ext cx="0" cy="1588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Rectangle 1054">
            <a:extLst>
              <a:ext uri="{FF2B5EF4-FFF2-40B4-BE49-F238E27FC236}">
                <a16:creationId xmlns:a16="http://schemas.microsoft.com/office/drawing/2014/main" id="{BF7B4A24-0F43-B106-70D4-9908A1124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539" y="3175000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65" name="Rectangle 1055">
            <a:extLst>
              <a:ext uri="{FF2B5EF4-FFF2-40B4-BE49-F238E27FC236}">
                <a16:creationId xmlns:a16="http://schemas.microsoft.com/office/drawing/2014/main" id="{7E3DEE3D-37ED-E7A8-6722-0708D24A1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4238" y="3849689"/>
            <a:ext cx="1841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66" name="Rectangle 1056">
            <a:extLst>
              <a:ext uri="{FF2B5EF4-FFF2-40B4-BE49-F238E27FC236}">
                <a16:creationId xmlns:a16="http://schemas.microsoft.com/office/drawing/2014/main" id="{8ABFE32A-2B4A-F5FB-CF85-439785251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1" y="3614738"/>
            <a:ext cx="35426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solidFill>
                  <a:srgbClr val="339933"/>
                </a:solidFill>
              </a:rPr>
              <a:t>x</a:t>
            </a:r>
          </a:p>
        </p:txBody>
      </p:sp>
      <p:sp>
        <p:nvSpPr>
          <p:cNvPr id="18467" name="Rectangle 1057">
            <a:extLst>
              <a:ext uri="{FF2B5EF4-FFF2-40B4-BE49-F238E27FC236}">
                <a16:creationId xmlns:a16="http://schemas.microsoft.com/office/drawing/2014/main" id="{A7E7AFEC-6A83-4079-130A-D1DAE65D3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209800"/>
            <a:ext cx="66204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solidFill>
                  <a:srgbClr val="339933"/>
                </a:solidFill>
              </a:rPr>
              <a:t>f(x)</a:t>
            </a:r>
          </a:p>
        </p:txBody>
      </p:sp>
      <p:sp>
        <p:nvSpPr>
          <p:cNvPr id="18468" name="Rectangle 1058">
            <a:extLst>
              <a:ext uri="{FF2B5EF4-FFF2-40B4-BE49-F238E27FC236}">
                <a16:creationId xmlns:a16="http://schemas.microsoft.com/office/drawing/2014/main" id="{8CFC2455-A1EE-BD62-5F4E-4D4BBFD1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1" y="3962400"/>
            <a:ext cx="4667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l-GR" altLang="en-US" b="1">
                <a:solidFill>
                  <a:schemeClr val="bg2"/>
                </a:solidFill>
                <a:cs typeface="Arial" panose="020B0604020202020204" pitchFamily="34" charset="0"/>
              </a:rPr>
              <a:t>μ</a:t>
            </a:r>
          </a:p>
        </p:txBody>
      </p:sp>
      <p:sp>
        <p:nvSpPr>
          <p:cNvPr id="18469" name="Text Box 1059">
            <a:extLst>
              <a:ext uri="{FF2B5EF4-FFF2-40B4-BE49-F238E27FC236}">
                <a16:creationId xmlns:a16="http://schemas.microsoft.com/office/drawing/2014/main" id="{517B0080-BDA0-EB9C-0B21-B90D175A8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l-GR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endParaRPr lang="el-GR" altLang="en-US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470" name="Line 1060">
            <a:extLst>
              <a:ext uri="{FF2B5EF4-FFF2-40B4-BE49-F238E27FC236}">
                <a16:creationId xmlns:a16="http://schemas.microsoft.com/office/drawing/2014/main" id="{EACFDBFC-FE2A-E7E7-2EF7-93E290FE65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3352800"/>
            <a:ext cx="5334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ooter Placeholder 1">
            <a:extLst>
              <a:ext uri="{FF2B5EF4-FFF2-40B4-BE49-F238E27FC236}">
                <a16:creationId xmlns:a16="http://schemas.microsoft.com/office/drawing/2014/main" id="{DF738831-FA5D-BFDA-151A-2446780BB3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Business Statistics: A Decision-Making Approach, 7e © 2008 Prentice-Hall, Inc.</a:t>
            </a:r>
          </a:p>
        </p:txBody>
      </p:sp>
      <p:sp>
        <p:nvSpPr>
          <p:cNvPr id="1028" name="Slide Number Placeholder 2">
            <a:extLst>
              <a:ext uri="{FF2B5EF4-FFF2-40B4-BE49-F238E27FC236}">
                <a16:creationId xmlns:a16="http://schemas.microsoft.com/office/drawing/2014/main" id="{183ECD51-14C8-B925-C3AF-01AA54012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Chap 6-</a:t>
            </a:r>
            <a:fld id="{281DA973-45CE-45FC-BE2B-F1778883D670}" type="slidenum">
              <a:rPr lang="en-US" altLang="en-US" sz="1000"/>
              <a:pPr eaLnBrk="1" hangingPunct="1"/>
              <a:t>5</a:t>
            </a:fld>
            <a:endParaRPr lang="en-US" altLang="en-US" sz="1000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B220D9AE-FDF5-E225-55CE-57F775D7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33400"/>
            <a:ext cx="8248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0" name="Rectangle 4">
            <a:extLst>
              <a:ext uri="{FF2B5EF4-FFF2-40B4-BE49-F238E27FC236}">
                <a16:creationId xmlns:a16="http://schemas.microsoft.com/office/drawing/2014/main" id="{3310FC3A-1895-FB3F-8CCA-9E254E745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667000"/>
            <a:ext cx="398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1" name="Rectangle 5">
            <a:extLst>
              <a:ext uri="{FF2B5EF4-FFF2-40B4-BE49-F238E27FC236}">
                <a16:creationId xmlns:a16="http://schemas.microsoft.com/office/drawing/2014/main" id="{CFD2ADD9-41C9-CED0-14B4-EFFDA900F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667000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026" name="Object 6">
            <a:hlinkClick r:id="" action="ppaction://ole?verb=0"/>
            <a:extLst>
              <a:ext uri="{FF2B5EF4-FFF2-40B4-BE49-F238E27FC236}">
                <a16:creationId xmlns:a16="http://schemas.microsoft.com/office/drawing/2014/main" id="{69EF0A1C-C371-B919-AC44-359195F95CCA}"/>
              </a:ext>
            </a:extLst>
          </p:cNvPr>
          <p:cNvGraphicFramePr>
            <a:graphicFrameLocks/>
          </p:cNvGraphicFramePr>
          <p:nvPr/>
        </p:nvGraphicFramePr>
        <p:xfrm>
          <a:off x="3200400" y="1981200"/>
          <a:ext cx="5105400" cy="292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600885" imgH="2238884" progId="Excel.Sheet.8">
                  <p:embed/>
                </p:oleObj>
              </mc:Choice>
              <mc:Fallback>
                <p:oleObj name="Worksheet" r:id="rId3" imgW="3600885" imgH="2238884" progId="Excel.Sheet.8">
                  <p:embed/>
                  <p:pic>
                    <p:nvPicPr>
                      <p:cNvPr id="1026" name="Object 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9EF0A1C-C371-B919-AC44-359195F95C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81200"/>
                        <a:ext cx="5105400" cy="292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7">
            <a:extLst>
              <a:ext uri="{FF2B5EF4-FFF2-40B4-BE49-F238E27FC236}">
                <a16:creationId xmlns:a16="http://schemas.microsoft.com/office/drawing/2014/main" id="{2D76F4C6-380A-566F-7B80-F7F29BF0F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5181600"/>
            <a:ext cx="7312025" cy="83185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/>
              <a:t>By varying the parameters</a:t>
            </a:r>
            <a:r>
              <a:rPr lang="en-US" altLang="en-US" b="1">
                <a:latin typeface="Times New Roman" panose="02020603050405020304" pitchFamily="18" charset="0"/>
              </a:rPr>
              <a:t> </a:t>
            </a:r>
            <a:r>
              <a:rPr lang="el-GR" altLang="en-US" b="1">
                <a:solidFill>
                  <a:schemeClr val="folHlink"/>
                </a:solidFill>
                <a:cs typeface="Arial" panose="020B0604020202020204" pitchFamily="34" charset="0"/>
              </a:rPr>
              <a:t>μ</a:t>
            </a:r>
            <a:r>
              <a:rPr lang="en-US" altLang="en-US" b="1">
                <a:latin typeface="Times New Roman" panose="02020603050405020304" pitchFamily="18" charset="0"/>
              </a:rPr>
              <a:t> </a:t>
            </a:r>
            <a:r>
              <a:rPr lang="en-US" altLang="en-US" b="1"/>
              <a:t>and </a:t>
            </a:r>
            <a:r>
              <a:rPr lang="el-GR" altLang="en-US" b="1">
                <a:solidFill>
                  <a:schemeClr val="folHlink"/>
                </a:solidFill>
                <a:cs typeface="Arial" panose="020B0604020202020204" pitchFamily="34" charset="0"/>
              </a:rPr>
              <a:t>σ</a:t>
            </a:r>
            <a:r>
              <a:rPr lang="en-US" altLang="en-US" b="1"/>
              <a:t>, we obtain different normal distributions</a:t>
            </a:r>
          </a:p>
        </p:txBody>
      </p:sp>
      <p:sp>
        <p:nvSpPr>
          <p:cNvPr id="1033" name="Rectangle 11">
            <a:extLst>
              <a:ext uri="{FF2B5EF4-FFF2-40B4-BE49-F238E27FC236}">
                <a16:creationId xmlns:a16="http://schemas.microsoft.com/office/drawing/2014/main" id="{B64A5BF0-B1F1-7BAA-2C8E-4102B7058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"/>
            <a:ext cx="746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n-US" sz="4100">
                <a:solidFill>
                  <a:schemeClr val="tx2"/>
                </a:solidFill>
              </a:rPr>
              <a:t>Many Normal Distributions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2">
            <a:extLst>
              <a:ext uri="{FF2B5EF4-FFF2-40B4-BE49-F238E27FC236}">
                <a16:creationId xmlns:a16="http://schemas.microsoft.com/office/drawing/2014/main" id="{AF7AA198-09EF-0382-1751-ED519207C8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Chap 6-</a:t>
            </a:r>
            <a:fld id="{057C6312-3CF5-4921-81B4-0DD66C80AB71}" type="slidenum">
              <a:rPr lang="en-US" altLang="en-US" sz="1000"/>
              <a:pPr eaLnBrk="1" hangingPunct="1"/>
              <a:t>6</a:t>
            </a:fld>
            <a:endParaRPr lang="en-US" altLang="en-US" sz="10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581E932B-F223-5634-9AF6-D28BC4FA9C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819400" y="381000"/>
            <a:ext cx="7467600" cy="762000"/>
          </a:xfrm>
        </p:spPr>
        <p:txBody>
          <a:bodyPr/>
          <a:lstStyle/>
          <a:p>
            <a:r>
              <a:rPr lang="en-US" altLang="en-US"/>
              <a:t>The Normal Distribution Shape</a:t>
            </a:r>
          </a:p>
        </p:txBody>
      </p:sp>
      <p:sp>
        <p:nvSpPr>
          <p:cNvPr id="19461" name="Line 3">
            <a:extLst>
              <a:ext uri="{FF2B5EF4-FFF2-40B4-BE49-F238E27FC236}">
                <a16:creationId xmlns:a16="http://schemas.microsoft.com/office/drawing/2014/main" id="{9E340668-F519-28A1-2BD5-6040EA8FF9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267200"/>
            <a:ext cx="7620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Freeform 4">
            <a:extLst>
              <a:ext uri="{FF2B5EF4-FFF2-40B4-BE49-F238E27FC236}">
                <a16:creationId xmlns:a16="http://schemas.microsoft.com/office/drawing/2014/main" id="{09C57A4E-FEDE-9146-7C6F-2F48C16D0E7B}"/>
              </a:ext>
            </a:extLst>
          </p:cNvPr>
          <p:cNvSpPr>
            <a:spLocks/>
          </p:cNvSpPr>
          <p:nvPr/>
        </p:nvSpPr>
        <p:spPr bwMode="auto">
          <a:xfrm>
            <a:off x="3352800" y="2971800"/>
            <a:ext cx="5029200" cy="2438400"/>
          </a:xfrm>
          <a:custGeom>
            <a:avLst/>
            <a:gdLst>
              <a:gd name="T0" fmla="*/ 0 w 1893"/>
              <a:gd name="T1" fmla="*/ 0 h 765"/>
              <a:gd name="T2" fmla="*/ 0 w 1893"/>
              <a:gd name="T3" fmla="*/ 764 h 765"/>
              <a:gd name="T4" fmla="*/ 1892 w 1893"/>
              <a:gd name="T5" fmla="*/ 764 h 765"/>
              <a:gd name="T6" fmla="*/ 0 60000 65536"/>
              <a:gd name="T7" fmla="*/ 0 60000 65536"/>
              <a:gd name="T8" fmla="*/ 0 60000 65536"/>
              <a:gd name="T9" fmla="*/ 0 w 1893"/>
              <a:gd name="T10" fmla="*/ 0 h 765"/>
              <a:gd name="T11" fmla="*/ 1893 w 1893"/>
              <a:gd name="T12" fmla="*/ 765 h 7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93" h="765">
                <a:moveTo>
                  <a:pt x="0" y="0"/>
                </a:moveTo>
                <a:lnTo>
                  <a:pt x="0" y="764"/>
                </a:lnTo>
                <a:lnTo>
                  <a:pt x="1892" y="764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3" name="Line 5">
            <a:extLst>
              <a:ext uri="{FF2B5EF4-FFF2-40B4-BE49-F238E27FC236}">
                <a16:creationId xmlns:a16="http://schemas.microsoft.com/office/drawing/2014/main" id="{B9F4F791-A497-4DC2-9349-5E42B71FE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206750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6">
            <a:extLst>
              <a:ext uri="{FF2B5EF4-FFF2-40B4-BE49-F238E27FC236}">
                <a16:creationId xmlns:a16="http://schemas.microsoft.com/office/drawing/2014/main" id="{D7E69846-0837-4B1F-ABC5-364278B63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328988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7">
            <a:extLst>
              <a:ext uri="{FF2B5EF4-FFF2-40B4-BE49-F238E27FC236}">
                <a16:creationId xmlns:a16="http://schemas.microsoft.com/office/drawing/2014/main" id="{2B058207-A356-81E3-3016-7FCBE1F6E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449638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8">
            <a:extLst>
              <a:ext uri="{FF2B5EF4-FFF2-40B4-BE49-F238E27FC236}">
                <a16:creationId xmlns:a16="http://schemas.microsoft.com/office/drawing/2014/main" id="{5F7754E4-9719-5CCE-7BDE-766C58F61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571875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Line 9">
            <a:extLst>
              <a:ext uri="{FF2B5EF4-FFF2-40B4-BE49-F238E27FC236}">
                <a16:creationId xmlns:a16="http://schemas.microsoft.com/office/drawing/2014/main" id="{011C42E6-E2FB-B356-AB04-DD84A3C46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692525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0">
            <a:extLst>
              <a:ext uri="{FF2B5EF4-FFF2-40B4-BE49-F238E27FC236}">
                <a16:creationId xmlns:a16="http://schemas.microsoft.com/office/drawing/2014/main" id="{8F8508A8-3055-A6CE-F8A9-E5A3B6DFA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814763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11">
            <a:extLst>
              <a:ext uri="{FF2B5EF4-FFF2-40B4-BE49-F238E27FC236}">
                <a16:creationId xmlns:a16="http://schemas.microsoft.com/office/drawing/2014/main" id="{C84F34F6-1472-1023-239D-5455BBEB2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3935413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2">
            <a:extLst>
              <a:ext uri="{FF2B5EF4-FFF2-40B4-BE49-F238E27FC236}">
                <a16:creationId xmlns:a16="http://schemas.microsoft.com/office/drawing/2014/main" id="{BE8AF215-73A4-25EC-BA63-80D492E18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4057650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Line 13">
            <a:extLst>
              <a:ext uri="{FF2B5EF4-FFF2-40B4-BE49-F238E27FC236}">
                <a16:creationId xmlns:a16="http://schemas.microsoft.com/office/drawing/2014/main" id="{98478B71-AFBC-F887-B2F4-529650521A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4178300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4">
            <a:extLst>
              <a:ext uri="{FF2B5EF4-FFF2-40B4-BE49-F238E27FC236}">
                <a16:creationId xmlns:a16="http://schemas.microsoft.com/office/drawing/2014/main" id="{C3C3C25B-8D6D-EEF6-ED28-690A21C75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4" y="4298950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Line 15">
            <a:extLst>
              <a:ext uri="{FF2B5EF4-FFF2-40B4-BE49-F238E27FC236}">
                <a16:creationId xmlns:a16="http://schemas.microsoft.com/office/drawing/2014/main" id="{A38CF2F4-0E6F-66E9-68A3-FE7A2B76D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2200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16">
            <a:extLst>
              <a:ext uri="{FF2B5EF4-FFF2-40B4-BE49-F238E27FC236}">
                <a16:creationId xmlns:a16="http://schemas.microsoft.com/office/drawing/2014/main" id="{80619081-AEF9-2831-7C2B-3EBD3EB2C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2163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17">
            <a:extLst>
              <a:ext uri="{FF2B5EF4-FFF2-40B4-BE49-F238E27FC236}">
                <a16:creationId xmlns:a16="http://schemas.microsoft.com/office/drawing/2014/main" id="{962F941F-8D6E-5872-FF9F-1BD721720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0538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Line 18">
            <a:extLst>
              <a:ext uri="{FF2B5EF4-FFF2-40B4-BE49-F238E27FC236}">
                <a16:creationId xmlns:a16="http://schemas.microsoft.com/office/drawing/2014/main" id="{7C108653-7FAC-A43C-664E-BC731EFC1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Line 19">
            <a:extLst>
              <a:ext uri="{FF2B5EF4-FFF2-40B4-BE49-F238E27FC236}">
                <a16:creationId xmlns:a16="http://schemas.microsoft.com/office/drawing/2014/main" id="{2D0E8FB0-60B4-6B95-0B82-F459060327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20">
            <a:extLst>
              <a:ext uri="{FF2B5EF4-FFF2-40B4-BE49-F238E27FC236}">
                <a16:creationId xmlns:a16="http://schemas.microsoft.com/office/drawing/2014/main" id="{225E01E9-8C76-0255-4977-069F5B9E3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25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Line 21">
            <a:extLst>
              <a:ext uri="{FF2B5EF4-FFF2-40B4-BE49-F238E27FC236}">
                <a16:creationId xmlns:a16="http://schemas.microsoft.com/office/drawing/2014/main" id="{CB97558D-0735-C4A3-7282-B9683CF05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0388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Line 22">
            <a:extLst>
              <a:ext uri="{FF2B5EF4-FFF2-40B4-BE49-F238E27FC236}">
                <a16:creationId xmlns:a16="http://schemas.microsoft.com/office/drawing/2014/main" id="{2E6C7651-DEF0-A634-0FA3-96B99C96D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0350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1" name="Line 23">
            <a:extLst>
              <a:ext uri="{FF2B5EF4-FFF2-40B4-BE49-F238E27FC236}">
                <a16:creationId xmlns:a16="http://schemas.microsoft.com/office/drawing/2014/main" id="{57E0AF6C-F6CD-DE1E-3D38-1BCD7FCB9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8725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2" name="Line 24">
            <a:extLst>
              <a:ext uri="{FF2B5EF4-FFF2-40B4-BE49-F238E27FC236}">
                <a16:creationId xmlns:a16="http://schemas.microsoft.com/office/drawing/2014/main" id="{CCA3667E-B207-7DAF-8741-9F9278293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4427539"/>
            <a:ext cx="0" cy="1587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Rectangle 25">
            <a:extLst>
              <a:ext uri="{FF2B5EF4-FFF2-40B4-BE49-F238E27FC236}">
                <a16:creationId xmlns:a16="http://schemas.microsoft.com/office/drawing/2014/main" id="{76FB87E4-60D1-61EF-8E4C-54CCBBD4E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1" y="3722688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84" name="Rectangle 26">
            <a:extLst>
              <a:ext uri="{FF2B5EF4-FFF2-40B4-BE49-F238E27FC236}">
                <a16:creationId xmlns:a16="http://schemas.microsoft.com/office/drawing/2014/main" id="{CCA8B703-6D4B-AB36-438B-5E21A7173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350" y="4397376"/>
            <a:ext cx="1841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85" name="Rectangle 27">
            <a:extLst>
              <a:ext uri="{FF2B5EF4-FFF2-40B4-BE49-F238E27FC236}">
                <a16:creationId xmlns:a16="http://schemas.microsoft.com/office/drawing/2014/main" id="{CB2570EA-1A9B-5F70-4E78-B1815524A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1" y="5410200"/>
            <a:ext cx="35426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solidFill>
                  <a:srgbClr val="339933"/>
                </a:solidFill>
              </a:rPr>
              <a:t>x</a:t>
            </a:r>
          </a:p>
        </p:txBody>
      </p:sp>
      <p:sp>
        <p:nvSpPr>
          <p:cNvPr id="19486" name="Rectangle 28">
            <a:extLst>
              <a:ext uri="{FF2B5EF4-FFF2-40B4-BE49-F238E27FC236}">
                <a16:creationId xmlns:a16="http://schemas.microsoft.com/office/drawing/2014/main" id="{FD64B9D1-7A49-37AD-6528-7E3C37364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362200"/>
            <a:ext cx="66204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solidFill>
                  <a:srgbClr val="339933"/>
                </a:solidFill>
              </a:rPr>
              <a:t>f(x)</a:t>
            </a:r>
          </a:p>
        </p:txBody>
      </p:sp>
      <p:sp>
        <p:nvSpPr>
          <p:cNvPr id="19487" name="Rectangle 29">
            <a:extLst>
              <a:ext uri="{FF2B5EF4-FFF2-40B4-BE49-F238E27FC236}">
                <a16:creationId xmlns:a16="http://schemas.microsoft.com/office/drawing/2014/main" id="{8A27C315-B809-F4BF-E953-9C600F3EA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1" y="5410200"/>
            <a:ext cx="4794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l-GR" altLang="en-US" b="1">
                <a:solidFill>
                  <a:srgbClr val="339933"/>
                </a:solidFill>
                <a:cs typeface="Arial" panose="020B0604020202020204" pitchFamily="34" charset="0"/>
              </a:rPr>
              <a:t>μ</a:t>
            </a:r>
          </a:p>
        </p:txBody>
      </p:sp>
      <p:sp>
        <p:nvSpPr>
          <p:cNvPr id="19488" name="Rectangle 30">
            <a:extLst>
              <a:ext uri="{FF2B5EF4-FFF2-40B4-BE49-F238E27FC236}">
                <a16:creationId xmlns:a16="http://schemas.microsoft.com/office/drawing/2014/main" id="{339A0879-D54D-F735-7A5E-F381F769B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1" y="4191000"/>
            <a:ext cx="47942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l-GR" altLang="en-US" b="1">
                <a:solidFill>
                  <a:srgbClr val="339933"/>
                </a:solidFill>
                <a:cs typeface="Arial" panose="020B0604020202020204" pitchFamily="34" charset="0"/>
              </a:rPr>
              <a:t>σ</a:t>
            </a:r>
          </a:p>
        </p:txBody>
      </p:sp>
      <p:sp>
        <p:nvSpPr>
          <p:cNvPr id="19489" name="Freeform 31">
            <a:extLst>
              <a:ext uri="{FF2B5EF4-FFF2-40B4-BE49-F238E27FC236}">
                <a16:creationId xmlns:a16="http://schemas.microsoft.com/office/drawing/2014/main" id="{F1BDAA2C-F5CC-0224-3DFE-847D4A4BDD9E}"/>
              </a:ext>
            </a:extLst>
          </p:cNvPr>
          <p:cNvSpPr>
            <a:spLocks/>
          </p:cNvSpPr>
          <p:nvPr/>
        </p:nvSpPr>
        <p:spPr bwMode="auto">
          <a:xfrm>
            <a:off x="5791200" y="3429000"/>
            <a:ext cx="2438400" cy="1905000"/>
          </a:xfrm>
          <a:custGeom>
            <a:avLst/>
            <a:gdLst>
              <a:gd name="T0" fmla="*/ 900 w 901"/>
              <a:gd name="T1" fmla="*/ 720 h 721"/>
              <a:gd name="T2" fmla="*/ 805 w 901"/>
              <a:gd name="T3" fmla="*/ 712 h 721"/>
              <a:gd name="T4" fmla="*/ 758 w 901"/>
              <a:gd name="T5" fmla="*/ 704 h 721"/>
              <a:gd name="T6" fmla="*/ 711 w 901"/>
              <a:gd name="T7" fmla="*/ 691 h 721"/>
              <a:gd name="T8" fmla="*/ 663 w 901"/>
              <a:gd name="T9" fmla="*/ 675 h 721"/>
              <a:gd name="T10" fmla="*/ 615 w 901"/>
              <a:gd name="T11" fmla="*/ 653 h 721"/>
              <a:gd name="T12" fmla="*/ 568 w 901"/>
              <a:gd name="T13" fmla="*/ 623 h 721"/>
              <a:gd name="T14" fmla="*/ 473 w 901"/>
              <a:gd name="T15" fmla="*/ 540 h 721"/>
              <a:gd name="T16" fmla="*/ 378 w 901"/>
              <a:gd name="T17" fmla="*/ 422 h 721"/>
              <a:gd name="T18" fmla="*/ 284 w 901"/>
              <a:gd name="T19" fmla="*/ 281 h 721"/>
              <a:gd name="T20" fmla="*/ 236 w 901"/>
              <a:gd name="T21" fmla="*/ 209 h 721"/>
              <a:gd name="T22" fmla="*/ 189 w 901"/>
              <a:gd name="T23" fmla="*/ 142 h 721"/>
              <a:gd name="T24" fmla="*/ 142 w 901"/>
              <a:gd name="T25" fmla="*/ 83 h 721"/>
              <a:gd name="T26" fmla="*/ 94 w 901"/>
              <a:gd name="T27" fmla="*/ 38 h 721"/>
              <a:gd name="T28" fmla="*/ 47 w 901"/>
              <a:gd name="T29" fmla="*/ 9 h 721"/>
              <a:gd name="T30" fmla="*/ 0 w 901"/>
              <a:gd name="T31" fmla="*/ 0 h 72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01"/>
              <a:gd name="T49" fmla="*/ 0 h 721"/>
              <a:gd name="T50" fmla="*/ 901 w 901"/>
              <a:gd name="T51" fmla="*/ 721 h 72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01" h="721">
                <a:moveTo>
                  <a:pt x="900" y="720"/>
                </a:moveTo>
                <a:lnTo>
                  <a:pt x="805" y="712"/>
                </a:lnTo>
                <a:lnTo>
                  <a:pt x="758" y="704"/>
                </a:lnTo>
                <a:lnTo>
                  <a:pt x="711" y="691"/>
                </a:lnTo>
                <a:lnTo>
                  <a:pt x="663" y="675"/>
                </a:lnTo>
                <a:lnTo>
                  <a:pt x="615" y="653"/>
                </a:lnTo>
                <a:lnTo>
                  <a:pt x="568" y="623"/>
                </a:lnTo>
                <a:lnTo>
                  <a:pt x="473" y="540"/>
                </a:lnTo>
                <a:lnTo>
                  <a:pt x="378" y="422"/>
                </a:lnTo>
                <a:lnTo>
                  <a:pt x="284" y="281"/>
                </a:lnTo>
                <a:lnTo>
                  <a:pt x="236" y="209"/>
                </a:lnTo>
                <a:lnTo>
                  <a:pt x="189" y="142"/>
                </a:lnTo>
                <a:lnTo>
                  <a:pt x="142" y="83"/>
                </a:lnTo>
                <a:lnTo>
                  <a:pt x="94" y="38"/>
                </a:lnTo>
                <a:lnTo>
                  <a:pt x="47" y="9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90" name="Freeform 32">
            <a:extLst>
              <a:ext uri="{FF2B5EF4-FFF2-40B4-BE49-F238E27FC236}">
                <a16:creationId xmlns:a16="http://schemas.microsoft.com/office/drawing/2014/main" id="{0EE18030-68AB-8544-1D47-8425AFD6F293}"/>
              </a:ext>
            </a:extLst>
          </p:cNvPr>
          <p:cNvSpPr>
            <a:spLocks/>
          </p:cNvSpPr>
          <p:nvPr/>
        </p:nvSpPr>
        <p:spPr bwMode="auto">
          <a:xfrm>
            <a:off x="3429000" y="3429000"/>
            <a:ext cx="2344738" cy="1905000"/>
          </a:xfrm>
          <a:custGeom>
            <a:avLst/>
            <a:gdLst>
              <a:gd name="T0" fmla="*/ 0 w 901"/>
              <a:gd name="T1" fmla="*/ 720 h 721"/>
              <a:gd name="T2" fmla="*/ 95 w 901"/>
              <a:gd name="T3" fmla="*/ 712 h 721"/>
              <a:gd name="T4" fmla="*/ 142 w 901"/>
              <a:gd name="T5" fmla="*/ 704 h 721"/>
              <a:gd name="T6" fmla="*/ 189 w 901"/>
              <a:gd name="T7" fmla="*/ 691 h 721"/>
              <a:gd name="T8" fmla="*/ 237 w 901"/>
              <a:gd name="T9" fmla="*/ 675 h 721"/>
              <a:gd name="T10" fmla="*/ 284 w 901"/>
              <a:gd name="T11" fmla="*/ 653 h 721"/>
              <a:gd name="T12" fmla="*/ 331 w 901"/>
              <a:gd name="T13" fmla="*/ 623 h 721"/>
              <a:gd name="T14" fmla="*/ 426 w 901"/>
              <a:gd name="T15" fmla="*/ 540 h 721"/>
              <a:gd name="T16" fmla="*/ 521 w 901"/>
              <a:gd name="T17" fmla="*/ 422 h 721"/>
              <a:gd name="T18" fmla="*/ 616 w 901"/>
              <a:gd name="T19" fmla="*/ 281 h 721"/>
              <a:gd name="T20" fmla="*/ 663 w 901"/>
              <a:gd name="T21" fmla="*/ 209 h 721"/>
              <a:gd name="T22" fmla="*/ 710 w 901"/>
              <a:gd name="T23" fmla="*/ 142 h 721"/>
              <a:gd name="T24" fmla="*/ 757 w 901"/>
              <a:gd name="T25" fmla="*/ 83 h 721"/>
              <a:gd name="T26" fmla="*/ 805 w 901"/>
              <a:gd name="T27" fmla="*/ 38 h 721"/>
              <a:gd name="T28" fmla="*/ 852 w 901"/>
              <a:gd name="T29" fmla="*/ 9 h 721"/>
              <a:gd name="T30" fmla="*/ 900 w 901"/>
              <a:gd name="T31" fmla="*/ 0 h 72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01"/>
              <a:gd name="T49" fmla="*/ 0 h 721"/>
              <a:gd name="T50" fmla="*/ 901 w 901"/>
              <a:gd name="T51" fmla="*/ 721 h 72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01" h="721">
                <a:moveTo>
                  <a:pt x="0" y="720"/>
                </a:moveTo>
                <a:lnTo>
                  <a:pt x="95" y="712"/>
                </a:lnTo>
                <a:lnTo>
                  <a:pt x="142" y="704"/>
                </a:lnTo>
                <a:lnTo>
                  <a:pt x="189" y="691"/>
                </a:lnTo>
                <a:lnTo>
                  <a:pt x="237" y="675"/>
                </a:lnTo>
                <a:lnTo>
                  <a:pt x="284" y="653"/>
                </a:lnTo>
                <a:lnTo>
                  <a:pt x="331" y="623"/>
                </a:lnTo>
                <a:lnTo>
                  <a:pt x="426" y="540"/>
                </a:lnTo>
                <a:lnTo>
                  <a:pt x="521" y="422"/>
                </a:lnTo>
                <a:lnTo>
                  <a:pt x="616" y="281"/>
                </a:lnTo>
                <a:lnTo>
                  <a:pt x="663" y="209"/>
                </a:lnTo>
                <a:lnTo>
                  <a:pt x="710" y="142"/>
                </a:lnTo>
                <a:lnTo>
                  <a:pt x="757" y="83"/>
                </a:lnTo>
                <a:lnTo>
                  <a:pt x="805" y="38"/>
                </a:lnTo>
                <a:lnTo>
                  <a:pt x="852" y="9"/>
                </a:lnTo>
                <a:lnTo>
                  <a:pt x="90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91" name="Line 33">
            <a:extLst>
              <a:ext uri="{FF2B5EF4-FFF2-40B4-BE49-F238E27FC236}">
                <a16:creationId xmlns:a16="http://schemas.microsoft.com/office/drawing/2014/main" id="{13477166-9167-85F1-5034-77A5CCBDF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505200"/>
            <a:ext cx="0" cy="1905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2" name="Text Box 34">
            <a:extLst>
              <a:ext uri="{FF2B5EF4-FFF2-40B4-BE49-F238E27FC236}">
                <a16:creationId xmlns:a16="http://schemas.microsoft.com/office/drawing/2014/main" id="{6B00EB8C-D728-FF66-61B3-E3F6EF799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438401"/>
            <a:ext cx="3276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Changing</a:t>
            </a:r>
            <a:r>
              <a:rPr lang="en-US" altLang="en-US">
                <a:solidFill>
                  <a:schemeClr val="bg2"/>
                </a:solidFill>
                <a:sym typeface="Arial" panose="020B0604020202020204" pitchFamily="34" charset="0"/>
              </a:rPr>
              <a:t> </a:t>
            </a:r>
            <a:r>
              <a:rPr lang="el-GR" altLang="en-US" b="1">
                <a:solidFill>
                  <a:schemeClr val="folHlink"/>
                </a:solidFill>
                <a:cs typeface="Arial" panose="020B0604020202020204" pitchFamily="34" charset="0"/>
              </a:rPr>
              <a:t>μ</a:t>
            </a:r>
            <a:r>
              <a:rPr lang="en-US" altLang="en-US">
                <a:solidFill>
                  <a:schemeClr val="bg2"/>
                </a:solidFill>
              </a:rPr>
              <a:t> shifts the distribution left or right</a:t>
            </a:r>
            <a:r>
              <a:rPr lang="en-US" altLang="en-US"/>
              <a:t>.</a:t>
            </a:r>
          </a:p>
        </p:txBody>
      </p:sp>
      <p:sp>
        <p:nvSpPr>
          <p:cNvPr id="19493" name="Text Box 35">
            <a:extLst>
              <a:ext uri="{FF2B5EF4-FFF2-40B4-BE49-F238E27FC236}">
                <a16:creationId xmlns:a16="http://schemas.microsoft.com/office/drawing/2014/main" id="{765B9F65-DE0C-CABC-F5A7-69A8B8B61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581401"/>
            <a:ext cx="3429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Changing</a:t>
            </a:r>
            <a:r>
              <a:rPr lang="en-US" altLang="en-US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l-GR" altLang="en-US">
                <a:solidFill>
                  <a:schemeClr val="folHlink"/>
                </a:solidFill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2"/>
                </a:solidFill>
              </a:rPr>
              <a:t>increases or decreases the spread.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542F4046-C21A-F69A-D6E2-FF0858562E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524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52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Chap 6-</a:t>
            </a:r>
            <a:fld id="{493281B4-F217-40CA-9BE2-0B0CB42C0B92}" type="slidenum">
              <a:rPr lang="en-US" altLang="en-US" sz="1000"/>
              <a:pPr eaLnBrk="1" hangingPunct="1"/>
              <a:t>7</a:t>
            </a:fld>
            <a:endParaRPr lang="en-US" altLang="en-US" sz="1000"/>
          </a:p>
        </p:txBody>
      </p:sp>
      <p:sp>
        <p:nvSpPr>
          <p:cNvPr id="20484" name="Rectangle 1030">
            <a:extLst>
              <a:ext uri="{FF2B5EF4-FFF2-40B4-BE49-F238E27FC236}">
                <a16:creationId xmlns:a16="http://schemas.microsoft.com/office/drawing/2014/main" id="{2BD2B3D5-66FA-FCF1-A440-5D59F8CDE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381001"/>
            <a:ext cx="7772400" cy="752475"/>
          </a:xfrm>
          <a:noFill/>
        </p:spPr>
        <p:txBody>
          <a:bodyPr vert="horz" lIns="90487" tIns="44450" rIns="90487" bIns="44450" rtlCol="0" anchor="ctr" anchorCtr="1">
            <a:normAutofit/>
          </a:bodyPr>
          <a:lstStyle/>
          <a:p>
            <a:pPr>
              <a:lnSpc>
                <a:spcPct val="95000"/>
              </a:lnSpc>
            </a:pPr>
            <a:r>
              <a:rPr lang="en-US" altLang="en-US"/>
              <a:t>Finding Normal Probabilities</a:t>
            </a:r>
            <a:r>
              <a:rPr lang="en-US" altLang="en-US">
                <a:solidFill>
                  <a:srgbClr val="F8F8F8"/>
                </a:solidFill>
              </a:rPr>
              <a:t>  </a:t>
            </a:r>
          </a:p>
        </p:txBody>
      </p:sp>
      <p:sp>
        <p:nvSpPr>
          <p:cNvPr id="20485" name="Freeform 1032">
            <a:extLst>
              <a:ext uri="{FF2B5EF4-FFF2-40B4-BE49-F238E27FC236}">
                <a16:creationId xmlns:a16="http://schemas.microsoft.com/office/drawing/2014/main" id="{5811355D-BABC-AD17-EE0F-32819F207DDB}"/>
              </a:ext>
            </a:extLst>
          </p:cNvPr>
          <p:cNvSpPr>
            <a:spLocks/>
          </p:cNvSpPr>
          <p:nvPr/>
        </p:nvSpPr>
        <p:spPr bwMode="auto">
          <a:xfrm>
            <a:off x="5837238" y="3609976"/>
            <a:ext cx="869950" cy="2041525"/>
          </a:xfrm>
          <a:custGeom>
            <a:avLst/>
            <a:gdLst>
              <a:gd name="T0" fmla="*/ 87 w 548"/>
              <a:gd name="T1" fmla="*/ 27 h 1286"/>
              <a:gd name="T2" fmla="*/ 150 w 548"/>
              <a:gd name="T3" fmla="*/ 60 h 1286"/>
              <a:gd name="T4" fmla="*/ 243 w 548"/>
              <a:gd name="T5" fmla="*/ 174 h 1286"/>
              <a:gd name="T6" fmla="*/ 318 w 548"/>
              <a:gd name="T7" fmla="*/ 288 h 1286"/>
              <a:gd name="T8" fmla="*/ 408 w 548"/>
              <a:gd name="T9" fmla="*/ 447 h 1286"/>
              <a:gd name="T10" fmla="*/ 483 w 548"/>
              <a:gd name="T11" fmla="*/ 585 h 1286"/>
              <a:gd name="T12" fmla="*/ 543 w 548"/>
              <a:gd name="T13" fmla="*/ 678 h 1286"/>
              <a:gd name="T14" fmla="*/ 548 w 548"/>
              <a:gd name="T15" fmla="*/ 1286 h 1286"/>
              <a:gd name="T16" fmla="*/ 0 w 548"/>
              <a:gd name="T17" fmla="*/ 1286 h 1286"/>
              <a:gd name="T18" fmla="*/ 0 w 548"/>
              <a:gd name="T19" fmla="*/ 0 h 128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48"/>
              <a:gd name="T31" fmla="*/ 0 h 1286"/>
              <a:gd name="T32" fmla="*/ 548 w 548"/>
              <a:gd name="T33" fmla="*/ 1286 h 128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48" h="1286">
                <a:moveTo>
                  <a:pt x="87" y="27"/>
                </a:moveTo>
                <a:lnTo>
                  <a:pt x="150" y="60"/>
                </a:lnTo>
                <a:lnTo>
                  <a:pt x="243" y="174"/>
                </a:lnTo>
                <a:lnTo>
                  <a:pt x="318" y="288"/>
                </a:lnTo>
                <a:lnTo>
                  <a:pt x="408" y="447"/>
                </a:lnTo>
                <a:lnTo>
                  <a:pt x="483" y="585"/>
                </a:lnTo>
                <a:lnTo>
                  <a:pt x="543" y="678"/>
                </a:lnTo>
                <a:lnTo>
                  <a:pt x="548" y="1286"/>
                </a:lnTo>
                <a:lnTo>
                  <a:pt x="0" y="1286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86" name="Rectangle 1033">
            <a:extLst>
              <a:ext uri="{FF2B5EF4-FFF2-40B4-BE49-F238E27FC236}">
                <a16:creationId xmlns:a16="http://schemas.microsoft.com/office/drawing/2014/main" id="{E3C107F9-4C9C-170E-1B4B-0B4ABCCD0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8" y="5576889"/>
            <a:ext cx="375102" cy="50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700" b="1">
                <a:solidFill>
                  <a:srgbClr val="33CC33"/>
                </a:solidFill>
              </a:rPr>
              <a:t>a</a:t>
            </a:r>
          </a:p>
        </p:txBody>
      </p:sp>
      <p:sp>
        <p:nvSpPr>
          <p:cNvPr id="20487" name="Freeform 1034">
            <a:extLst>
              <a:ext uri="{FF2B5EF4-FFF2-40B4-BE49-F238E27FC236}">
                <a16:creationId xmlns:a16="http://schemas.microsoft.com/office/drawing/2014/main" id="{49DBE487-7574-E1ED-4F6C-5C45756952C3}"/>
              </a:ext>
            </a:extLst>
          </p:cNvPr>
          <p:cNvSpPr>
            <a:spLocks/>
          </p:cNvSpPr>
          <p:nvPr/>
        </p:nvSpPr>
        <p:spPr bwMode="auto">
          <a:xfrm>
            <a:off x="5856288" y="3606800"/>
            <a:ext cx="322262" cy="209550"/>
          </a:xfrm>
          <a:custGeom>
            <a:avLst/>
            <a:gdLst>
              <a:gd name="T0" fmla="*/ 0 w 203"/>
              <a:gd name="T1" fmla="*/ 2 h 132"/>
              <a:gd name="T2" fmla="*/ 27 w 203"/>
              <a:gd name="T3" fmla="*/ 0 h 132"/>
              <a:gd name="T4" fmla="*/ 54 w 203"/>
              <a:gd name="T5" fmla="*/ 3 h 132"/>
              <a:gd name="T6" fmla="*/ 79 w 203"/>
              <a:gd name="T7" fmla="*/ 14 h 132"/>
              <a:gd name="T8" fmla="*/ 101 w 203"/>
              <a:gd name="T9" fmla="*/ 28 h 132"/>
              <a:gd name="T10" fmla="*/ 121 w 203"/>
              <a:gd name="T11" fmla="*/ 45 h 132"/>
              <a:gd name="T12" fmla="*/ 135 w 203"/>
              <a:gd name="T13" fmla="*/ 67 h 132"/>
              <a:gd name="T14" fmla="*/ 202 w 203"/>
              <a:gd name="T15" fmla="*/ 131 h 13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03"/>
              <a:gd name="T25" fmla="*/ 0 h 132"/>
              <a:gd name="T26" fmla="*/ 203 w 203"/>
              <a:gd name="T27" fmla="*/ 132 h 13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03" h="132">
                <a:moveTo>
                  <a:pt x="0" y="2"/>
                </a:moveTo>
                <a:lnTo>
                  <a:pt x="27" y="0"/>
                </a:lnTo>
                <a:lnTo>
                  <a:pt x="54" y="3"/>
                </a:lnTo>
                <a:lnTo>
                  <a:pt x="79" y="14"/>
                </a:lnTo>
                <a:lnTo>
                  <a:pt x="101" y="28"/>
                </a:lnTo>
                <a:lnTo>
                  <a:pt x="121" y="45"/>
                </a:lnTo>
                <a:lnTo>
                  <a:pt x="135" y="67"/>
                </a:lnTo>
                <a:lnTo>
                  <a:pt x="202" y="1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88" name="Rectangle 1035">
            <a:extLst>
              <a:ext uri="{FF2B5EF4-FFF2-40B4-BE49-F238E27FC236}">
                <a16:creationId xmlns:a16="http://schemas.microsoft.com/office/drawing/2014/main" id="{720D5610-4CBA-21EF-D8D6-967D10E58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038" y="5576889"/>
            <a:ext cx="394338" cy="50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700" b="1">
                <a:solidFill>
                  <a:srgbClr val="FF6600"/>
                </a:solidFill>
              </a:rPr>
              <a:t>b</a:t>
            </a:r>
          </a:p>
        </p:txBody>
      </p:sp>
      <p:sp>
        <p:nvSpPr>
          <p:cNvPr id="20489" name="Rectangle 1036">
            <a:extLst>
              <a:ext uri="{FF2B5EF4-FFF2-40B4-BE49-F238E27FC236}">
                <a16:creationId xmlns:a16="http://schemas.microsoft.com/office/drawing/2014/main" id="{C04CAEB4-49F8-5C41-1F4F-29BD9C7D3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1" y="5562600"/>
            <a:ext cx="35426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 i="1"/>
              <a:t>x</a:t>
            </a:r>
          </a:p>
        </p:txBody>
      </p:sp>
      <p:sp>
        <p:nvSpPr>
          <p:cNvPr id="20490" name="Freeform 1037">
            <a:extLst>
              <a:ext uri="{FF2B5EF4-FFF2-40B4-BE49-F238E27FC236}">
                <a16:creationId xmlns:a16="http://schemas.microsoft.com/office/drawing/2014/main" id="{3F0F5ED3-8AC2-F69B-2B97-575417F266D2}"/>
              </a:ext>
            </a:extLst>
          </p:cNvPr>
          <p:cNvSpPr>
            <a:spLocks/>
          </p:cNvSpPr>
          <p:nvPr/>
        </p:nvSpPr>
        <p:spPr bwMode="auto">
          <a:xfrm>
            <a:off x="5856289" y="3609975"/>
            <a:ext cx="2154237" cy="1981200"/>
          </a:xfrm>
          <a:custGeom>
            <a:avLst/>
            <a:gdLst>
              <a:gd name="T0" fmla="*/ 1356 w 1357"/>
              <a:gd name="T1" fmla="*/ 1247 h 1248"/>
              <a:gd name="T2" fmla="*/ 1213 w 1357"/>
              <a:gd name="T3" fmla="*/ 1232 h 1248"/>
              <a:gd name="T4" fmla="*/ 1141 w 1357"/>
              <a:gd name="T5" fmla="*/ 1218 h 1248"/>
              <a:gd name="T6" fmla="*/ 1070 w 1357"/>
              <a:gd name="T7" fmla="*/ 1199 h 1248"/>
              <a:gd name="T8" fmla="*/ 1000 w 1357"/>
              <a:gd name="T9" fmla="*/ 1170 h 1248"/>
              <a:gd name="T10" fmla="*/ 927 w 1357"/>
              <a:gd name="T11" fmla="*/ 1132 h 1248"/>
              <a:gd name="T12" fmla="*/ 857 w 1357"/>
              <a:gd name="T13" fmla="*/ 1080 h 1248"/>
              <a:gd name="T14" fmla="*/ 714 w 1357"/>
              <a:gd name="T15" fmla="*/ 935 h 1248"/>
              <a:gd name="T16" fmla="*/ 571 w 1357"/>
              <a:gd name="T17" fmla="*/ 731 h 1248"/>
              <a:gd name="T18" fmla="*/ 428 w 1357"/>
              <a:gd name="T19" fmla="*/ 487 h 1248"/>
              <a:gd name="T20" fmla="*/ 356 w 1357"/>
              <a:gd name="T21" fmla="*/ 363 h 1248"/>
              <a:gd name="T22" fmla="*/ 286 w 1357"/>
              <a:gd name="T23" fmla="*/ 247 h 1248"/>
              <a:gd name="T24" fmla="*/ 213 w 1357"/>
              <a:gd name="T25" fmla="*/ 145 h 1248"/>
              <a:gd name="T26" fmla="*/ 143 w 1357"/>
              <a:gd name="T27" fmla="*/ 67 h 1248"/>
              <a:gd name="T28" fmla="*/ 70 w 1357"/>
              <a:gd name="T29" fmla="*/ 17 h 1248"/>
              <a:gd name="T30" fmla="*/ 0 w 1357"/>
              <a:gd name="T31" fmla="*/ 0 h 12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57"/>
              <a:gd name="T49" fmla="*/ 0 h 1248"/>
              <a:gd name="T50" fmla="*/ 1357 w 1357"/>
              <a:gd name="T51" fmla="*/ 1248 h 12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57" h="1248">
                <a:moveTo>
                  <a:pt x="1356" y="1247"/>
                </a:moveTo>
                <a:lnTo>
                  <a:pt x="1213" y="1232"/>
                </a:lnTo>
                <a:lnTo>
                  <a:pt x="1141" y="1218"/>
                </a:lnTo>
                <a:lnTo>
                  <a:pt x="1070" y="1199"/>
                </a:lnTo>
                <a:lnTo>
                  <a:pt x="1000" y="1170"/>
                </a:lnTo>
                <a:lnTo>
                  <a:pt x="927" y="1132"/>
                </a:lnTo>
                <a:lnTo>
                  <a:pt x="857" y="1080"/>
                </a:lnTo>
                <a:lnTo>
                  <a:pt x="714" y="935"/>
                </a:lnTo>
                <a:lnTo>
                  <a:pt x="571" y="731"/>
                </a:lnTo>
                <a:lnTo>
                  <a:pt x="428" y="487"/>
                </a:lnTo>
                <a:lnTo>
                  <a:pt x="356" y="363"/>
                </a:lnTo>
                <a:lnTo>
                  <a:pt x="286" y="247"/>
                </a:lnTo>
                <a:lnTo>
                  <a:pt x="213" y="145"/>
                </a:lnTo>
                <a:lnTo>
                  <a:pt x="143" y="67"/>
                </a:lnTo>
                <a:lnTo>
                  <a:pt x="70" y="17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91" name="Freeform 1038">
            <a:extLst>
              <a:ext uri="{FF2B5EF4-FFF2-40B4-BE49-F238E27FC236}">
                <a16:creationId xmlns:a16="http://schemas.microsoft.com/office/drawing/2014/main" id="{69490F0E-8B1B-E1FE-0E9E-34A52AFA064F}"/>
              </a:ext>
            </a:extLst>
          </p:cNvPr>
          <p:cNvSpPr>
            <a:spLocks/>
          </p:cNvSpPr>
          <p:nvPr/>
        </p:nvSpPr>
        <p:spPr bwMode="auto">
          <a:xfrm>
            <a:off x="3703638" y="3609976"/>
            <a:ext cx="2138362" cy="1965325"/>
          </a:xfrm>
          <a:custGeom>
            <a:avLst/>
            <a:gdLst>
              <a:gd name="T0" fmla="*/ 0 w 1347"/>
              <a:gd name="T1" fmla="*/ 1238 h 1238"/>
              <a:gd name="T2" fmla="*/ 143 w 1347"/>
              <a:gd name="T3" fmla="*/ 1223 h 1238"/>
              <a:gd name="T4" fmla="*/ 213 w 1347"/>
              <a:gd name="T5" fmla="*/ 1209 h 1238"/>
              <a:gd name="T6" fmla="*/ 285 w 1347"/>
              <a:gd name="T7" fmla="*/ 1190 h 1238"/>
              <a:gd name="T8" fmla="*/ 356 w 1347"/>
              <a:gd name="T9" fmla="*/ 1161 h 1238"/>
              <a:gd name="T10" fmla="*/ 428 w 1347"/>
              <a:gd name="T11" fmla="*/ 1123 h 1238"/>
              <a:gd name="T12" fmla="*/ 499 w 1347"/>
              <a:gd name="T13" fmla="*/ 1071 h 1238"/>
              <a:gd name="T14" fmla="*/ 642 w 1347"/>
              <a:gd name="T15" fmla="*/ 926 h 1238"/>
              <a:gd name="T16" fmla="*/ 784 w 1347"/>
              <a:gd name="T17" fmla="*/ 722 h 1238"/>
              <a:gd name="T18" fmla="*/ 927 w 1347"/>
              <a:gd name="T19" fmla="*/ 478 h 1238"/>
              <a:gd name="T20" fmla="*/ 1000 w 1347"/>
              <a:gd name="T21" fmla="*/ 354 h 1238"/>
              <a:gd name="T22" fmla="*/ 1070 w 1347"/>
              <a:gd name="T23" fmla="*/ 238 h 1238"/>
              <a:gd name="T24" fmla="*/ 1141 w 1347"/>
              <a:gd name="T25" fmla="*/ 136 h 1238"/>
              <a:gd name="T26" fmla="*/ 1213 w 1347"/>
              <a:gd name="T27" fmla="*/ 58 h 1238"/>
              <a:gd name="T28" fmla="*/ 1284 w 1347"/>
              <a:gd name="T29" fmla="*/ 8 h 1238"/>
              <a:gd name="T30" fmla="*/ 1347 w 1347"/>
              <a:gd name="T31" fmla="*/ 0 h 123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47"/>
              <a:gd name="T49" fmla="*/ 0 h 1238"/>
              <a:gd name="T50" fmla="*/ 1347 w 1347"/>
              <a:gd name="T51" fmla="*/ 1238 h 123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47" h="1238">
                <a:moveTo>
                  <a:pt x="0" y="1238"/>
                </a:moveTo>
                <a:lnTo>
                  <a:pt x="143" y="1223"/>
                </a:lnTo>
                <a:lnTo>
                  <a:pt x="213" y="1209"/>
                </a:lnTo>
                <a:lnTo>
                  <a:pt x="285" y="1190"/>
                </a:lnTo>
                <a:lnTo>
                  <a:pt x="356" y="1161"/>
                </a:lnTo>
                <a:lnTo>
                  <a:pt x="428" y="1123"/>
                </a:lnTo>
                <a:lnTo>
                  <a:pt x="499" y="1071"/>
                </a:lnTo>
                <a:lnTo>
                  <a:pt x="642" y="926"/>
                </a:lnTo>
                <a:lnTo>
                  <a:pt x="784" y="722"/>
                </a:lnTo>
                <a:lnTo>
                  <a:pt x="927" y="478"/>
                </a:lnTo>
                <a:lnTo>
                  <a:pt x="1000" y="354"/>
                </a:lnTo>
                <a:lnTo>
                  <a:pt x="1070" y="238"/>
                </a:lnTo>
                <a:lnTo>
                  <a:pt x="1141" y="136"/>
                </a:lnTo>
                <a:lnTo>
                  <a:pt x="1213" y="58"/>
                </a:lnTo>
                <a:lnTo>
                  <a:pt x="1284" y="8"/>
                </a:lnTo>
                <a:lnTo>
                  <a:pt x="1347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92" name="Freeform 1039">
            <a:extLst>
              <a:ext uri="{FF2B5EF4-FFF2-40B4-BE49-F238E27FC236}">
                <a16:creationId xmlns:a16="http://schemas.microsoft.com/office/drawing/2014/main" id="{8FB3F86A-88A8-ACC6-2B6F-81DB70160151}"/>
              </a:ext>
            </a:extLst>
          </p:cNvPr>
          <p:cNvSpPr>
            <a:spLocks/>
          </p:cNvSpPr>
          <p:nvPr/>
        </p:nvSpPr>
        <p:spPr bwMode="auto">
          <a:xfrm>
            <a:off x="3359150" y="3657600"/>
            <a:ext cx="5181600" cy="1981200"/>
          </a:xfrm>
          <a:custGeom>
            <a:avLst/>
            <a:gdLst>
              <a:gd name="T0" fmla="*/ 0 w 2764"/>
              <a:gd name="T1" fmla="*/ 0 h 1245"/>
              <a:gd name="T2" fmla="*/ 0 w 2764"/>
              <a:gd name="T3" fmla="*/ 1244 h 1245"/>
              <a:gd name="T4" fmla="*/ 2763 w 2764"/>
              <a:gd name="T5" fmla="*/ 1244 h 1245"/>
              <a:gd name="T6" fmla="*/ 0 60000 65536"/>
              <a:gd name="T7" fmla="*/ 0 60000 65536"/>
              <a:gd name="T8" fmla="*/ 0 60000 65536"/>
              <a:gd name="T9" fmla="*/ 0 w 2764"/>
              <a:gd name="T10" fmla="*/ 0 h 1245"/>
              <a:gd name="T11" fmla="*/ 2764 w 2764"/>
              <a:gd name="T12" fmla="*/ 1245 h 12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64" h="1245">
                <a:moveTo>
                  <a:pt x="0" y="0"/>
                </a:moveTo>
                <a:lnTo>
                  <a:pt x="0" y="1244"/>
                </a:lnTo>
                <a:lnTo>
                  <a:pt x="2763" y="124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93" name="Line 1040">
            <a:extLst>
              <a:ext uri="{FF2B5EF4-FFF2-40B4-BE49-F238E27FC236}">
                <a16:creationId xmlns:a16="http://schemas.microsoft.com/office/drawing/2014/main" id="{D9061392-1DBC-1908-E416-ABBB81862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3609975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041">
            <a:extLst>
              <a:ext uri="{FF2B5EF4-FFF2-40B4-BE49-F238E27FC236}">
                <a16:creationId xmlns:a16="http://schemas.microsoft.com/office/drawing/2014/main" id="{3C9D9D2A-F9F1-DE20-20C0-4ADBF6837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3806825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Line 1042">
            <a:extLst>
              <a:ext uri="{FF2B5EF4-FFF2-40B4-BE49-F238E27FC236}">
                <a16:creationId xmlns:a16="http://schemas.microsoft.com/office/drawing/2014/main" id="{A9D597B7-A4D6-EBF1-402C-252F45FFA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003675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043">
            <a:extLst>
              <a:ext uri="{FF2B5EF4-FFF2-40B4-BE49-F238E27FC236}">
                <a16:creationId xmlns:a16="http://schemas.microsoft.com/office/drawing/2014/main" id="{4D48F65F-99E2-9140-926C-2CED6B35D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202113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Line 1044">
            <a:extLst>
              <a:ext uri="{FF2B5EF4-FFF2-40B4-BE49-F238E27FC236}">
                <a16:creationId xmlns:a16="http://schemas.microsoft.com/office/drawing/2014/main" id="{C15007F1-FAEB-6ACC-88F8-8CCBCECDF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398963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Line 1045">
            <a:extLst>
              <a:ext uri="{FF2B5EF4-FFF2-40B4-BE49-F238E27FC236}">
                <a16:creationId xmlns:a16="http://schemas.microsoft.com/office/drawing/2014/main" id="{FEC875D3-0CA3-DBAC-1FDE-936FA8CAB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597400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1046">
            <a:extLst>
              <a:ext uri="{FF2B5EF4-FFF2-40B4-BE49-F238E27FC236}">
                <a16:creationId xmlns:a16="http://schemas.microsoft.com/office/drawing/2014/main" id="{3AAF7EBC-8D5D-6823-AA5F-67D09D4F3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794250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Line 1047">
            <a:extLst>
              <a:ext uri="{FF2B5EF4-FFF2-40B4-BE49-F238E27FC236}">
                <a16:creationId xmlns:a16="http://schemas.microsoft.com/office/drawing/2014/main" id="{9D6F2CC4-9581-D6B6-005C-1389A149D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4992688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Line 1048">
            <a:extLst>
              <a:ext uri="{FF2B5EF4-FFF2-40B4-BE49-F238E27FC236}">
                <a16:creationId xmlns:a16="http://schemas.microsoft.com/office/drawing/2014/main" id="{1ACB698C-BB32-D632-6923-B0711EB5A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5189538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2" name="Line 1049">
            <a:extLst>
              <a:ext uri="{FF2B5EF4-FFF2-40B4-BE49-F238E27FC236}">
                <a16:creationId xmlns:a16="http://schemas.microsoft.com/office/drawing/2014/main" id="{1F86BAD9-9CF0-0A2B-BBFB-E389873B7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650" y="5386388"/>
            <a:ext cx="1588" cy="0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3" name="Line 1050">
            <a:extLst>
              <a:ext uri="{FF2B5EF4-FFF2-40B4-BE49-F238E27FC236}">
                <a16:creationId xmlns:a16="http://schemas.microsoft.com/office/drawing/2014/main" id="{90B832B2-20CC-CAF8-E53B-9DB0A8C9EF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Line 1051">
            <a:extLst>
              <a:ext uri="{FF2B5EF4-FFF2-40B4-BE49-F238E27FC236}">
                <a16:creationId xmlns:a16="http://schemas.microsoft.com/office/drawing/2014/main" id="{85463008-8AB5-A14F-FBAD-3181B0581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0163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5" name="Line 1052">
            <a:extLst>
              <a:ext uri="{FF2B5EF4-FFF2-40B4-BE49-F238E27FC236}">
                <a16:creationId xmlns:a16="http://schemas.microsoft.com/office/drawing/2014/main" id="{EB1C0A39-CF7E-998E-75EC-BA8D185C8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6" name="Line 1053">
            <a:extLst>
              <a:ext uri="{FF2B5EF4-FFF2-40B4-BE49-F238E27FC236}">
                <a16:creationId xmlns:a16="http://schemas.microsoft.com/office/drawing/2014/main" id="{61ED3174-E8AA-9618-3D72-BFC67AA0B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863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Line 1054">
            <a:extLst>
              <a:ext uri="{FF2B5EF4-FFF2-40B4-BE49-F238E27FC236}">
                <a16:creationId xmlns:a16="http://schemas.microsoft.com/office/drawing/2014/main" id="{0CF287EE-7754-D560-5049-877322828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713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8" name="Line 1055">
            <a:extLst>
              <a:ext uri="{FF2B5EF4-FFF2-40B4-BE49-F238E27FC236}">
                <a16:creationId xmlns:a16="http://schemas.microsoft.com/office/drawing/2014/main" id="{5EBB05C9-11C1-C41F-9C10-E6FF44CA1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5975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Line 1056">
            <a:extLst>
              <a:ext uri="{FF2B5EF4-FFF2-40B4-BE49-F238E27FC236}">
                <a16:creationId xmlns:a16="http://schemas.microsoft.com/office/drawing/2014/main" id="{5D6F4F7A-389D-41F7-9E8D-B150624E8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5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Line 1057">
            <a:extLst>
              <a:ext uri="{FF2B5EF4-FFF2-40B4-BE49-F238E27FC236}">
                <a16:creationId xmlns:a16="http://schemas.microsoft.com/office/drawing/2014/main" id="{60C6EDF9-31FC-52BC-40B1-08B0F7B94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088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1" name="Line 1058">
            <a:extLst>
              <a:ext uri="{FF2B5EF4-FFF2-40B4-BE49-F238E27FC236}">
                <a16:creationId xmlns:a16="http://schemas.microsoft.com/office/drawing/2014/main" id="{70EADBAF-918F-AE0F-23E9-67B57B7C9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2" name="Line 1059">
            <a:extLst>
              <a:ext uri="{FF2B5EF4-FFF2-40B4-BE49-F238E27FC236}">
                <a16:creationId xmlns:a16="http://schemas.microsoft.com/office/drawing/2014/main" id="{14797D3D-939A-3E60-DE28-10C12AF6A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788" y="5607050"/>
            <a:ext cx="0" cy="1588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3" name="Rectangle 1060">
            <a:extLst>
              <a:ext uri="{FF2B5EF4-FFF2-40B4-BE49-F238E27FC236}">
                <a16:creationId xmlns:a16="http://schemas.microsoft.com/office/drawing/2014/main" id="{B82743E2-3D4A-A86A-E896-8B89A0E9B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4" y="4505325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14" name="Rectangle 1061">
            <a:extLst>
              <a:ext uri="{FF2B5EF4-FFF2-40B4-BE49-F238E27FC236}">
                <a16:creationId xmlns:a16="http://schemas.microsoft.com/office/drawing/2014/main" id="{67F128F6-255C-7782-4EB2-739BFF2B8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825" y="5784851"/>
            <a:ext cx="1841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15" name="Rectangle 1062">
            <a:extLst>
              <a:ext uri="{FF2B5EF4-FFF2-40B4-BE49-F238E27FC236}">
                <a16:creationId xmlns:a16="http://schemas.microsoft.com/office/drawing/2014/main" id="{21D485EE-1141-6241-2E35-A6DC9CC9D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3124200"/>
            <a:ext cx="66204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solidFill>
                  <a:srgbClr val="339933"/>
                </a:solidFill>
              </a:rPr>
              <a:t>f(x)</a:t>
            </a:r>
          </a:p>
        </p:txBody>
      </p:sp>
      <p:sp>
        <p:nvSpPr>
          <p:cNvPr id="20516" name="Rectangle 1063">
            <a:extLst>
              <a:ext uri="{FF2B5EF4-FFF2-40B4-BE49-F238E27FC236}">
                <a16:creationId xmlns:a16="http://schemas.microsoft.com/office/drawing/2014/main" id="{387DFB51-33BE-DCCF-1AE7-283472D1F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839" y="3214688"/>
            <a:ext cx="431207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/>
              <a:t>P</a:t>
            </a:r>
          </a:p>
        </p:txBody>
      </p:sp>
      <p:sp>
        <p:nvSpPr>
          <p:cNvPr id="20517" name="Rectangle 1064">
            <a:extLst>
              <a:ext uri="{FF2B5EF4-FFF2-40B4-BE49-F238E27FC236}">
                <a16:creationId xmlns:a16="http://schemas.microsoft.com/office/drawing/2014/main" id="{83010ADE-73DA-9D09-1ADE-15BC2ADB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9" y="3214688"/>
            <a:ext cx="389529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 b="1">
                <a:solidFill>
                  <a:srgbClr val="33CC33"/>
                </a:solidFill>
              </a:rPr>
              <a:t>a</a:t>
            </a:r>
          </a:p>
        </p:txBody>
      </p:sp>
      <p:sp>
        <p:nvSpPr>
          <p:cNvPr id="20518" name="Rectangle 1065">
            <a:extLst>
              <a:ext uri="{FF2B5EF4-FFF2-40B4-BE49-F238E27FC236}">
                <a16:creationId xmlns:a16="http://schemas.microsoft.com/office/drawing/2014/main" id="{CB3492A3-B0C5-3951-F768-6ACDB0986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9" y="3214688"/>
            <a:ext cx="389529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 b="1"/>
              <a:t>x</a:t>
            </a:r>
          </a:p>
        </p:txBody>
      </p:sp>
      <p:sp>
        <p:nvSpPr>
          <p:cNvPr id="20519" name="Rectangle 1066">
            <a:extLst>
              <a:ext uri="{FF2B5EF4-FFF2-40B4-BE49-F238E27FC236}">
                <a16:creationId xmlns:a16="http://schemas.microsoft.com/office/drawing/2014/main" id="{0CE02514-48A1-ECB6-B2B8-E9795B055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6638" y="3214688"/>
            <a:ext cx="410368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 b="1">
                <a:solidFill>
                  <a:srgbClr val="FF6600"/>
                </a:solidFill>
              </a:rPr>
              <a:t>b</a:t>
            </a:r>
          </a:p>
        </p:txBody>
      </p:sp>
      <p:sp>
        <p:nvSpPr>
          <p:cNvPr id="20520" name="Rectangle 1067">
            <a:extLst>
              <a:ext uri="{FF2B5EF4-FFF2-40B4-BE49-F238E27FC236}">
                <a16:creationId xmlns:a16="http://schemas.microsoft.com/office/drawing/2014/main" id="{88DAA75E-5D1C-1E13-2485-9C3678D7D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9" y="3214688"/>
            <a:ext cx="306173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/>
              <a:t>(</a:t>
            </a:r>
          </a:p>
        </p:txBody>
      </p:sp>
      <p:sp>
        <p:nvSpPr>
          <p:cNvPr id="20521" name="Rectangle 1068">
            <a:extLst>
              <a:ext uri="{FF2B5EF4-FFF2-40B4-BE49-F238E27FC236}">
                <a16:creationId xmlns:a16="http://schemas.microsoft.com/office/drawing/2014/main" id="{FE3DBE43-E186-3972-1CD4-C67E5DE63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6989" y="3170238"/>
            <a:ext cx="306173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/>
              <a:t>)</a:t>
            </a:r>
          </a:p>
        </p:txBody>
      </p:sp>
      <p:sp>
        <p:nvSpPr>
          <p:cNvPr id="20522" name="Rectangle 1070">
            <a:extLst>
              <a:ext uri="{FF2B5EF4-FFF2-40B4-BE49-F238E27FC236}">
                <a16:creationId xmlns:a16="http://schemas.microsoft.com/office/drawing/2014/main" id="{DC8D3875-4BDE-FE68-C74C-395183C9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9" y="3214688"/>
            <a:ext cx="386323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>
                <a:solidFill>
                  <a:srgbClr val="000000"/>
                </a:solidFill>
                <a:latin typeface="Symbol" panose="05050102010706020507" pitchFamily="18" charset="2"/>
              </a:rPr>
              <a:t></a:t>
            </a:r>
          </a:p>
        </p:txBody>
      </p:sp>
      <p:sp>
        <p:nvSpPr>
          <p:cNvPr id="20523" name="Rectangle 1071">
            <a:extLst>
              <a:ext uri="{FF2B5EF4-FFF2-40B4-BE49-F238E27FC236}">
                <a16:creationId xmlns:a16="http://schemas.microsoft.com/office/drawing/2014/main" id="{C33946C4-D88B-30C2-5C45-B4908C13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1839" y="3214688"/>
            <a:ext cx="386323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 b="1">
                <a:solidFill>
                  <a:srgbClr val="000000"/>
                </a:solidFill>
                <a:latin typeface="Symbol" panose="05050102010706020507" pitchFamily="18" charset="2"/>
              </a:rPr>
              <a:t></a:t>
            </a:r>
          </a:p>
        </p:txBody>
      </p:sp>
      <p:sp>
        <p:nvSpPr>
          <p:cNvPr id="20524" name="Rectangle 1113">
            <a:extLst>
              <a:ext uri="{FF2B5EF4-FFF2-40B4-BE49-F238E27FC236}">
                <a16:creationId xmlns:a16="http://schemas.microsoft.com/office/drawing/2014/main" id="{358BFF01-DD0C-7B49-3874-ACE1B2CD2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905000"/>
            <a:ext cx="6781800" cy="98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900">
                <a:solidFill>
                  <a:schemeClr val="folHlink"/>
                </a:solidFill>
              </a:rPr>
              <a:t>Probability is measured by the area under the curve</a:t>
            </a:r>
          </a:p>
        </p:txBody>
      </p:sp>
      <p:sp>
        <p:nvSpPr>
          <p:cNvPr id="20525" name="Line 1114">
            <a:extLst>
              <a:ext uri="{FF2B5EF4-FFF2-40B4-BE49-F238E27FC236}">
                <a16:creationId xmlns:a16="http://schemas.microsoft.com/office/drawing/2014/main" id="{A75D7A1D-0EAC-3995-8F59-F54F8DA970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4438" y="3519488"/>
            <a:ext cx="533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6588-9C84-CEE3-4846-D30AEF1E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Graphical test for normal distribution</a:t>
            </a:r>
            <a:b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F576B-CE43-0149-175D-5F4E33465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  <a:p>
            <a:r>
              <a:rPr lang="en-US" dirty="0"/>
              <a:t>Frequency curve</a:t>
            </a:r>
          </a:p>
          <a:p>
            <a:r>
              <a:rPr lang="en-US" dirty="0"/>
              <a:t>Box plot</a:t>
            </a:r>
          </a:p>
          <a:p>
            <a:r>
              <a:rPr lang="en-US" dirty="0"/>
              <a:t>PP plot</a:t>
            </a:r>
          </a:p>
          <a:p>
            <a:r>
              <a:rPr lang="en-US" dirty="0"/>
              <a:t>QQ plot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45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C20A-AB77-6811-87EB-BB661F5C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EF0A5-AD91-ECFA-2A9F-939695F4C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Kolmogorov-Smirnov Test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Shapiro-Wilk Test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212529"/>
              </a:solidFill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212529"/>
                </a:solidFill>
                <a:latin typeface="Roboto" panose="02000000000000000000" pitchFamily="2" charset="0"/>
              </a:rPr>
              <a:t>For both cases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12529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529"/>
                </a:solidFill>
                <a:latin typeface="Roboto" panose="02000000000000000000" pitchFamily="2" charset="0"/>
              </a:rPr>
              <a:t>Null hypothesis: Data are normally distributed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Alternative hypothesis: Data are not normally distributed</a:t>
            </a:r>
          </a:p>
          <a:p>
            <a:pPr marL="0" indent="0" algn="l">
              <a:buNone/>
            </a:pPr>
            <a:endParaRPr lang="en-US" dirty="0">
              <a:solidFill>
                <a:srgbClr val="212529"/>
              </a:solidFill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If p-value &lt; level of significance (5%)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212529"/>
                </a:solidFill>
                <a:latin typeface="Roboto" panose="02000000000000000000" pitchFamily="2" charset="0"/>
              </a:rPr>
              <a:t>We reject null hypothesis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212529"/>
                </a:solidFill>
                <a:latin typeface="Roboto" panose="02000000000000000000" pitchFamily="2" charset="0"/>
              </a:rPr>
              <a:t>(Data are not normally distributed)</a:t>
            </a:r>
          </a:p>
          <a:p>
            <a:pPr marL="0" indent="0" algn="l">
              <a:buNone/>
            </a:pPr>
            <a:endParaRPr lang="en-US" b="0" i="0" dirty="0">
              <a:solidFill>
                <a:srgbClr val="212529"/>
              </a:solidFill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212529"/>
                </a:solidFill>
                <a:latin typeface="Roboto" panose="02000000000000000000" pitchFamily="2" charset="0"/>
              </a:rPr>
              <a:t>If p-value≥ level of significance (5%)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We do not reject null hypothesis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212529"/>
                </a:solidFill>
                <a:latin typeface="Roboto" panose="02000000000000000000" pitchFamily="2" charset="0"/>
              </a:rPr>
              <a:t>(Data are normally distributed)</a:t>
            </a:r>
            <a:endParaRPr lang="en-US" b="0" i="0" dirty="0">
              <a:solidFill>
                <a:srgbClr val="212529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0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352</Words>
  <Application>Microsoft Office PowerPoint</Application>
  <PresentationFormat>Widescreen</PresentationFormat>
  <Paragraphs>75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Roboto</vt:lpstr>
      <vt:lpstr>Symbol</vt:lpstr>
      <vt:lpstr>Times New Roman</vt:lpstr>
      <vt:lpstr>Office Theme</vt:lpstr>
      <vt:lpstr>Microsoft Excel Worksheet</vt:lpstr>
      <vt:lpstr>Checking Normality</vt:lpstr>
      <vt:lpstr>Normal Distribution</vt:lpstr>
      <vt:lpstr>PowerPoint Presentation</vt:lpstr>
      <vt:lpstr>The Normal Distribution</vt:lpstr>
      <vt:lpstr>PowerPoint Presentation</vt:lpstr>
      <vt:lpstr>The Normal Distribution Shape</vt:lpstr>
      <vt:lpstr>Finding Normal Probabilities  </vt:lpstr>
      <vt:lpstr>Graphical test for normal distribution </vt:lpstr>
      <vt:lpstr>Test for normality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Pravat  Upreti</dc:creator>
  <cp:lastModifiedBy>Pravat  Upreti</cp:lastModifiedBy>
  <cp:revision>5</cp:revision>
  <dcterms:created xsi:type="dcterms:W3CDTF">2025-04-25T01:32:22Z</dcterms:created>
  <dcterms:modified xsi:type="dcterms:W3CDTF">2025-04-25T10:14:24Z</dcterms:modified>
</cp:coreProperties>
</file>