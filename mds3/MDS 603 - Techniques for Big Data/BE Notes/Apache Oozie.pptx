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oboto"/>
      <p:regular r:id="rId16"/>
      <p:bold r:id="rId17"/>
      <p:italic r:id="rId18"/>
      <p:boldItalic r:id="rId19"/>
    </p:embeddedFont>
    <p:embeddedFont>
      <p:font typeface="Montserrat"/>
      <p:regular r:id="rId20"/>
      <p:bold r:id="rId21"/>
      <p:italic r:id="rId22"/>
      <p:boldItalic r:id="rId23"/>
    </p:embeddedFont>
    <p:embeddedFont>
      <p:font typeface="Lato"/>
      <p:regular r:id="rId24"/>
      <p:bold r:id="rId25"/>
      <p:italic r:id="rId26"/>
      <p:boldItalic r:id="rId27"/>
    </p:embeddedFont>
    <p:embeddedFont>
      <p:font typeface="Pacifico"/>
      <p:regular r:id="rId28"/>
    </p:embeddedFont>
    <p:embeddedFont>
      <p:font typeface="Comfortaa"/>
      <p:regular r:id="rId29"/>
      <p:bold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6" Type="http://schemas.openxmlformats.org/officeDocument/2006/relationships/font" Target="fonts/Lato-italic.fntdata"/><Relationship Id="rId13" Type="http://schemas.openxmlformats.org/officeDocument/2006/relationships/slide" Target="slides/slide8.xml"/><Relationship Id="rId18" Type="http://schemas.openxmlformats.org/officeDocument/2006/relationships/font" Target="fonts/Roboto-italic.fntdata"/><Relationship Id="rId21" Type="http://schemas.openxmlformats.org/officeDocument/2006/relationships/font" Target="fonts/Montserrat-bold.fntdata"/><Relationship Id="rId3" Type="http://schemas.openxmlformats.org/officeDocument/2006/relationships/presProps" Target="presProps.xml"/><Relationship Id="rId25" Type="http://schemas.openxmlformats.org/officeDocument/2006/relationships/font" Target="fonts/Lato-bold.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font" Target="fonts/Roboto-bold.fntdata"/><Relationship Id="rId33" Type="http://schemas.openxmlformats.org/officeDocument/2006/relationships/customXml" Target="../customXml/item3.xml"/><Relationship Id="rId20" Type="http://schemas.openxmlformats.org/officeDocument/2006/relationships/font" Target="fonts/Montserrat-regular.fntdata"/><Relationship Id="rId2" Type="http://schemas.openxmlformats.org/officeDocument/2006/relationships/viewProps" Target="viewProps.xml"/><Relationship Id="rId29" Type="http://schemas.openxmlformats.org/officeDocument/2006/relationships/font" Target="fonts/Comfortaa-regular.fntdata"/><Relationship Id="rId16" Type="http://schemas.openxmlformats.org/officeDocument/2006/relationships/font" Target="fonts/Roboto-regular.fntdata"/><Relationship Id="rId24" Type="http://schemas.openxmlformats.org/officeDocument/2006/relationships/font" Target="fonts/Lato-regular.fntdata"/><Relationship Id="rId1" Type="http://schemas.openxmlformats.org/officeDocument/2006/relationships/theme" Target="theme/theme2.xml"/><Relationship Id="rId6" Type="http://schemas.openxmlformats.org/officeDocument/2006/relationships/slide" Target="slides/slide1.xml"/><Relationship Id="rId11" Type="http://schemas.openxmlformats.org/officeDocument/2006/relationships/slide" Target="slides/slide6.xml"/><Relationship Id="rId32" Type="http://schemas.openxmlformats.org/officeDocument/2006/relationships/customXml" Target="../customXml/item2.xml"/><Relationship Id="rId23" Type="http://schemas.openxmlformats.org/officeDocument/2006/relationships/font" Target="fonts/Montserrat-boldItalic.fntdata"/><Relationship Id="rId28" Type="http://schemas.openxmlformats.org/officeDocument/2006/relationships/font" Target="fonts/Pacifico-regular.fntdata"/><Relationship Id="rId5" Type="http://schemas.openxmlformats.org/officeDocument/2006/relationships/notesMaster" Target="notesMasters/notesMaster1.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font" Target="fonts/Roboto-boldItalic.fntdata"/><Relationship Id="rId31" Type="http://schemas.openxmlformats.org/officeDocument/2006/relationships/customXml" Target="../customXml/item1.xml"/><Relationship Id="rId22" Type="http://schemas.openxmlformats.org/officeDocument/2006/relationships/font" Target="fonts/Montserrat-italic.fntdata"/><Relationship Id="rId4" Type="http://schemas.openxmlformats.org/officeDocument/2006/relationships/slideMaster" Target="slideMasters/slideMaster1.xml"/><Relationship Id="rId9" Type="http://schemas.openxmlformats.org/officeDocument/2006/relationships/slide" Target="slides/slide4.xml"/><Relationship Id="rId27" Type="http://schemas.openxmlformats.org/officeDocument/2006/relationships/font" Target="fonts/Lato-boldItalic.fntdata"/><Relationship Id="rId30" Type="http://schemas.openxmlformats.org/officeDocument/2006/relationships/font" Target="fonts/Comfortaa-bold.fntdata"/><Relationship Id="rId14" Type="http://schemas.openxmlformats.org/officeDocument/2006/relationships/slide" Target="slides/slide9.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c6f980f91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c6f980f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c6f980f91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c6f980f9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25400" marR="25400" rtl="0" algn="just">
              <a:lnSpc>
                <a:spcPct val="115000"/>
              </a:lnSpc>
              <a:spcBef>
                <a:spcPts val="600"/>
              </a:spcBef>
              <a:spcAft>
                <a:spcPts val="0"/>
              </a:spcAft>
              <a:buClr>
                <a:schemeClr val="dk1"/>
              </a:buClr>
              <a:buSzPts val="1100"/>
              <a:buFont typeface="Arial"/>
              <a:buNone/>
            </a:pPr>
            <a:r>
              <a:rPr lang="en" sz="1200">
                <a:solidFill>
                  <a:schemeClr val="dk1"/>
                </a:solidFill>
              </a:rPr>
              <a:t>Apache Oozie is a scheduler system to run and manage Hadoop jobs in a distributed environment. It allows to combine multiple complex jobs to be run in a sequential order to achieve a bigger task. Within a sequence of task, two or more jobs can also be programmed to run parallel to each other.</a:t>
            </a:r>
            <a:endParaRPr sz="1200">
              <a:solidFill>
                <a:schemeClr val="dk1"/>
              </a:solidFill>
            </a:endParaRPr>
          </a:p>
          <a:p>
            <a:pPr indent="0" lvl="0" marL="25400" marR="25400" rtl="0" algn="just">
              <a:lnSpc>
                <a:spcPct val="115000"/>
              </a:lnSpc>
              <a:spcBef>
                <a:spcPts val="700"/>
              </a:spcBef>
              <a:spcAft>
                <a:spcPts val="0"/>
              </a:spcAft>
              <a:buClr>
                <a:schemeClr val="dk1"/>
              </a:buClr>
              <a:buSzPts val="1100"/>
              <a:buFont typeface="Arial"/>
              <a:buNone/>
            </a:pPr>
            <a:r>
              <a:rPr lang="en" sz="1200">
                <a:solidFill>
                  <a:schemeClr val="dk1"/>
                </a:solidFill>
              </a:rPr>
              <a:t>One of the main advantages of Oozie is that it is tightly integrated with Hadoop stack supporting various Hadoop jobs like Hive, Pig, Sqoop as well as system-specific jobs like Java and Shell.</a:t>
            </a:r>
            <a:endParaRPr sz="1200">
              <a:solidFill>
                <a:schemeClr val="dk1"/>
              </a:solidFill>
            </a:endParaRPr>
          </a:p>
          <a:p>
            <a:pPr indent="0" lvl="0" marL="25400" marR="25400" rtl="0" algn="just">
              <a:lnSpc>
                <a:spcPct val="115000"/>
              </a:lnSpc>
              <a:spcBef>
                <a:spcPts val="700"/>
              </a:spcBef>
              <a:spcAft>
                <a:spcPts val="0"/>
              </a:spcAft>
              <a:buClr>
                <a:schemeClr val="dk1"/>
              </a:buClr>
              <a:buSzPts val="1100"/>
              <a:buFont typeface="Arial"/>
              <a:buNone/>
            </a:pPr>
            <a:r>
              <a:rPr lang="en" sz="1200">
                <a:solidFill>
                  <a:schemeClr val="dk1"/>
                </a:solidFill>
              </a:rPr>
              <a:t>Oozie is an Open Source Java Web-Application available under Apache license 2.0. It is responsible for triggering the workflow actions, which in turn uses the Hadoop execution engine to actually execute the task. Hence, Oozie is able to leverage the existing Hadoop machinery for load balancing, fail-over, etc.</a:t>
            </a:r>
            <a:endParaRPr sz="1200">
              <a:solidFill>
                <a:schemeClr val="dk1"/>
              </a:solidFill>
            </a:endParaRPr>
          </a:p>
          <a:p>
            <a:pPr indent="0" lvl="0" marL="25400" marR="25400" rtl="0" algn="just">
              <a:lnSpc>
                <a:spcPct val="115000"/>
              </a:lnSpc>
              <a:spcBef>
                <a:spcPts val="700"/>
              </a:spcBef>
              <a:spcAft>
                <a:spcPts val="700"/>
              </a:spcAft>
              <a:buNone/>
            </a:pPr>
            <a:r>
              <a:rPr lang="en" sz="1200">
                <a:solidFill>
                  <a:schemeClr val="dk1"/>
                </a:solidFill>
              </a:rPr>
              <a:t>Oozie detects completion of tasks through callback and polling. When Oozie starts a task, it provides a unique callback HTTP URL to the task, and notifies that URL when it is complete. If the task fails to invoke the callback URL, Oozie can poll the task for completion.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b11edb6581_0_66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b11edb6581_0_6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6250"/>
              </a:lnSpc>
              <a:spcBef>
                <a:spcPts val="800"/>
              </a:spcBef>
              <a:spcAft>
                <a:spcPts val="0"/>
              </a:spcAft>
              <a:buClr>
                <a:schemeClr val="dk1"/>
              </a:buClr>
              <a:buSzPts val="1100"/>
              <a:buFont typeface="Arial"/>
              <a:buNone/>
            </a:pPr>
            <a:r>
              <a:rPr lang="en" sz="1200">
                <a:solidFill>
                  <a:srgbClr val="3A3A3A"/>
                </a:solidFill>
                <a:highlight>
                  <a:srgbClr val="FFFFFF"/>
                </a:highlight>
              </a:rPr>
              <a:t>The reason why Oozie is being used so much is that it is nicely integrated with the Hadoop stack that supports several Hadoop jobs, such as, Pig, Hive, and Sqoop, along with other system-specific tasks, such as Shell and Java.</a:t>
            </a:r>
            <a:endParaRPr sz="1200">
              <a:solidFill>
                <a:srgbClr val="3A3A3A"/>
              </a:solidFill>
              <a:highlight>
                <a:srgbClr val="FFFFFF"/>
              </a:highlight>
            </a:endParaRPr>
          </a:p>
          <a:p>
            <a:pPr indent="0" lvl="0" marL="0" rtl="0" algn="just">
              <a:lnSpc>
                <a:spcPct val="156250"/>
              </a:lnSpc>
              <a:spcBef>
                <a:spcPts val="800"/>
              </a:spcBef>
              <a:spcAft>
                <a:spcPts val="0"/>
              </a:spcAft>
              <a:buClr>
                <a:schemeClr val="dk1"/>
              </a:buClr>
              <a:buSzPts val="1100"/>
              <a:buFont typeface="Arial"/>
              <a:buNone/>
            </a:pPr>
            <a:r>
              <a:rPr lang="en" sz="1200">
                <a:solidFill>
                  <a:srgbClr val="3A3A3A"/>
                </a:solidFill>
                <a:highlight>
                  <a:srgbClr val="FFFFFF"/>
                </a:highlight>
              </a:rPr>
              <a:t>Oozie is used for triggering the workflow actions that use the Hadoop execution engine for executing various tasks. Oozie leverages the present-day Hadoop machinery for failover, load balancing, etc.</a:t>
            </a:r>
            <a:endParaRPr sz="1200">
              <a:solidFill>
                <a:srgbClr val="3A3A3A"/>
              </a:solidFill>
              <a:highlight>
                <a:srgbClr val="FFFFFF"/>
              </a:highlight>
            </a:endParaRPr>
          </a:p>
          <a:p>
            <a:pPr indent="0" lvl="0" marL="0" rtl="0" algn="just">
              <a:lnSpc>
                <a:spcPct val="156250"/>
              </a:lnSpc>
              <a:spcBef>
                <a:spcPts val="800"/>
              </a:spcBef>
              <a:spcAft>
                <a:spcPts val="0"/>
              </a:spcAft>
              <a:buClr>
                <a:schemeClr val="dk1"/>
              </a:buClr>
              <a:buSzPts val="1100"/>
              <a:buFont typeface="Arial"/>
              <a:buNone/>
            </a:pPr>
            <a:r>
              <a:rPr lang="en" sz="1200">
                <a:solidFill>
                  <a:srgbClr val="3A3A3A"/>
                </a:solidFill>
                <a:highlight>
                  <a:srgbClr val="FFFFFF"/>
                </a:highlight>
              </a:rPr>
              <a:t>Oozie is responsible for detecting the completion of tasks by polling and callback. When starting a task, Oozie provides a unique callback HTTP URL to the task, and it notifies the URL when the task is complete. If the task doesn’t invoke the callback URL, Oozie polls the task for completion.</a:t>
            </a:r>
            <a:endParaRPr sz="1200">
              <a:solidFill>
                <a:srgbClr val="3A3A3A"/>
              </a:solidFill>
              <a:highlight>
                <a:srgbClr val="FFFFFF"/>
              </a:highlight>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b11edb6581_0_66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b11edb6581_0_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20000"/>
              </a:lnSpc>
              <a:spcBef>
                <a:spcPts val="800"/>
              </a:spcBef>
              <a:spcAft>
                <a:spcPts val="0"/>
              </a:spcAft>
              <a:buClr>
                <a:schemeClr val="dk1"/>
              </a:buClr>
              <a:buSzPts val="1100"/>
              <a:buFont typeface="Arial"/>
              <a:buNone/>
            </a:pPr>
            <a:r>
              <a:rPr b="1" lang="en" sz="1350">
                <a:solidFill>
                  <a:srgbClr val="3A3A3A"/>
                </a:solidFill>
                <a:highlight>
                  <a:srgbClr val="FFFFFF"/>
                </a:highlight>
              </a:rPr>
              <a:t>Oozie Workflow Jobs</a:t>
            </a:r>
            <a:endParaRPr b="1" sz="1350">
              <a:solidFill>
                <a:srgbClr val="3A3A3A"/>
              </a:solidFill>
              <a:highlight>
                <a:srgbClr val="FFFFFF"/>
              </a:highlight>
            </a:endParaRPr>
          </a:p>
          <a:p>
            <a:pPr indent="0" lvl="0" marL="0" rtl="0" algn="just">
              <a:lnSpc>
                <a:spcPct val="156250"/>
              </a:lnSpc>
              <a:spcBef>
                <a:spcPts val="800"/>
              </a:spcBef>
              <a:spcAft>
                <a:spcPts val="0"/>
              </a:spcAft>
              <a:buClr>
                <a:schemeClr val="dk1"/>
              </a:buClr>
              <a:buSzPts val="1100"/>
              <a:buFont typeface="Arial"/>
              <a:buNone/>
            </a:pPr>
            <a:r>
              <a:rPr lang="en" sz="1200">
                <a:solidFill>
                  <a:srgbClr val="3A3A3A"/>
                </a:solidFill>
                <a:highlight>
                  <a:srgbClr val="FFFFFF"/>
                </a:highlight>
              </a:rPr>
              <a:t>Workflow is just a sequence of jobs that are arranged to be represented as DAG (Directed Acyclic Graphs). The jobs depend on each other. This is because an action is executed only after the output from the previous action is retrieved. Decision trees can be used for figuring out how and on what conditions some jobs should run.</a:t>
            </a:r>
            <a:endParaRPr sz="1200">
              <a:solidFill>
                <a:srgbClr val="3A3A3A"/>
              </a:solidFill>
              <a:highlight>
                <a:srgbClr val="FFFFFF"/>
              </a:highlight>
            </a:endParaRPr>
          </a:p>
          <a:p>
            <a:pPr indent="0" lvl="0" marL="0" rtl="0" algn="just">
              <a:lnSpc>
                <a:spcPct val="156250"/>
              </a:lnSpc>
              <a:spcBef>
                <a:spcPts val="800"/>
              </a:spcBef>
              <a:spcAft>
                <a:spcPts val="0"/>
              </a:spcAft>
              <a:buClr>
                <a:schemeClr val="dk1"/>
              </a:buClr>
              <a:buSzPts val="1100"/>
              <a:buFont typeface="Arial"/>
              <a:buNone/>
            </a:pPr>
            <a:r>
              <a:rPr lang="en" sz="1200">
                <a:solidFill>
                  <a:srgbClr val="3A3A3A"/>
                </a:solidFill>
                <a:highlight>
                  <a:srgbClr val="FFFFFF"/>
                </a:highlight>
              </a:rPr>
              <a:t>There can be various types of actions that are directly based on a particular job and each type of action can have its own tags as well. Job scripts must be placed in HDFS before the execution of the workflow.</a:t>
            </a:r>
            <a:endParaRPr sz="1200">
              <a:solidFill>
                <a:srgbClr val="3A3A3A"/>
              </a:solidFill>
              <a:highlight>
                <a:srgbClr val="FFFFFF"/>
              </a:highlight>
            </a:endParaRPr>
          </a:p>
          <a:p>
            <a:pPr indent="0" lvl="0" marL="0" rtl="0" algn="l">
              <a:lnSpc>
                <a:spcPct val="120000"/>
              </a:lnSpc>
              <a:spcBef>
                <a:spcPts val="800"/>
              </a:spcBef>
              <a:spcAft>
                <a:spcPts val="0"/>
              </a:spcAft>
              <a:buClr>
                <a:schemeClr val="dk1"/>
              </a:buClr>
              <a:buSzPts val="1100"/>
              <a:buFont typeface="Arial"/>
              <a:buNone/>
            </a:pPr>
            <a:r>
              <a:rPr b="1" lang="en" sz="1350">
                <a:solidFill>
                  <a:srgbClr val="3A3A3A"/>
                </a:solidFill>
                <a:highlight>
                  <a:srgbClr val="FFFFFF"/>
                </a:highlight>
              </a:rPr>
              <a:t>Oozie Coordinator Jobs</a:t>
            </a:r>
            <a:endParaRPr b="1" sz="1350">
              <a:solidFill>
                <a:srgbClr val="3A3A3A"/>
              </a:solidFill>
              <a:highlight>
                <a:srgbClr val="FFFFFF"/>
              </a:highlight>
            </a:endParaRPr>
          </a:p>
          <a:p>
            <a:pPr indent="0" lvl="0" marL="0" rtl="0" algn="just">
              <a:lnSpc>
                <a:spcPct val="156250"/>
              </a:lnSpc>
              <a:spcBef>
                <a:spcPts val="800"/>
              </a:spcBef>
              <a:spcAft>
                <a:spcPts val="0"/>
              </a:spcAft>
              <a:buClr>
                <a:schemeClr val="dk1"/>
              </a:buClr>
              <a:buSzPts val="1100"/>
              <a:buFont typeface="Arial"/>
              <a:buNone/>
            </a:pPr>
            <a:r>
              <a:rPr lang="en" sz="1200">
                <a:solidFill>
                  <a:srgbClr val="3A3A3A"/>
                </a:solidFill>
                <a:highlight>
                  <a:srgbClr val="FFFFFF"/>
                </a:highlight>
              </a:rPr>
              <a:t>These jobs are made up of workflow jobs that are triggered by data availability and time. Workflows present in the job coordinator start when some given condition is satisfied. Processes in coordinator jobs:</a:t>
            </a:r>
            <a:endParaRPr sz="1200">
              <a:solidFill>
                <a:srgbClr val="3A3A3A"/>
              </a:solidFill>
              <a:highlight>
                <a:srgbClr val="FFFFFF"/>
              </a:highlight>
            </a:endParaRPr>
          </a:p>
          <a:p>
            <a:pPr indent="-304800" lvl="0" marL="749300" rtl="0" algn="l">
              <a:lnSpc>
                <a:spcPct val="156250"/>
              </a:lnSpc>
              <a:spcBef>
                <a:spcPts val="1600"/>
              </a:spcBef>
              <a:spcAft>
                <a:spcPts val="0"/>
              </a:spcAft>
              <a:buClr>
                <a:srgbClr val="3A3A3A"/>
              </a:buClr>
              <a:buSzPts val="1200"/>
              <a:buChar char="●"/>
            </a:pPr>
            <a:r>
              <a:rPr lang="en" sz="1200">
                <a:solidFill>
                  <a:srgbClr val="3A3A3A"/>
                </a:solidFill>
                <a:highlight>
                  <a:srgbClr val="FFFFFF"/>
                </a:highlight>
              </a:rPr>
              <a:t>Start: Starts DateTime for a job</a:t>
            </a:r>
            <a:endParaRPr sz="1200">
              <a:solidFill>
                <a:srgbClr val="3A3A3A"/>
              </a:solidFill>
              <a:highlight>
                <a:srgbClr val="FFFFFF"/>
              </a:highlight>
            </a:endParaRPr>
          </a:p>
          <a:p>
            <a:pPr indent="-304800" lvl="0" marL="749300" rtl="0" algn="l">
              <a:lnSpc>
                <a:spcPct val="156250"/>
              </a:lnSpc>
              <a:spcBef>
                <a:spcPts val="0"/>
              </a:spcBef>
              <a:spcAft>
                <a:spcPts val="0"/>
              </a:spcAft>
              <a:buClr>
                <a:srgbClr val="3A3A3A"/>
              </a:buClr>
              <a:buSzPts val="1200"/>
              <a:buChar char="●"/>
            </a:pPr>
            <a:r>
              <a:rPr lang="en" sz="1200">
                <a:solidFill>
                  <a:srgbClr val="3A3A3A"/>
                </a:solidFill>
                <a:highlight>
                  <a:srgbClr val="FFFFFF"/>
                </a:highlight>
              </a:rPr>
              <a:t>End: Ends DateTime for the job</a:t>
            </a:r>
            <a:endParaRPr sz="1200">
              <a:solidFill>
                <a:srgbClr val="3A3A3A"/>
              </a:solidFill>
              <a:highlight>
                <a:srgbClr val="FFFFFF"/>
              </a:highlight>
            </a:endParaRPr>
          </a:p>
          <a:p>
            <a:pPr indent="-304800" lvl="0" marL="749300" rtl="0" algn="l">
              <a:lnSpc>
                <a:spcPct val="156250"/>
              </a:lnSpc>
              <a:spcBef>
                <a:spcPts val="0"/>
              </a:spcBef>
              <a:spcAft>
                <a:spcPts val="0"/>
              </a:spcAft>
              <a:buClr>
                <a:srgbClr val="3A3A3A"/>
              </a:buClr>
              <a:buSzPts val="1200"/>
              <a:buChar char="●"/>
            </a:pPr>
            <a:r>
              <a:rPr lang="en" sz="1200">
                <a:solidFill>
                  <a:srgbClr val="3A3A3A"/>
                </a:solidFill>
                <a:highlight>
                  <a:srgbClr val="FFFFFF"/>
                </a:highlight>
              </a:rPr>
              <a:t>TimeZone: Timezone of the coordinator application</a:t>
            </a:r>
            <a:endParaRPr sz="1200">
              <a:solidFill>
                <a:srgbClr val="3A3A3A"/>
              </a:solidFill>
              <a:highlight>
                <a:srgbClr val="FFFFFF"/>
              </a:highlight>
            </a:endParaRPr>
          </a:p>
          <a:p>
            <a:pPr indent="-304800" lvl="0" marL="749300" rtl="0" algn="l">
              <a:lnSpc>
                <a:spcPct val="156250"/>
              </a:lnSpc>
              <a:spcBef>
                <a:spcPts val="0"/>
              </a:spcBef>
              <a:spcAft>
                <a:spcPts val="0"/>
              </a:spcAft>
              <a:buClr>
                <a:srgbClr val="3A3A3A"/>
              </a:buClr>
              <a:buSzPts val="1200"/>
              <a:buChar char="●"/>
            </a:pPr>
            <a:r>
              <a:rPr lang="en" sz="1200">
                <a:solidFill>
                  <a:srgbClr val="3A3A3A"/>
                </a:solidFill>
                <a:highlight>
                  <a:srgbClr val="FFFFFF"/>
                </a:highlight>
              </a:rPr>
              <a:t>Frequency: Frequency in minutes of the execution of jobs</a:t>
            </a:r>
            <a:endParaRPr sz="1200">
              <a:solidFill>
                <a:srgbClr val="3A3A3A"/>
              </a:solidFill>
              <a:highlight>
                <a:srgbClr val="FFFFFF"/>
              </a:highlight>
            </a:endParaRPr>
          </a:p>
          <a:p>
            <a:pPr indent="0" lvl="0" marL="0" rtl="0" algn="l">
              <a:lnSpc>
                <a:spcPct val="120000"/>
              </a:lnSpc>
              <a:spcBef>
                <a:spcPts val="800"/>
              </a:spcBef>
              <a:spcAft>
                <a:spcPts val="0"/>
              </a:spcAft>
              <a:buClr>
                <a:schemeClr val="dk1"/>
              </a:buClr>
              <a:buSzPts val="1100"/>
              <a:buFont typeface="Arial"/>
              <a:buNone/>
            </a:pPr>
            <a:r>
              <a:rPr b="1" lang="en" sz="1350">
                <a:solidFill>
                  <a:srgbClr val="3A3A3A"/>
                </a:solidFill>
                <a:highlight>
                  <a:srgbClr val="FFFFFF"/>
                </a:highlight>
              </a:rPr>
              <a:t>Oozie Bundle</a:t>
            </a:r>
            <a:endParaRPr b="1" sz="1350">
              <a:solidFill>
                <a:srgbClr val="3A3A3A"/>
              </a:solidFill>
              <a:highlight>
                <a:srgbClr val="FFFFFF"/>
              </a:highlight>
            </a:endParaRPr>
          </a:p>
          <a:p>
            <a:pPr indent="0" lvl="0" marL="0" rtl="0" algn="just">
              <a:lnSpc>
                <a:spcPct val="156250"/>
              </a:lnSpc>
              <a:spcBef>
                <a:spcPts val="800"/>
              </a:spcBef>
              <a:spcAft>
                <a:spcPts val="0"/>
              </a:spcAft>
              <a:buClr>
                <a:schemeClr val="dk1"/>
              </a:buClr>
              <a:buSzPts val="1100"/>
              <a:buFont typeface="Arial"/>
              <a:buNone/>
            </a:pPr>
            <a:r>
              <a:rPr lang="en" sz="1200">
                <a:solidFill>
                  <a:srgbClr val="3A3A3A"/>
                </a:solidFill>
                <a:highlight>
                  <a:srgbClr val="FFFFFF"/>
                </a:highlight>
              </a:rPr>
              <a:t>Coordinator and workflow jobs are present as packages in Oozie Bundle. Oozie Bundle lets you execute a particular set of coordinator applications, called a data pipeline. There is no explicit dependency here, but data dependancy can be used to create an implicit data application pipeline.</a:t>
            </a:r>
            <a:endParaRPr sz="1200">
              <a:solidFill>
                <a:srgbClr val="3A3A3A"/>
              </a:solidFill>
              <a:highlight>
                <a:srgbClr val="FFFFFF"/>
              </a:highlight>
            </a:endParaRPr>
          </a:p>
          <a:p>
            <a:pPr indent="0" lvl="0" marL="0" rtl="0" algn="just">
              <a:lnSpc>
                <a:spcPct val="156250"/>
              </a:lnSpc>
              <a:spcBef>
                <a:spcPts val="800"/>
              </a:spcBef>
              <a:spcAft>
                <a:spcPts val="0"/>
              </a:spcAft>
              <a:buClr>
                <a:schemeClr val="dk1"/>
              </a:buClr>
              <a:buSzPts val="1100"/>
              <a:buFont typeface="Arial"/>
              <a:buNone/>
            </a:pPr>
            <a:r>
              <a:rPr lang="en" sz="1200">
                <a:solidFill>
                  <a:srgbClr val="3A3A3A"/>
                </a:solidFill>
                <a:highlight>
                  <a:srgbClr val="FFFFFF"/>
                </a:highlight>
              </a:rPr>
              <a:t>You can start/stop/suspend/resume/rerun Oozie Bundle. It gives a better and easy operational control.</a:t>
            </a:r>
            <a:endParaRPr sz="1200">
              <a:solidFill>
                <a:srgbClr val="3A3A3A"/>
              </a:solidFill>
              <a:highlight>
                <a:srgbClr val="FFFFFF"/>
              </a:highlight>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b11edb6581_0_68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b11edb6581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solidFill>
                  <a:srgbClr val="333333"/>
                </a:solidFill>
                <a:highlight>
                  <a:srgbClr val="FFFFFF"/>
                </a:highlight>
                <a:latin typeface="Verdana"/>
                <a:ea typeface="Verdana"/>
                <a:cs typeface="Verdana"/>
                <a:sym typeface="Verdana"/>
              </a:rPr>
              <a:t>An</a:t>
            </a:r>
            <a:r>
              <a:rPr b="1" lang="en" sz="1000">
                <a:solidFill>
                  <a:srgbClr val="333333"/>
                </a:solidFill>
                <a:highlight>
                  <a:srgbClr val="FFFFFF"/>
                </a:highlight>
                <a:latin typeface="Verdana"/>
                <a:ea typeface="Verdana"/>
                <a:cs typeface="Verdana"/>
                <a:sym typeface="Verdana"/>
              </a:rPr>
              <a:t> Oozie Server</a:t>
            </a:r>
            <a:r>
              <a:rPr lang="en" sz="1000">
                <a:solidFill>
                  <a:srgbClr val="333333"/>
                </a:solidFill>
                <a:highlight>
                  <a:srgbClr val="FFFFFF"/>
                </a:highlight>
                <a:latin typeface="Verdana"/>
                <a:ea typeface="Verdana"/>
                <a:cs typeface="Verdana"/>
                <a:sym typeface="Verdana"/>
              </a:rPr>
              <a:t> is deployed as Java Web Application hosted in a Tomcat server, and all of the stageful information such as workflow definitions, jobs,  etc, are stored in a </a:t>
            </a:r>
            <a:r>
              <a:rPr b="1" lang="en" sz="1000">
                <a:solidFill>
                  <a:srgbClr val="333333"/>
                </a:solidFill>
                <a:highlight>
                  <a:srgbClr val="FFFFFF"/>
                </a:highlight>
                <a:latin typeface="Verdana"/>
                <a:ea typeface="Verdana"/>
                <a:cs typeface="Verdana"/>
                <a:sym typeface="Verdana"/>
              </a:rPr>
              <a:t>database</a:t>
            </a:r>
            <a:r>
              <a:rPr lang="en" sz="1000">
                <a:solidFill>
                  <a:srgbClr val="333333"/>
                </a:solidFill>
                <a:highlight>
                  <a:srgbClr val="FFFFFF"/>
                </a:highlight>
                <a:latin typeface="Verdana"/>
                <a:ea typeface="Verdana"/>
                <a:cs typeface="Verdana"/>
                <a:sym typeface="Verdana"/>
              </a:rPr>
              <a:t>. This database can be either Apache Derby, HSQL, Oracle,  MySQL, or PostgreSQL. There is an</a:t>
            </a:r>
            <a:r>
              <a:rPr b="1" lang="en" sz="1000">
                <a:solidFill>
                  <a:srgbClr val="333333"/>
                </a:solidFill>
                <a:highlight>
                  <a:srgbClr val="FFFFFF"/>
                </a:highlight>
                <a:latin typeface="Verdana"/>
                <a:ea typeface="Verdana"/>
                <a:cs typeface="Verdana"/>
                <a:sym typeface="Verdana"/>
              </a:rPr>
              <a:t> Oozie Client</a:t>
            </a:r>
            <a:r>
              <a:rPr lang="en" sz="1000">
                <a:solidFill>
                  <a:srgbClr val="333333"/>
                </a:solidFill>
                <a:highlight>
                  <a:srgbClr val="FFFFFF"/>
                </a:highlight>
                <a:latin typeface="Verdana"/>
                <a:ea typeface="Verdana"/>
                <a:cs typeface="Verdana"/>
                <a:sym typeface="Verdana"/>
              </a:rPr>
              <a:t>,  which is the client that submits work, either via a CLI, and API,  or a web service / REST.</a:t>
            </a:r>
            <a:endParaRPr sz="1000">
              <a:solidFill>
                <a:srgbClr val="333333"/>
              </a:solidFill>
              <a:highlight>
                <a:srgbClr val="FFFFFF"/>
              </a:highlight>
              <a:latin typeface="Verdana"/>
              <a:ea typeface="Verdana"/>
              <a:cs typeface="Verdana"/>
              <a:sym typeface="Verdana"/>
            </a:endParaRPr>
          </a:p>
          <a:p>
            <a:pPr indent="0" lvl="0" marL="0" rtl="0" algn="l">
              <a:lnSpc>
                <a:spcPct val="115000"/>
              </a:lnSpc>
              <a:spcBef>
                <a:spcPts val="2800"/>
              </a:spcBef>
              <a:spcAft>
                <a:spcPts val="0"/>
              </a:spcAft>
              <a:buNone/>
            </a:pPr>
            <a:r>
              <a:rPr lang="en" sz="1050">
                <a:solidFill>
                  <a:srgbClr val="3B3835"/>
                </a:solidFill>
                <a:highlight>
                  <a:srgbClr val="EEEEEE"/>
                </a:highlight>
                <a:latin typeface="Roboto"/>
                <a:ea typeface="Roboto"/>
                <a:cs typeface="Roboto"/>
                <a:sym typeface="Roboto"/>
              </a:rPr>
              <a:t>● Oozie has client </a:t>
            </a:r>
            <a:endParaRPr sz="1050">
              <a:solidFill>
                <a:srgbClr val="3B3835"/>
              </a:solidFill>
              <a:highlight>
                <a:srgbClr val="EEEEEE"/>
              </a:highlight>
              <a:latin typeface="Roboto"/>
              <a:ea typeface="Roboto"/>
              <a:cs typeface="Roboto"/>
              <a:sym typeface="Roboto"/>
            </a:endParaRPr>
          </a:p>
          <a:p>
            <a:pPr indent="0" lvl="0" marL="0" rtl="0" algn="l">
              <a:lnSpc>
                <a:spcPct val="100000"/>
              </a:lnSpc>
              <a:spcBef>
                <a:spcPts val="0"/>
              </a:spcBef>
              <a:spcAft>
                <a:spcPts val="0"/>
              </a:spcAft>
              <a:buNone/>
            </a:pPr>
            <a:r>
              <a:rPr lang="en" sz="1050">
                <a:solidFill>
                  <a:srgbClr val="3B3835"/>
                </a:solidFill>
                <a:highlight>
                  <a:srgbClr val="EEEEEE"/>
                </a:highlight>
                <a:latin typeface="Roboto"/>
                <a:ea typeface="Roboto"/>
                <a:cs typeface="Roboto"/>
                <a:sym typeface="Roboto"/>
              </a:rPr>
              <a:t>– Launches jobs and talks to server </a:t>
            </a:r>
            <a:endParaRPr sz="1050">
              <a:solidFill>
                <a:srgbClr val="3B3835"/>
              </a:solidFill>
              <a:highlight>
                <a:srgbClr val="EEEEEE"/>
              </a:highlight>
              <a:latin typeface="Roboto"/>
              <a:ea typeface="Roboto"/>
              <a:cs typeface="Roboto"/>
              <a:sym typeface="Roboto"/>
            </a:endParaRPr>
          </a:p>
          <a:p>
            <a:pPr indent="0" lvl="0" marL="0" rtl="0" algn="l">
              <a:lnSpc>
                <a:spcPct val="115000"/>
              </a:lnSpc>
              <a:spcBef>
                <a:spcPts val="0"/>
              </a:spcBef>
              <a:spcAft>
                <a:spcPts val="0"/>
              </a:spcAft>
              <a:buNone/>
            </a:pPr>
            <a:r>
              <a:rPr lang="en" sz="1050">
                <a:solidFill>
                  <a:srgbClr val="3B3835"/>
                </a:solidFill>
                <a:highlight>
                  <a:srgbClr val="EEEEEE"/>
                </a:highlight>
                <a:latin typeface="Roboto"/>
                <a:ea typeface="Roboto"/>
                <a:cs typeface="Roboto"/>
                <a:sym typeface="Roboto"/>
              </a:rPr>
              <a:t>● Ozzie has server </a:t>
            </a:r>
            <a:endParaRPr sz="1050">
              <a:solidFill>
                <a:srgbClr val="3B3835"/>
              </a:solidFill>
              <a:highlight>
                <a:srgbClr val="EEEEEE"/>
              </a:highlight>
              <a:latin typeface="Roboto"/>
              <a:ea typeface="Roboto"/>
              <a:cs typeface="Roboto"/>
              <a:sym typeface="Roboto"/>
            </a:endParaRPr>
          </a:p>
          <a:p>
            <a:pPr indent="0" lvl="0" marL="0" rtl="0" algn="l">
              <a:lnSpc>
                <a:spcPct val="115000"/>
              </a:lnSpc>
              <a:spcBef>
                <a:spcPts val="0"/>
              </a:spcBef>
              <a:spcAft>
                <a:spcPts val="0"/>
              </a:spcAft>
              <a:buNone/>
            </a:pPr>
            <a:r>
              <a:rPr lang="en" sz="1050">
                <a:solidFill>
                  <a:srgbClr val="3B3835"/>
                </a:solidFill>
                <a:highlight>
                  <a:srgbClr val="EEEEEE"/>
                </a:highlight>
                <a:latin typeface="Roboto"/>
                <a:ea typeface="Roboto"/>
                <a:cs typeface="Roboto"/>
                <a:sym typeface="Roboto"/>
              </a:rPr>
              <a:t>– Controls jobs </a:t>
            </a:r>
            <a:endParaRPr sz="1050">
              <a:solidFill>
                <a:srgbClr val="3B3835"/>
              </a:solidFill>
              <a:highlight>
                <a:srgbClr val="EEEEEE"/>
              </a:highlight>
              <a:latin typeface="Roboto"/>
              <a:ea typeface="Roboto"/>
              <a:cs typeface="Roboto"/>
              <a:sym typeface="Roboto"/>
            </a:endParaRPr>
          </a:p>
          <a:p>
            <a:pPr indent="0" lvl="0" marL="0" rtl="0" algn="l">
              <a:lnSpc>
                <a:spcPct val="115000"/>
              </a:lnSpc>
              <a:spcBef>
                <a:spcPts val="0"/>
              </a:spcBef>
              <a:spcAft>
                <a:spcPts val="0"/>
              </a:spcAft>
              <a:buNone/>
            </a:pPr>
            <a:r>
              <a:rPr lang="en" sz="1050">
                <a:solidFill>
                  <a:srgbClr val="3B3835"/>
                </a:solidFill>
                <a:highlight>
                  <a:srgbClr val="EEEEEE"/>
                </a:highlight>
                <a:latin typeface="Roboto"/>
                <a:ea typeface="Roboto"/>
                <a:cs typeface="Roboto"/>
                <a:sym typeface="Roboto"/>
              </a:rPr>
              <a:t>– Launches jobs </a:t>
            </a:r>
            <a:endParaRPr sz="1050">
              <a:solidFill>
                <a:srgbClr val="3B3835"/>
              </a:solidFill>
              <a:highlight>
                <a:srgbClr val="EEEEEE"/>
              </a:highlight>
              <a:latin typeface="Roboto"/>
              <a:ea typeface="Roboto"/>
              <a:cs typeface="Roboto"/>
              <a:sym typeface="Roboto"/>
            </a:endParaRPr>
          </a:p>
          <a:p>
            <a:pPr indent="0" lvl="0" marL="0" rtl="0" algn="l">
              <a:lnSpc>
                <a:spcPct val="115000"/>
              </a:lnSpc>
              <a:spcBef>
                <a:spcPts val="0"/>
              </a:spcBef>
              <a:spcAft>
                <a:spcPts val="0"/>
              </a:spcAft>
              <a:buNone/>
            </a:pPr>
            <a:r>
              <a:rPr lang="en" sz="1050">
                <a:solidFill>
                  <a:srgbClr val="3B3835"/>
                </a:solidFill>
                <a:highlight>
                  <a:srgbClr val="EEEEEE"/>
                </a:highlight>
                <a:latin typeface="Roboto"/>
                <a:ea typeface="Roboto"/>
                <a:cs typeface="Roboto"/>
                <a:sym typeface="Roboto"/>
              </a:rPr>
              <a:t>● Pipelines </a:t>
            </a:r>
            <a:endParaRPr sz="1050">
              <a:solidFill>
                <a:srgbClr val="3B3835"/>
              </a:solidFill>
              <a:highlight>
                <a:srgbClr val="EEEEEE"/>
              </a:highlight>
              <a:latin typeface="Roboto"/>
              <a:ea typeface="Roboto"/>
              <a:cs typeface="Roboto"/>
              <a:sym typeface="Roboto"/>
            </a:endParaRPr>
          </a:p>
          <a:p>
            <a:pPr indent="0" lvl="0" marL="0" rtl="0" algn="l">
              <a:lnSpc>
                <a:spcPct val="115000"/>
              </a:lnSpc>
              <a:spcBef>
                <a:spcPts val="0"/>
              </a:spcBef>
              <a:spcAft>
                <a:spcPts val="0"/>
              </a:spcAft>
              <a:buNone/>
            </a:pPr>
            <a:r>
              <a:rPr lang="en" sz="1050">
                <a:solidFill>
                  <a:srgbClr val="3B3835"/>
                </a:solidFill>
                <a:highlight>
                  <a:srgbClr val="EEEEEE"/>
                </a:highlight>
                <a:latin typeface="Roboto"/>
                <a:ea typeface="Roboto"/>
                <a:cs typeface="Roboto"/>
                <a:sym typeface="Roboto"/>
              </a:rPr>
              <a:t>– Chained workflows </a:t>
            </a:r>
            <a:endParaRPr sz="1050">
              <a:solidFill>
                <a:srgbClr val="3B3835"/>
              </a:solidFill>
              <a:highlight>
                <a:srgbClr val="EEEEEE"/>
              </a:highlight>
              <a:latin typeface="Roboto"/>
              <a:ea typeface="Roboto"/>
              <a:cs typeface="Roboto"/>
              <a:sym typeface="Roboto"/>
            </a:endParaRPr>
          </a:p>
          <a:p>
            <a:pPr indent="0" lvl="0" marL="0" rtl="0" algn="l">
              <a:lnSpc>
                <a:spcPct val="115000"/>
              </a:lnSpc>
              <a:spcBef>
                <a:spcPts val="0"/>
              </a:spcBef>
              <a:spcAft>
                <a:spcPts val="0"/>
              </a:spcAft>
              <a:buNone/>
            </a:pPr>
            <a:r>
              <a:rPr lang="en" sz="1050">
                <a:solidFill>
                  <a:srgbClr val="3B3835"/>
                </a:solidFill>
                <a:highlight>
                  <a:srgbClr val="EEEEEE"/>
                </a:highlight>
                <a:latin typeface="Roboto"/>
                <a:ea typeface="Roboto"/>
                <a:cs typeface="Roboto"/>
                <a:sym typeface="Roboto"/>
              </a:rPr>
              <a:t>– Work flow output </a:t>
            </a:r>
            <a:endParaRPr sz="1050">
              <a:solidFill>
                <a:srgbClr val="3B3835"/>
              </a:solidFill>
              <a:highlight>
                <a:srgbClr val="EEEEEE"/>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1050">
                <a:solidFill>
                  <a:srgbClr val="3B3835"/>
                </a:solidFill>
                <a:highlight>
                  <a:srgbClr val="EEEEEE"/>
                </a:highlight>
                <a:latin typeface="Roboto"/>
                <a:ea typeface="Roboto"/>
                <a:cs typeface="Roboto"/>
                <a:sym typeface="Roboto"/>
              </a:rPr>
              <a:t>– Is input to next</a:t>
            </a:r>
            <a:endParaRPr sz="1000">
              <a:solidFill>
                <a:srgbClr val="333333"/>
              </a:solidFill>
              <a:highlight>
                <a:srgbClr val="FFFFFF"/>
              </a:highlight>
              <a:latin typeface="Verdana"/>
              <a:ea typeface="Verdana"/>
              <a:cs typeface="Verdana"/>
              <a:sym typeface="Verdana"/>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b11edb6581_0_68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b11edb6581_0_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just">
              <a:lnSpc>
                <a:spcPct val="156250"/>
              </a:lnSpc>
              <a:spcBef>
                <a:spcPts val="800"/>
              </a:spcBef>
              <a:spcAft>
                <a:spcPts val="0"/>
              </a:spcAft>
              <a:buClr>
                <a:schemeClr val="dk1"/>
              </a:buClr>
              <a:buSzPts val="1100"/>
              <a:buFont typeface="Arial"/>
              <a:buNone/>
            </a:pPr>
            <a:r>
              <a:rPr lang="en" sz="1200">
                <a:solidFill>
                  <a:srgbClr val="3A3A3A"/>
                </a:solidFill>
                <a:highlight>
                  <a:srgbClr val="FFFFFF"/>
                </a:highlight>
              </a:rPr>
              <a:t>Basically, Oozie is a service that runs in the cluster. Workflow definitions are submitted by the clients for immediate processing. There are two nodes, namely, control-flow nodes and action nodes.</a:t>
            </a:r>
            <a:endParaRPr sz="1200">
              <a:solidFill>
                <a:srgbClr val="3A3A3A"/>
              </a:solidFill>
              <a:highlight>
                <a:srgbClr val="FFFFFF"/>
              </a:highlight>
            </a:endParaRPr>
          </a:p>
          <a:p>
            <a:pPr indent="0" lvl="0" marL="0" rtl="0" algn="just">
              <a:lnSpc>
                <a:spcPct val="156250"/>
              </a:lnSpc>
              <a:spcBef>
                <a:spcPts val="800"/>
              </a:spcBef>
              <a:spcAft>
                <a:spcPts val="0"/>
              </a:spcAft>
              <a:buClr>
                <a:schemeClr val="dk1"/>
              </a:buClr>
              <a:buSzPts val="1100"/>
              <a:buFont typeface="Arial"/>
              <a:buNone/>
            </a:pPr>
            <a:r>
              <a:rPr lang="en" sz="1200">
                <a:solidFill>
                  <a:srgbClr val="3A3A3A"/>
                </a:solidFill>
                <a:highlight>
                  <a:srgbClr val="FFFFFF"/>
                </a:highlight>
              </a:rPr>
              <a:t>The action node is the one representing workflow tasks such as running a MapReduce task, importing data, running a Shell script, etc.</a:t>
            </a:r>
            <a:endParaRPr sz="1200">
              <a:solidFill>
                <a:srgbClr val="3A3A3A"/>
              </a:solidFill>
              <a:highlight>
                <a:srgbClr val="FFFFFF"/>
              </a:highlight>
            </a:endParaRPr>
          </a:p>
          <a:p>
            <a:pPr indent="0" lvl="0" marL="0" rtl="0" algn="just">
              <a:lnSpc>
                <a:spcPct val="156250"/>
              </a:lnSpc>
              <a:spcBef>
                <a:spcPts val="800"/>
              </a:spcBef>
              <a:spcAft>
                <a:spcPts val="0"/>
              </a:spcAft>
              <a:buClr>
                <a:schemeClr val="dk1"/>
              </a:buClr>
              <a:buSzPts val="1100"/>
              <a:buFont typeface="Arial"/>
              <a:buNone/>
            </a:pPr>
            <a:r>
              <a:rPr lang="en" sz="1200">
                <a:solidFill>
                  <a:srgbClr val="3A3A3A"/>
                </a:solidFill>
                <a:highlight>
                  <a:srgbClr val="FFFFFF"/>
                </a:highlight>
              </a:rPr>
              <a:t>Next, the control-flow node is responsible for controlling the workflow execution in between actions. This is done by allowing constructs like conditional logic. The control-flow node includes a start node (used for starting a workflow job), an end node (designating the end of a job), and an error node (pointing to an error if any).</a:t>
            </a:r>
            <a:endParaRPr sz="1200">
              <a:solidFill>
                <a:srgbClr val="3A3A3A"/>
              </a:solidFill>
              <a:highlight>
                <a:srgbClr val="FFFFFF"/>
              </a:highlight>
            </a:endParaRPr>
          </a:p>
          <a:p>
            <a:pPr indent="0" lvl="0" marL="0" rtl="0" algn="just">
              <a:lnSpc>
                <a:spcPct val="156250"/>
              </a:lnSpc>
              <a:spcBef>
                <a:spcPts val="800"/>
              </a:spcBef>
              <a:spcAft>
                <a:spcPts val="0"/>
              </a:spcAft>
              <a:buClr>
                <a:schemeClr val="dk1"/>
              </a:buClr>
              <a:buSzPts val="1100"/>
              <a:buFont typeface="Arial"/>
              <a:buNone/>
            </a:pPr>
            <a:r>
              <a:rPr lang="en" sz="1200">
                <a:solidFill>
                  <a:srgbClr val="3A3A3A"/>
                </a:solidFill>
                <a:highlight>
                  <a:srgbClr val="FFFFFF"/>
                </a:highlight>
              </a:rPr>
              <a:t>At the end of the workflow, HTTP callback is used by Oozie for updating the client with the workflow status.</a:t>
            </a:r>
            <a:endParaRPr sz="1200">
              <a:solidFill>
                <a:srgbClr val="3A3A3A"/>
              </a:solidFill>
              <a:highlight>
                <a:srgbClr val="FFFFFF"/>
              </a:highlight>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b11edb6581_0_69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b11edb6581_0_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rgbClr val="333333"/>
                </a:solidFill>
                <a:highlight>
                  <a:srgbClr val="FFFFFF"/>
                </a:highlight>
                <a:latin typeface="Verdana"/>
                <a:ea typeface="Verdana"/>
                <a:cs typeface="Verdana"/>
                <a:sym typeface="Verdana"/>
              </a:rPr>
              <a:t>An Oozie Workflow , as mentioned, is a workflow of tasks / actions that are to be carried out.</a:t>
            </a:r>
            <a:endParaRPr sz="1000">
              <a:solidFill>
                <a:srgbClr val="333333"/>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rPr lang="en" sz="1000">
                <a:solidFill>
                  <a:srgbClr val="333333"/>
                </a:solidFill>
                <a:highlight>
                  <a:srgbClr val="FFFFFF"/>
                </a:highlight>
                <a:latin typeface="Verdana"/>
                <a:ea typeface="Verdana"/>
                <a:cs typeface="Verdana"/>
                <a:sym typeface="Verdana"/>
              </a:rPr>
              <a:t>Each workflow consists of workflow nodes, which can be of the following types:</a:t>
            </a:r>
            <a:endParaRPr sz="1000">
              <a:solidFill>
                <a:srgbClr val="333333"/>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rPr b="1" lang="en" sz="1000">
                <a:solidFill>
                  <a:srgbClr val="333333"/>
                </a:solidFill>
                <a:highlight>
                  <a:srgbClr val="FFFFFF"/>
                </a:highlight>
                <a:latin typeface="Verdana"/>
                <a:ea typeface="Verdana"/>
                <a:cs typeface="Verdana"/>
                <a:sym typeface="Verdana"/>
              </a:rPr>
              <a:t>Start Control Node </a:t>
            </a:r>
            <a:r>
              <a:rPr lang="en" sz="1000">
                <a:solidFill>
                  <a:srgbClr val="333333"/>
                </a:solidFill>
                <a:highlight>
                  <a:srgbClr val="FFFFFF"/>
                </a:highlight>
                <a:latin typeface="Verdana"/>
                <a:ea typeface="Verdana"/>
                <a:cs typeface="Verdana"/>
                <a:sym typeface="Verdana"/>
              </a:rPr>
              <a:t>which is the starting point of the workflow. Every workflow </a:t>
            </a:r>
            <a:r>
              <a:rPr i="1" lang="en" sz="1000">
                <a:solidFill>
                  <a:srgbClr val="333333"/>
                </a:solidFill>
                <a:highlight>
                  <a:srgbClr val="FFFFFF"/>
                </a:highlight>
                <a:latin typeface="Verdana"/>
                <a:ea typeface="Verdana"/>
                <a:cs typeface="Verdana"/>
                <a:sym typeface="Verdana"/>
              </a:rPr>
              <a:t>must</a:t>
            </a:r>
            <a:r>
              <a:rPr lang="en" sz="1000">
                <a:solidFill>
                  <a:srgbClr val="333333"/>
                </a:solidFill>
                <a:highlight>
                  <a:srgbClr val="FFFFFF"/>
                </a:highlight>
                <a:latin typeface="Verdana"/>
                <a:ea typeface="Verdana"/>
                <a:cs typeface="Verdana"/>
                <a:sym typeface="Verdana"/>
              </a:rPr>
              <a:t> have one Start control node, and Oozie begins the execution of the workflow on that node</a:t>
            </a:r>
            <a:endParaRPr sz="1000">
              <a:solidFill>
                <a:srgbClr val="333333"/>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rPr b="1" lang="en" sz="1000">
                <a:solidFill>
                  <a:srgbClr val="333333"/>
                </a:solidFill>
                <a:highlight>
                  <a:srgbClr val="FFFFFF"/>
                </a:highlight>
                <a:latin typeface="Verdana"/>
                <a:ea typeface="Verdana"/>
                <a:cs typeface="Verdana"/>
                <a:sym typeface="Verdana"/>
              </a:rPr>
              <a:t>End Control Node</a:t>
            </a:r>
            <a:r>
              <a:rPr lang="en" sz="1000">
                <a:solidFill>
                  <a:srgbClr val="333333"/>
                </a:solidFill>
                <a:highlight>
                  <a:srgbClr val="FFFFFF"/>
                </a:highlight>
                <a:latin typeface="Verdana"/>
                <a:ea typeface="Verdana"/>
                <a:cs typeface="Verdana"/>
                <a:sym typeface="Verdana"/>
              </a:rPr>
              <a:t> what goes up must come down, and what starts must have at least one End Control Node. If a workflow makes it this far, it signifies that the workflow executed correctly without error. This generates the status of SUCCEEDED.</a:t>
            </a:r>
            <a:endParaRPr sz="1000">
              <a:solidFill>
                <a:srgbClr val="333333"/>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rPr b="1" lang="en" sz="1000">
                <a:solidFill>
                  <a:srgbClr val="333333"/>
                </a:solidFill>
                <a:highlight>
                  <a:srgbClr val="FFFFFF"/>
                </a:highlight>
                <a:latin typeface="Verdana"/>
                <a:ea typeface="Verdana"/>
                <a:cs typeface="Verdana"/>
                <a:sym typeface="Verdana"/>
              </a:rPr>
              <a:t>Kill Control Node</a:t>
            </a:r>
            <a:r>
              <a:rPr lang="en" sz="1000">
                <a:solidFill>
                  <a:srgbClr val="333333"/>
                </a:solidFill>
                <a:highlight>
                  <a:srgbClr val="FFFFFF"/>
                </a:highlight>
                <a:latin typeface="Verdana"/>
                <a:ea typeface="Verdana"/>
                <a:cs typeface="Verdana"/>
                <a:sym typeface="Verdana"/>
              </a:rPr>
              <a:t> is for the cases where we want to kill the execution of a workflow. This can happen on a branch following a decision, for example, where we want to stop execution in a KILLED state. There can be zero or multiple Kill Control nodes.</a:t>
            </a:r>
            <a:endParaRPr sz="1000">
              <a:solidFill>
                <a:srgbClr val="333333"/>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rPr b="1" lang="en" sz="1000">
                <a:solidFill>
                  <a:srgbClr val="333333"/>
                </a:solidFill>
                <a:highlight>
                  <a:srgbClr val="FFFFFF"/>
                </a:highlight>
                <a:latin typeface="Verdana"/>
                <a:ea typeface="Verdana"/>
                <a:cs typeface="Verdana"/>
                <a:sym typeface="Verdana"/>
              </a:rPr>
              <a:t>Decision Node</a:t>
            </a:r>
            <a:r>
              <a:rPr lang="en" sz="1000">
                <a:solidFill>
                  <a:srgbClr val="333333"/>
                </a:solidFill>
                <a:highlight>
                  <a:srgbClr val="FFFFFF"/>
                </a:highlight>
                <a:latin typeface="Verdana"/>
                <a:ea typeface="Verdana"/>
                <a:cs typeface="Verdana"/>
                <a:sym typeface="Verdana"/>
              </a:rPr>
              <a:t> corresponds to a switch statement or a case statement, and enables a list of predicates to be evaluated to determine flow direction, with a default case. A predicate is a JSP based language expression that returns True or False, so each predicate is evaluated in order and if True, that decision determines the flow direction. There can be zero or multiple Decision nodes.</a:t>
            </a:r>
            <a:endParaRPr sz="1000">
              <a:solidFill>
                <a:srgbClr val="333333"/>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rPr b="1" lang="en" sz="1000">
                <a:solidFill>
                  <a:srgbClr val="333333"/>
                </a:solidFill>
                <a:highlight>
                  <a:srgbClr val="FFFFFF"/>
                </a:highlight>
                <a:latin typeface="Verdana"/>
                <a:ea typeface="Verdana"/>
                <a:cs typeface="Verdana"/>
                <a:sym typeface="Verdana"/>
              </a:rPr>
              <a:t>Fork Node</a:t>
            </a:r>
            <a:r>
              <a:rPr lang="en" sz="1000">
                <a:solidFill>
                  <a:srgbClr val="333333"/>
                </a:solidFill>
                <a:highlight>
                  <a:srgbClr val="FFFFFF"/>
                </a:highlight>
                <a:latin typeface="Verdana"/>
                <a:ea typeface="Verdana"/>
                <a:cs typeface="Verdana"/>
                <a:sym typeface="Verdana"/>
              </a:rPr>
              <a:t> enables one path of execution to be split into multiple paths of execution There can be zero or multiple Fork Nodes.</a:t>
            </a:r>
            <a:endParaRPr sz="1000">
              <a:solidFill>
                <a:srgbClr val="333333"/>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Clr>
                <a:schemeClr val="dk1"/>
              </a:buClr>
              <a:buSzPts val="1100"/>
              <a:buFont typeface="Arial"/>
              <a:buNone/>
            </a:pPr>
            <a:r>
              <a:rPr b="1" lang="en" sz="1000">
                <a:solidFill>
                  <a:srgbClr val="333333"/>
                </a:solidFill>
                <a:highlight>
                  <a:srgbClr val="FFFFFF"/>
                </a:highlight>
                <a:latin typeface="Verdana"/>
                <a:ea typeface="Verdana"/>
                <a:cs typeface="Verdana"/>
                <a:sym typeface="Verdana"/>
              </a:rPr>
              <a:t>Join Node</a:t>
            </a:r>
            <a:r>
              <a:rPr lang="en" sz="1000">
                <a:solidFill>
                  <a:srgbClr val="333333"/>
                </a:solidFill>
                <a:highlight>
                  <a:srgbClr val="FFFFFF"/>
                </a:highlight>
                <a:latin typeface="Verdana"/>
                <a:ea typeface="Verdana"/>
                <a:cs typeface="Verdana"/>
                <a:sym typeface="Verdana"/>
              </a:rPr>
              <a:t> is where the multiple fork node paths of execution rejoin. Workflow processing waits until the join is met by all the paths of a Fork. The Fork and Join nodes are pairs.</a:t>
            </a:r>
            <a:endParaRPr sz="1000">
              <a:solidFill>
                <a:srgbClr val="333333"/>
              </a:solidFill>
              <a:highlight>
                <a:srgbClr val="FFFFFF"/>
              </a:highlight>
              <a:latin typeface="Verdana"/>
              <a:ea typeface="Verdana"/>
              <a:cs typeface="Verdana"/>
              <a:sym typeface="Verdana"/>
            </a:endParaRPr>
          </a:p>
          <a:p>
            <a:pPr indent="0" lvl="0" marL="0" rtl="0" algn="l">
              <a:lnSpc>
                <a:spcPct val="115000"/>
              </a:lnSpc>
              <a:spcBef>
                <a:spcPts val="0"/>
              </a:spcBef>
              <a:spcAft>
                <a:spcPts val="0"/>
              </a:spcAft>
              <a:buNone/>
            </a:pPr>
            <a:r>
              <a:rPr lang="en" sz="1000">
                <a:solidFill>
                  <a:srgbClr val="333333"/>
                </a:solidFill>
                <a:highlight>
                  <a:srgbClr val="FFFFFF"/>
                </a:highlight>
                <a:latin typeface="Verdana"/>
                <a:ea typeface="Verdana"/>
                <a:cs typeface="Verdana"/>
                <a:sym typeface="Verdana"/>
              </a:rPr>
              <a:t>As well as workflow nodes, the Workflow consists of </a:t>
            </a:r>
            <a:r>
              <a:rPr b="1" lang="en" sz="1000">
                <a:solidFill>
                  <a:srgbClr val="333333"/>
                </a:solidFill>
                <a:highlight>
                  <a:srgbClr val="FFFFFF"/>
                </a:highlight>
                <a:latin typeface="Verdana"/>
                <a:ea typeface="Verdana"/>
                <a:cs typeface="Verdana"/>
                <a:sym typeface="Verdana"/>
              </a:rPr>
              <a:t>Action</a:t>
            </a:r>
            <a:r>
              <a:rPr lang="en" sz="1000">
                <a:solidFill>
                  <a:srgbClr val="333333"/>
                </a:solidFill>
                <a:highlight>
                  <a:srgbClr val="FFFFFF"/>
                </a:highlight>
                <a:latin typeface="Verdana"/>
                <a:ea typeface="Verdana"/>
                <a:cs typeface="Verdana"/>
                <a:sym typeface="Verdana"/>
              </a:rPr>
              <a:t> nodes, which are the jobs that need to be executed. When workflow execution arrives in an Action node, it executes the specified Action, and then waits until a callback from the executed process returns before continuing the workflow. Actions can be of the following types:</a:t>
            </a:r>
            <a:endParaRPr sz="1000">
              <a:solidFill>
                <a:srgbClr val="333333"/>
              </a:solidFill>
              <a:highlight>
                <a:srgbClr val="FFFFFF"/>
              </a:highlight>
              <a:latin typeface="Verdana"/>
              <a:ea typeface="Verdana"/>
              <a:cs typeface="Verdana"/>
              <a:sym typeface="Verdana"/>
            </a:endParaRPr>
          </a:p>
          <a:p>
            <a:pPr indent="-292100" lvl="0" marL="457200" rtl="0" algn="l">
              <a:lnSpc>
                <a:spcPct val="115000"/>
              </a:lnSpc>
              <a:spcBef>
                <a:spcPts val="0"/>
              </a:spcBef>
              <a:spcAft>
                <a:spcPts val="0"/>
              </a:spcAft>
              <a:buClr>
                <a:srgbClr val="333333"/>
              </a:buClr>
              <a:buSzPts val="1000"/>
              <a:buFont typeface="Verdana"/>
              <a:buChar char="■"/>
            </a:pPr>
            <a:r>
              <a:rPr lang="en" sz="1000">
                <a:solidFill>
                  <a:srgbClr val="333333"/>
                </a:solidFill>
                <a:highlight>
                  <a:srgbClr val="FFFFFF"/>
                </a:highlight>
                <a:latin typeface="Verdana"/>
                <a:ea typeface="Verdana"/>
                <a:cs typeface="Verdana"/>
                <a:sym typeface="Verdana"/>
              </a:rPr>
              <a:t>Hadoop fs</a:t>
            </a:r>
            <a:endParaRPr sz="1000">
              <a:solidFill>
                <a:srgbClr val="333333"/>
              </a:solidFill>
              <a:highlight>
                <a:srgbClr val="FFFFFF"/>
              </a:highlight>
              <a:latin typeface="Verdana"/>
              <a:ea typeface="Verdana"/>
              <a:cs typeface="Verdana"/>
              <a:sym typeface="Verdana"/>
            </a:endParaRPr>
          </a:p>
          <a:p>
            <a:pPr indent="-292100" lvl="0" marL="457200" rtl="0" algn="l">
              <a:lnSpc>
                <a:spcPct val="115000"/>
              </a:lnSpc>
              <a:spcBef>
                <a:spcPts val="0"/>
              </a:spcBef>
              <a:spcAft>
                <a:spcPts val="0"/>
              </a:spcAft>
              <a:buClr>
                <a:srgbClr val="333333"/>
              </a:buClr>
              <a:buSzPts val="1000"/>
              <a:buFont typeface="Verdana"/>
              <a:buChar char="■"/>
            </a:pPr>
            <a:r>
              <a:rPr lang="en" sz="1000">
                <a:solidFill>
                  <a:srgbClr val="333333"/>
                </a:solidFill>
                <a:highlight>
                  <a:srgbClr val="FFFFFF"/>
                </a:highlight>
                <a:latin typeface="Verdana"/>
                <a:ea typeface="Verdana"/>
                <a:cs typeface="Verdana"/>
                <a:sym typeface="Verdana"/>
              </a:rPr>
              <a:t>map reduce</a:t>
            </a:r>
            <a:endParaRPr sz="1000">
              <a:solidFill>
                <a:srgbClr val="333333"/>
              </a:solidFill>
              <a:highlight>
                <a:srgbClr val="FFFFFF"/>
              </a:highlight>
              <a:latin typeface="Verdana"/>
              <a:ea typeface="Verdana"/>
              <a:cs typeface="Verdana"/>
              <a:sym typeface="Verdana"/>
            </a:endParaRPr>
          </a:p>
          <a:p>
            <a:pPr indent="-292100" lvl="0" marL="457200" rtl="0" algn="l">
              <a:lnSpc>
                <a:spcPct val="115000"/>
              </a:lnSpc>
              <a:spcBef>
                <a:spcPts val="0"/>
              </a:spcBef>
              <a:spcAft>
                <a:spcPts val="0"/>
              </a:spcAft>
              <a:buClr>
                <a:srgbClr val="333333"/>
              </a:buClr>
              <a:buSzPts val="1000"/>
              <a:buFont typeface="Verdana"/>
              <a:buChar char="■"/>
            </a:pPr>
            <a:r>
              <a:rPr lang="en" sz="1000">
                <a:solidFill>
                  <a:srgbClr val="333333"/>
                </a:solidFill>
                <a:highlight>
                  <a:srgbClr val="FFFFFF"/>
                </a:highlight>
                <a:latin typeface="Verdana"/>
                <a:ea typeface="Verdana"/>
                <a:cs typeface="Verdana"/>
                <a:sym typeface="Verdana"/>
              </a:rPr>
              <a:t>ssh</a:t>
            </a:r>
            <a:endParaRPr sz="1000">
              <a:solidFill>
                <a:srgbClr val="333333"/>
              </a:solidFill>
              <a:highlight>
                <a:srgbClr val="FFFFFF"/>
              </a:highlight>
              <a:latin typeface="Verdana"/>
              <a:ea typeface="Verdana"/>
              <a:cs typeface="Verdana"/>
              <a:sym typeface="Verdana"/>
            </a:endParaRPr>
          </a:p>
          <a:p>
            <a:pPr indent="-292100" lvl="0" marL="457200" rtl="0" algn="l">
              <a:lnSpc>
                <a:spcPct val="115000"/>
              </a:lnSpc>
              <a:spcBef>
                <a:spcPts val="0"/>
              </a:spcBef>
              <a:spcAft>
                <a:spcPts val="0"/>
              </a:spcAft>
              <a:buClr>
                <a:srgbClr val="333333"/>
              </a:buClr>
              <a:buSzPts val="1000"/>
              <a:buFont typeface="Verdana"/>
              <a:buChar char="■"/>
            </a:pPr>
            <a:r>
              <a:rPr lang="en" sz="1000">
                <a:solidFill>
                  <a:srgbClr val="333333"/>
                </a:solidFill>
                <a:highlight>
                  <a:srgbClr val="FFFFFF"/>
                </a:highlight>
                <a:latin typeface="Verdana"/>
                <a:ea typeface="Verdana"/>
                <a:cs typeface="Verdana"/>
                <a:sym typeface="Verdana"/>
              </a:rPr>
              <a:t>pig</a:t>
            </a:r>
            <a:endParaRPr sz="1000">
              <a:solidFill>
                <a:srgbClr val="333333"/>
              </a:solidFill>
              <a:highlight>
                <a:srgbClr val="FFFFFF"/>
              </a:highlight>
              <a:latin typeface="Verdana"/>
              <a:ea typeface="Verdana"/>
              <a:cs typeface="Verdana"/>
              <a:sym typeface="Verdana"/>
            </a:endParaRPr>
          </a:p>
          <a:p>
            <a:pPr indent="-292100" lvl="0" marL="457200" rtl="0" algn="l">
              <a:lnSpc>
                <a:spcPct val="115000"/>
              </a:lnSpc>
              <a:spcBef>
                <a:spcPts val="0"/>
              </a:spcBef>
              <a:spcAft>
                <a:spcPts val="0"/>
              </a:spcAft>
              <a:buClr>
                <a:srgbClr val="333333"/>
              </a:buClr>
              <a:buSzPts val="1000"/>
              <a:buFont typeface="Verdana"/>
              <a:buChar char="■"/>
            </a:pPr>
            <a:r>
              <a:rPr lang="en" sz="1000">
                <a:solidFill>
                  <a:srgbClr val="333333"/>
                </a:solidFill>
                <a:highlight>
                  <a:srgbClr val="FFFFFF"/>
                </a:highlight>
                <a:latin typeface="Verdana"/>
                <a:ea typeface="Verdana"/>
                <a:cs typeface="Verdana"/>
                <a:sym typeface="Verdana"/>
              </a:rPr>
              <a:t>hive</a:t>
            </a:r>
            <a:endParaRPr sz="1000">
              <a:solidFill>
                <a:srgbClr val="333333"/>
              </a:solidFill>
              <a:highlight>
                <a:srgbClr val="FFFFFF"/>
              </a:highlight>
              <a:latin typeface="Verdana"/>
              <a:ea typeface="Verdana"/>
              <a:cs typeface="Verdana"/>
              <a:sym typeface="Verdana"/>
            </a:endParaRPr>
          </a:p>
          <a:p>
            <a:pPr indent="-292100" lvl="0" marL="457200" rtl="0" algn="l">
              <a:lnSpc>
                <a:spcPct val="115000"/>
              </a:lnSpc>
              <a:spcBef>
                <a:spcPts val="0"/>
              </a:spcBef>
              <a:spcAft>
                <a:spcPts val="0"/>
              </a:spcAft>
              <a:buClr>
                <a:srgbClr val="333333"/>
              </a:buClr>
              <a:buSzPts val="1000"/>
              <a:buFont typeface="Verdana"/>
              <a:buChar char="■"/>
            </a:pPr>
            <a:r>
              <a:rPr lang="en" sz="1000">
                <a:solidFill>
                  <a:srgbClr val="333333"/>
                </a:solidFill>
                <a:highlight>
                  <a:srgbClr val="FFFFFF"/>
                </a:highlight>
                <a:latin typeface="Verdana"/>
                <a:ea typeface="Verdana"/>
                <a:cs typeface="Verdana"/>
                <a:sym typeface="Verdana"/>
              </a:rPr>
              <a:t>sqoop</a:t>
            </a:r>
            <a:endParaRPr sz="1000">
              <a:solidFill>
                <a:srgbClr val="333333"/>
              </a:solidFill>
              <a:highlight>
                <a:srgbClr val="FFFFFF"/>
              </a:highlight>
              <a:latin typeface="Verdana"/>
              <a:ea typeface="Verdana"/>
              <a:cs typeface="Verdana"/>
              <a:sym typeface="Verdana"/>
            </a:endParaRPr>
          </a:p>
          <a:p>
            <a:pPr indent="-292100" lvl="0" marL="457200" rtl="0" algn="l">
              <a:lnSpc>
                <a:spcPct val="115000"/>
              </a:lnSpc>
              <a:spcBef>
                <a:spcPts val="0"/>
              </a:spcBef>
              <a:spcAft>
                <a:spcPts val="0"/>
              </a:spcAft>
              <a:buClr>
                <a:srgbClr val="333333"/>
              </a:buClr>
              <a:buSzPts val="1000"/>
              <a:buFont typeface="Verdana"/>
              <a:buChar char="■"/>
            </a:pPr>
            <a:r>
              <a:rPr lang="en" sz="1000">
                <a:solidFill>
                  <a:srgbClr val="333333"/>
                </a:solidFill>
                <a:highlight>
                  <a:srgbClr val="FFFFFF"/>
                </a:highlight>
                <a:latin typeface="Verdana"/>
                <a:ea typeface="Verdana"/>
                <a:cs typeface="Verdana"/>
                <a:sym typeface="Verdana"/>
              </a:rPr>
              <a:t>distcp</a:t>
            </a:r>
            <a:endParaRPr sz="1000">
              <a:solidFill>
                <a:srgbClr val="333333"/>
              </a:solidFill>
              <a:highlight>
                <a:srgbClr val="FFFFFF"/>
              </a:highlight>
              <a:latin typeface="Verdana"/>
              <a:ea typeface="Verdana"/>
              <a:cs typeface="Verdana"/>
              <a:sym typeface="Verdana"/>
            </a:endParaRPr>
          </a:p>
          <a:p>
            <a:pPr indent="-292100" lvl="0" marL="457200" rtl="0" algn="l">
              <a:lnSpc>
                <a:spcPct val="115000"/>
              </a:lnSpc>
              <a:spcBef>
                <a:spcPts val="0"/>
              </a:spcBef>
              <a:spcAft>
                <a:spcPts val="0"/>
              </a:spcAft>
              <a:buClr>
                <a:srgbClr val="333333"/>
              </a:buClr>
              <a:buSzPts val="1000"/>
              <a:buFont typeface="Verdana"/>
              <a:buChar char="■"/>
            </a:pPr>
            <a:r>
              <a:rPr lang="en" sz="1000">
                <a:solidFill>
                  <a:srgbClr val="333333"/>
                </a:solidFill>
                <a:highlight>
                  <a:srgbClr val="FFFFFF"/>
                </a:highlight>
                <a:latin typeface="Verdana"/>
                <a:ea typeface="Verdana"/>
                <a:cs typeface="Verdana"/>
                <a:sym typeface="Verdana"/>
              </a:rPr>
              <a:t>email</a:t>
            </a:r>
            <a:endParaRPr sz="1000">
              <a:solidFill>
                <a:srgbClr val="333333"/>
              </a:solidFill>
              <a:highlight>
                <a:srgbClr val="FFFFFF"/>
              </a:highlight>
              <a:latin typeface="Verdana"/>
              <a:ea typeface="Verdana"/>
              <a:cs typeface="Verdana"/>
              <a:sym typeface="Verdana"/>
            </a:endParaRPr>
          </a:p>
          <a:p>
            <a:pPr indent="-292100" lvl="0" marL="457200" rtl="0" algn="l">
              <a:lnSpc>
                <a:spcPct val="115000"/>
              </a:lnSpc>
              <a:spcBef>
                <a:spcPts val="0"/>
              </a:spcBef>
              <a:spcAft>
                <a:spcPts val="0"/>
              </a:spcAft>
              <a:buClr>
                <a:srgbClr val="333333"/>
              </a:buClr>
              <a:buSzPts val="1000"/>
              <a:buFont typeface="Verdana"/>
              <a:buChar char="■"/>
            </a:pPr>
            <a:r>
              <a:rPr lang="en" sz="1000">
                <a:solidFill>
                  <a:srgbClr val="333333"/>
                </a:solidFill>
                <a:highlight>
                  <a:srgbClr val="FFFFFF"/>
                </a:highlight>
                <a:latin typeface="Verdana"/>
                <a:ea typeface="Verdana"/>
                <a:cs typeface="Verdana"/>
                <a:sym typeface="Verdana"/>
              </a:rPr>
              <a:t>http</a:t>
            </a:r>
            <a:endParaRPr sz="1000">
              <a:solidFill>
                <a:srgbClr val="333333"/>
              </a:solidFill>
              <a:highlight>
                <a:srgbClr val="FFFFFF"/>
              </a:highlight>
              <a:latin typeface="Verdana"/>
              <a:ea typeface="Verdana"/>
              <a:cs typeface="Verdana"/>
              <a:sym typeface="Verdana"/>
            </a:endParaRPr>
          </a:p>
          <a:p>
            <a:pPr indent="-292100" lvl="0" marL="457200" rtl="0" algn="l">
              <a:lnSpc>
                <a:spcPct val="115000"/>
              </a:lnSpc>
              <a:spcBef>
                <a:spcPts val="0"/>
              </a:spcBef>
              <a:spcAft>
                <a:spcPts val="0"/>
              </a:spcAft>
              <a:buClr>
                <a:srgbClr val="333333"/>
              </a:buClr>
              <a:buSzPts val="1000"/>
              <a:buFont typeface="Verdana"/>
              <a:buChar char="■"/>
            </a:pPr>
            <a:r>
              <a:rPr lang="en" sz="1000">
                <a:solidFill>
                  <a:srgbClr val="333333"/>
                </a:solidFill>
                <a:highlight>
                  <a:srgbClr val="FFFFFF"/>
                </a:highlight>
                <a:latin typeface="Verdana"/>
                <a:ea typeface="Verdana"/>
                <a:cs typeface="Verdana"/>
                <a:sym typeface="Verdana"/>
              </a:rPr>
              <a:t>custom action</a:t>
            </a:r>
            <a:endParaRPr sz="1000">
              <a:solidFill>
                <a:srgbClr val="333333"/>
              </a:solidFill>
              <a:highlight>
                <a:srgbClr val="FFFFFF"/>
              </a:highlight>
              <a:latin typeface="Verdana"/>
              <a:ea typeface="Verdana"/>
              <a:cs typeface="Verdana"/>
              <a:sym typeface="Verdana"/>
            </a:endParaRPr>
          </a:p>
          <a:p>
            <a:pPr indent="0" lvl="0" marL="0" rtl="0" algn="l">
              <a:spcBef>
                <a:spcPts val="19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b11edb6581_0_72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b11edb6581_0_7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b11edb6581_0_71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b11edb6581_0_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b11edb6581_0_70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b11edb6581_0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oozie.apache.org/" TargetMode="External"/><Relationship Id="rId4" Type="http://schemas.openxmlformats.org/officeDocument/2006/relationships/hyperlink" Target="https://www.tutorialspoint.com/apache_oozie/" TargetMode="External"/><Relationship Id="rId5" Type="http://schemas.openxmlformats.org/officeDocument/2006/relationships/hyperlink" Target="https://www.guru99.com/learn-oozie-in-5-minutes"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470825" y="1295300"/>
            <a:ext cx="3924300" cy="89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Apache Oozie</a:t>
            </a:r>
            <a:endParaRPr/>
          </a:p>
        </p:txBody>
      </p:sp>
      <p:sp>
        <p:nvSpPr>
          <p:cNvPr id="135" name="Google Shape;135;p13"/>
          <p:cNvSpPr txBox="1"/>
          <p:nvPr>
            <p:ph idx="1" type="subTitle"/>
          </p:nvPr>
        </p:nvSpPr>
        <p:spPr>
          <a:xfrm>
            <a:off x="4740300" y="3793650"/>
            <a:ext cx="4403700" cy="8973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sz="2100"/>
              <a:t>Arpan Sapkota          [097-BCT-2073]</a:t>
            </a:r>
            <a:endParaRPr sz="2100"/>
          </a:p>
          <a:p>
            <a:pPr indent="0" lvl="0" marL="0" rtl="0" algn="r">
              <a:spcBef>
                <a:spcPts val="0"/>
              </a:spcBef>
              <a:spcAft>
                <a:spcPts val="0"/>
              </a:spcAft>
              <a:buNone/>
            </a:pPr>
            <a:r>
              <a:rPr lang="en" sz="2100"/>
              <a:t>Nischal Pokharel     [115-BCT-2073]</a:t>
            </a:r>
            <a:endParaRPr sz="2100"/>
          </a:p>
        </p:txBody>
      </p:sp>
      <p:pic>
        <p:nvPicPr>
          <p:cNvPr id="136" name="Google Shape;136;p13"/>
          <p:cNvPicPr preferRelativeResize="0"/>
          <p:nvPr/>
        </p:nvPicPr>
        <p:blipFill>
          <a:blip r:embed="rId3">
            <a:alphaModFix/>
          </a:blip>
          <a:stretch>
            <a:fillRect/>
          </a:stretch>
        </p:blipFill>
        <p:spPr>
          <a:xfrm>
            <a:off x="5037150" y="2251675"/>
            <a:ext cx="3810000" cy="1986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4"/>
          <p:cNvSpPr txBox="1"/>
          <p:nvPr>
            <p:ph type="title"/>
          </p:nvPr>
        </p:nvSpPr>
        <p:spPr>
          <a:xfrm>
            <a:off x="1218125" y="161975"/>
            <a:ext cx="4731000" cy="73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Comfortaa"/>
                <a:ea typeface="Comfortaa"/>
                <a:cs typeface="Comfortaa"/>
                <a:sym typeface="Comfortaa"/>
              </a:rPr>
              <a:t>Introduction to Oozie</a:t>
            </a:r>
            <a:endParaRPr b="1" sz="3000">
              <a:latin typeface="Comfortaa"/>
              <a:ea typeface="Comfortaa"/>
              <a:cs typeface="Comfortaa"/>
              <a:sym typeface="Comfortaa"/>
            </a:endParaRPr>
          </a:p>
        </p:txBody>
      </p:sp>
      <p:sp>
        <p:nvSpPr>
          <p:cNvPr id="142" name="Google Shape;142;p14"/>
          <p:cNvSpPr txBox="1"/>
          <p:nvPr>
            <p:ph idx="1" type="body"/>
          </p:nvPr>
        </p:nvSpPr>
        <p:spPr>
          <a:xfrm>
            <a:off x="1218125" y="964400"/>
            <a:ext cx="7038900" cy="31416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Char char="●"/>
            </a:pPr>
            <a:r>
              <a:rPr lang="en" sz="2000"/>
              <a:t>Workflow</a:t>
            </a:r>
            <a:r>
              <a:rPr lang="en" sz="2000"/>
              <a:t> scheduler for Hadoop</a:t>
            </a:r>
            <a:endParaRPr sz="2000"/>
          </a:p>
          <a:p>
            <a:pPr indent="-355600" lvl="0" marL="457200" rtl="0" algn="l">
              <a:lnSpc>
                <a:spcPct val="115000"/>
              </a:lnSpc>
              <a:spcBef>
                <a:spcPts val="0"/>
              </a:spcBef>
              <a:spcAft>
                <a:spcPts val="0"/>
              </a:spcAft>
              <a:buSzPts val="2000"/>
              <a:buChar char="●"/>
            </a:pPr>
            <a:r>
              <a:rPr lang="en" sz="2000"/>
              <a:t>Manages Hadoop Jobs</a:t>
            </a:r>
            <a:endParaRPr sz="2000"/>
          </a:p>
          <a:p>
            <a:pPr indent="-355600" lvl="0" marL="457200" rtl="0" algn="l">
              <a:lnSpc>
                <a:spcPct val="115000"/>
              </a:lnSpc>
              <a:spcBef>
                <a:spcPts val="0"/>
              </a:spcBef>
              <a:spcAft>
                <a:spcPts val="0"/>
              </a:spcAft>
              <a:buSzPts val="2000"/>
              <a:buChar char="●"/>
            </a:pPr>
            <a:r>
              <a:rPr lang="en" sz="2000"/>
              <a:t>Integrated with many Hadoop apps i.e. Pig </a:t>
            </a:r>
            <a:endParaRPr sz="2000"/>
          </a:p>
          <a:p>
            <a:pPr indent="-355600" lvl="0" marL="457200" rtl="0" algn="l">
              <a:lnSpc>
                <a:spcPct val="115000"/>
              </a:lnSpc>
              <a:spcBef>
                <a:spcPts val="0"/>
              </a:spcBef>
              <a:spcAft>
                <a:spcPts val="0"/>
              </a:spcAft>
              <a:buSzPts val="2000"/>
              <a:buChar char="●"/>
            </a:pPr>
            <a:r>
              <a:rPr lang="en" sz="2000"/>
              <a:t>Scaleable</a:t>
            </a:r>
            <a:endParaRPr sz="2000"/>
          </a:p>
          <a:p>
            <a:pPr indent="-355600" lvl="0" marL="457200" rtl="0" algn="l">
              <a:lnSpc>
                <a:spcPct val="115000"/>
              </a:lnSpc>
              <a:spcBef>
                <a:spcPts val="0"/>
              </a:spcBef>
              <a:spcAft>
                <a:spcPts val="0"/>
              </a:spcAft>
              <a:buSzPts val="2000"/>
              <a:buChar char="●"/>
            </a:pPr>
            <a:r>
              <a:rPr lang="en" sz="2000"/>
              <a:t>Schedule jobs </a:t>
            </a:r>
            <a:endParaRPr sz="2000"/>
          </a:p>
          <a:p>
            <a:pPr indent="-355600" lvl="0" marL="457200" rtl="0" algn="l">
              <a:lnSpc>
                <a:spcPct val="100000"/>
              </a:lnSpc>
              <a:spcBef>
                <a:spcPts val="0"/>
              </a:spcBef>
              <a:spcAft>
                <a:spcPts val="0"/>
              </a:spcAft>
              <a:buSzPts val="2000"/>
              <a:buChar char="●"/>
            </a:pPr>
            <a:r>
              <a:rPr lang="en" sz="2000"/>
              <a:t>A workflow is a collection of actions i.e. </a:t>
            </a:r>
            <a:endParaRPr sz="2000"/>
          </a:p>
          <a:p>
            <a:pPr indent="-355600" lvl="0" marL="457200" rtl="0" algn="l">
              <a:lnSpc>
                <a:spcPct val="115000"/>
              </a:lnSpc>
              <a:spcBef>
                <a:spcPts val="0"/>
              </a:spcBef>
              <a:spcAft>
                <a:spcPts val="0"/>
              </a:spcAft>
              <a:buSzPts val="2000"/>
              <a:buChar char="●"/>
            </a:pPr>
            <a:r>
              <a:rPr lang="en" sz="2000"/>
              <a:t>      – map/reduce, pig, hfs </a:t>
            </a:r>
            <a:endParaRPr sz="2000"/>
          </a:p>
          <a:p>
            <a:pPr indent="-355600" lvl="0" marL="457200" rtl="0" algn="l">
              <a:lnSpc>
                <a:spcPct val="100000"/>
              </a:lnSpc>
              <a:spcBef>
                <a:spcPts val="0"/>
              </a:spcBef>
              <a:spcAft>
                <a:spcPts val="0"/>
              </a:spcAft>
              <a:buSzPts val="2000"/>
              <a:buChar char="●"/>
            </a:pPr>
            <a:r>
              <a:rPr lang="en" sz="2000"/>
              <a:t>A work flow is  </a:t>
            </a:r>
            <a:endParaRPr sz="2000"/>
          </a:p>
          <a:p>
            <a:pPr indent="0" lvl="0" marL="457200" rtl="0" algn="l">
              <a:lnSpc>
                <a:spcPct val="100000"/>
              </a:lnSpc>
              <a:spcBef>
                <a:spcPts val="0"/>
              </a:spcBef>
              <a:spcAft>
                <a:spcPts val="0"/>
              </a:spcAft>
              <a:buNone/>
            </a:pPr>
            <a:r>
              <a:rPr lang="en" sz="2000"/>
              <a:t>      – Arranged as a DAG ( Direct Acyclic Graph ) </a:t>
            </a:r>
            <a:endParaRPr sz="2000"/>
          </a:p>
          <a:p>
            <a:pPr indent="0" lvl="0" marL="457200" rtl="0" algn="l">
              <a:spcBef>
                <a:spcPts val="0"/>
              </a:spcBef>
              <a:spcAft>
                <a:spcPts val="1600"/>
              </a:spcAft>
              <a:buNone/>
            </a:pPr>
            <a:r>
              <a:rPr lang="en" sz="2000"/>
              <a:t>      – Graph stored as hPDL ( XML process definition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5"/>
          <p:cNvSpPr txBox="1"/>
          <p:nvPr>
            <p:ph type="title"/>
          </p:nvPr>
        </p:nvSpPr>
        <p:spPr>
          <a:xfrm>
            <a:off x="1218125" y="161975"/>
            <a:ext cx="4731000" cy="73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Comfortaa"/>
                <a:ea typeface="Comfortaa"/>
                <a:cs typeface="Comfortaa"/>
                <a:sym typeface="Comfortaa"/>
              </a:rPr>
              <a:t>Why </a:t>
            </a:r>
            <a:r>
              <a:rPr b="1" lang="en" sz="3000">
                <a:latin typeface="Comfortaa"/>
                <a:ea typeface="Comfortaa"/>
                <a:cs typeface="Comfortaa"/>
                <a:sym typeface="Comfortaa"/>
              </a:rPr>
              <a:t>Oozie is Used ?</a:t>
            </a:r>
            <a:endParaRPr b="1" sz="3000">
              <a:latin typeface="Comfortaa"/>
              <a:ea typeface="Comfortaa"/>
              <a:cs typeface="Comfortaa"/>
              <a:sym typeface="Comfortaa"/>
            </a:endParaRPr>
          </a:p>
        </p:txBody>
      </p:sp>
      <p:sp>
        <p:nvSpPr>
          <p:cNvPr id="148" name="Google Shape;148;p15"/>
          <p:cNvSpPr txBox="1"/>
          <p:nvPr>
            <p:ph idx="1" type="body"/>
          </p:nvPr>
        </p:nvSpPr>
        <p:spPr>
          <a:xfrm>
            <a:off x="1218125" y="1302425"/>
            <a:ext cx="7446900" cy="3022800"/>
          </a:xfrm>
          <a:prstGeom prst="rect">
            <a:avLst/>
          </a:prstGeom>
        </p:spPr>
        <p:txBody>
          <a:bodyPr anchorCtr="0" anchor="t" bIns="91425" lIns="91425" spcFirstLastPara="1" rIns="91425" wrap="square" tIns="91425">
            <a:noAutofit/>
          </a:bodyPr>
          <a:lstStyle/>
          <a:p>
            <a:pPr indent="-368300" lvl="0" marL="457200" rtl="0" algn="l">
              <a:lnSpc>
                <a:spcPct val="115000"/>
              </a:lnSpc>
              <a:spcBef>
                <a:spcPts val="0"/>
              </a:spcBef>
              <a:spcAft>
                <a:spcPts val="0"/>
              </a:spcAft>
              <a:buSzPts val="2200"/>
              <a:buChar char="●"/>
            </a:pPr>
            <a:r>
              <a:rPr lang="en" sz="2200"/>
              <a:t>Workflow scheduler for Hadoop</a:t>
            </a:r>
            <a:endParaRPr sz="2200"/>
          </a:p>
          <a:p>
            <a:pPr indent="-368300" lvl="0" marL="457200" rtl="0" algn="l">
              <a:lnSpc>
                <a:spcPct val="115000"/>
              </a:lnSpc>
              <a:spcBef>
                <a:spcPts val="0"/>
              </a:spcBef>
              <a:spcAft>
                <a:spcPts val="0"/>
              </a:spcAft>
              <a:buSzPts val="2200"/>
              <a:buChar char="●"/>
            </a:pPr>
            <a:r>
              <a:rPr lang="en" sz="2200"/>
              <a:t>It is designed for Hadoop</a:t>
            </a:r>
            <a:endParaRPr sz="2200"/>
          </a:p>
          <a:p>
            <a:pPr indent="-368300" lvl="0" marL="457200" rtl="0" algn="l">
              <a:lnSpc>
                <a:spcPct val="115000"/>
              </a:lnSpc>
              <a:spcBef>
                <a:spcPts val="0"/>
              </a:spcBef>
              <a:spcAft>
                <a:spcPts val="0"/>
              </a:spcAft>
              <a:buSzPts val="2200"/>
              <a:buChar char="●"/>
            </a:pPr>
            <a:r>
              <a:rPr lang="en" sz="2200"/>
              <a:t>It is open source</a:t>
            </a:r>
            <a:endParaRPr sz="2200"/>
          </a:p>
          <a:p>
            <a:pPr indent="-368300" lvl="0" marL="457200" rtl="0" algn="l">
              <a:lnSpc>
                <a:spcPct val="115000"/>
              </a:lnSpc>
              <a:spcBef>
                <a:spcPts val="0"/>
              </a:spcBef>
              <a:spcAft>
                <a:spcPts val="0"/>
              </a:spcAft>
              <a:buSzPts val="2200"/>
              <a:buChar char="●"/>
            </a:pPr>
            <a:r>
              <a:rPr lang="en" sz="2200"/>
              <a:t>It is designed for big data </a:t>
            </a:r>
            <a:endParaRPr sz="2200"/>
          </a:p>
          <a:p>
            <a:pPr indent="-368300" lvl="0" marL="457200" rtl="0" algn="l">
              <a:lnSpc>
                <a:spcPct val="115000"/>
              </a:lnSpc>
              <a:spcBef>
                <a:spcPts val="0"/>
              </a:spcBef>
              <a:spcAft>
                <a:spcPts val="0"/>
              </a:spcAft>
              <a:buSzPts val="2200"/>
              <a:buChar char="●"/>
            </a:pPr>
            <a:r>
              <a:rPr lang="en" sz="2200"/>
              <a:t>It allows us to design task workflow </a:t>
            </a:r>
            <a:endParaRPr sz="2200"/>
          </a:p>
          <a:p>
            <a:pPr indent="-368300" lvl="0" marL="457200" rtl="0" algn="l">
              <a:lnSpc>
                <a:spcPct val="115000"/>
              </a:lnSpc>
              <a:spcBef>
                <a:spcPts val="0"/>
              </a:spcBef>
              <a:spcAft>
                <a:spcPts val="0"/>
              </a:spcAft>
              <a:buSzPts val="2200"/>
              <a:buChar char="●"/>
            </a:pPr>
            <a:r>
              <a:rPr lang="en" sz="2200"/>
              <a:t>It allows you to interact with jobs – Stop, start, suspend, resume</a:t>
            </a: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6"/>
          <p:cNvSpPr txBox="1"/>
          <p:nvPr>
            <p:ph type="title"/>
          </p:nvPr>
        </p:nvSpPr>
        <p:spPr>
          <a:xfrm>
            <a:off x="1218125" y="161975"/>
            <a:ext cx="4731000" cy="73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Comfortaa"/>
                <a:ea typeface="Comfortaa"/>
                <a:cs typeface="Comfortaa"/>
                <a:sym typeface="Comfortaa"/>
              </a:rPr>
              <a:t>Types of Oozie Jobs</a:t>
            </a:r>
            <a:endParaRPr b="1" sz="3000">
              <a:latin typeface="Comfortaa"/>
              <a:ea typeface="Comfortaa"/>
              <a:cs typeface="Comfortaa"/>
              <a:sym typeface="Comfortaa"/>
            </a:endParaRPr>
          </a:p>
        </p:txBody>
      </p:sp>
      <p:sp>
        <p:nvSpPr>
          <p:cNvPr id="154" name="Google Shape;154;p16"/>
          <p:cNvSpPr txBox="1"/>
          <p:nvPr>
            <p:ph idx="1" type="body"/>
          </p:nvPr>
        </p:nvSpPr>
        <p:spPr>
          <a:xfrm>
            <a:off x="1218125" y="966350"/>
            <a:ext cx="7038900" cy="28035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AutoNum type="arabicPeriod"/>
            </a:pPr>
            <a:r>
              <a:rPr b="1" lang="en" sz="2000"/>
              <a:t>Oozie Workflow Jobs </a:t>
            </a:r>
            <a:endParaRPr b="1" sz="2000"/>
          </a:p>
          <a:p>
            <a:pPr indent="0" lvl="0" marL="457200" rtl="0" algn="l">
              <a:lnSpc>
                <a:spcPct val="115000"/>
              </a:lnSpc>
              <a:spcBef>
                <a:spcPts val="0"/>
              </a:spcBef>
              <a:spcAft>
                <a:spcPts val="0"/>
              </a:spcAft>
              <a:buNone/>
            </a:pPr>
            <a:r>
              <a:rPr lang="en" sz="2000"/>
              <a:t>These are represented as Directed Acyclic Graphs (DAGs) to specify a sequence of actions to be executed.</a:t>
            </a:r>
            <a:endParaRPr sz="2000"/>
          </a:p>
          <a:p>
            <a:pPr indent="-355600" lvl="0" marL="457200" rtl="0" algn="l">
              <a:lnSpc>
                <a:spcPct val="115000"/>
              </a:lnSpc>
              <a:spcBef>
                <a:spcPts val="1600"/>
              </a:spcBef>
              <a:spcAft>
                <a:spcPts val="0"/>
              </a:spcAft>
              <a:buSzPts val="2000"/>
              <a:buAutoNum type="arabicPeriod"/>
            </a:pPr>
            <a:r>
              <a:rPr b="1" lang="en" sz="2000"/>
              <a:t>Oozie Coordinator Jobs</a:t>
            </a:r>
            <a:endParaRPr b="1" sz="2000"/>
          </a:p>
          <a:p>
            <a:pPr indent="0" lvl="0" marL="457200" rtl="0" algn="l">
              <a:lnSpc>
                <a:spcPct val="115000"/>
              </a:lnSpc>
              <a:spcBef>
                <a:spcPts val="0"/>
              </a:spcBef>
              <a:spcAft>
                <a:spcPts val="0"/>
              </a:spcAft>
              <a:buNone/>
            </a:pPr>
            <a:r>
              <a:rPr lang="en" sz="2000"/>
              <a:t>These consist of workflow jobs triggered by time and data availability.</a:t>
            </a:r>
            <a:endParaRPr sz="2000"/>
          </a:p>
          <a:p>
            <a:pPr indent="-355600" lvl="0" marL="457200" rtl="0" algn="l">
              <a:lnSpc>
                <a:spcPct val="115000"/>
              </a:lnSpc>
              <a:spcBef>
                <a:spcPts val="1600"/>
              </a:spcBef>
              <a:spcAft>
                <a:spcPts val="0"/>
              </a:spcAft>
              <a:buSzPts val="2000"/>
              <a:buAutoNum type="arabicPeriod"/>
            </a:pPr>
            <a:r>
              <a:rPr b="1" lang="en" sz="2000"/>
              <a:t>Oozie Bundle</a:t>
            </a:r>
            <a:endParaRPr b="1" sz="2000"/>
          </a:p>
          <a:p>
            <a:pPr indent="0" lvl="0" marL="457200" rtl="0" algn="l">
              <a:lnSpc>
                <a:spcPct val="115000"/>
              </a:lnSpc>
              <a:spcBef>
                <a:spcPts val="0"/>
              </a:spcBef>
              <a:spcAft>
                <a:spcPts val="1600"/>
              </a:spcAft>
              <a:buNone/>
            </a:pPr>
            <a:r>
              <a:rPr lang="en" sz="2000"/>
              <a:t>These can be referred to as a package of multiple coordinator and workflow jobs.</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ph type="title"/>
          </p:nvPr>
        </p:nvSpPr>
        <p:spPr>
          <a:xfrm>
            <a:off x="1218125" y="161975"/>
            <a:ext cx="4731000" cy="73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Comfortaa"/>
                <a:ea typeface="Comfortaa"/>
                <a:cs typeface="Comfortaa"/>
                <a:sym typeface="Comfortaa"/>
              </a:rPr>
              <a:t>Oozie Architecture</a:t>
            </a:r>
            <a:endParaRPr b="1" sz="3000">
              <a:latin typeface="Comfortaa"/>
              <a:ea typeface="Comfortaa"/>
              <a:cs typeface="Comfortaa"/>
              <a:sym typeface="Comfortaa"/>
            </a:endParaRPr>
          </a:p>
        </p:txBody>
      </p:sp>
      <p:sp>
        <p:nvSpPr>
          <p:cNvPr id="160" name="Google Shape;160;p17"/>
          <p:cNvSpPr txBox="1"/>
          <p:nvPr>
            <p:ph idx="1" type="body"/>
          </p:nvPr>
        </p:nvSpPr>
        <p:spPr>
          <a:xfrm>
            <a:off x="1218125" y="1302425"/>
            <a:ext cx="7038900" cy="28035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1600"/>
              </a:spcAft>
              <a:buNone/>
            </a:pPr>
            <a:r>
              <a:t/>
            </a:r>
            <a:endParaRPr/>
          </a:p>
        </p:txBody>
      </p:sp>
      <p:pic>
        <p:nvPicPr>
          <p:cNvPr id="161" name="Google Shape;161;p17"/>
          <p:cNvPicPr preferRelativeResize="0"/>
          <p:nvPr/>
        </p:nvPicPr>
        <p:blipFill>
          <a:blip r:embed="rId3">
            <a:alphaModFix/>
          </a:blip>
          <a:stretch>
            <a:fillRect/>
          </a:stretch>
        </p:blipFill>
        <p:spPr>
          <a:xfrm>
            <a:off x="1218125" y="1302425"/>
            <a:ext cx="7610200" cy="33112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8"/>
          <p:cNvSpPr txBox="1"/>
          <p:nvPr>
            <p:ph type="title"/>
          </p:nvPr>
        </p:nvSpPr>
        <p:spPr>
          <a:xfrm>
            <a:off x="1218125" y="161975"/>
            <a:ext cx="4731000" cy="73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Comfortaa"/>
                <a:ea typeface="Comfortaa"/>
                <a:cs typeface="Comfortaa"/>
                <a:sym typeface="Comfortaa"/>
              </a:rPr>
              <a:t>Working</a:t>
            </a:r>
            <a:endParaRPr b="1" sz="3000">
              <a:latin typeface="Comfortaa"/>
              <a:ea typeface="Comfortaa"/>
              <a:cs typeface="Comfortaa"/>
              <a:sym typeface="Comfortaa"/>
            </a:endParaRPr>
          </a:p>
        </p:txBody>
      </p:sp>
      <p:sp>
        <p:nvSpPr>
          <p:cNvPr id="167" name="Google Shape;167;p18"/>
          <p:cNvSpPr txBox="1"/>
          <p:nvPr>
            <p:ph idx="1" type="body"/>
          </p:nvPr>
        </p:nvSpPr>
        <p:spPr>
          <a:xfrm>
            <a:off x="1218125" y="1302425"/>
            <a:ext cx="7038900" cy="28035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1600"/>
              </a:spcAft>
              <a:buNone/>
            </a:pPr>
            <a:r>
              <a:rPr lang="en"/>
              <a:t> </a:t>
            </a:r>
            <a:endParaRPr/>
          </a:p>
        </p:txBody>
      </p:sp>
      <p:pic>
        <p:nvPicPr>
          <p:cNvPr id="168" name="Google Shape;168;p18"/>
          <p:cNvPicPr preferRelativeResize="0"/>
          <p:nvPr/>
        </p:nvPicPr>
        <p:blipFill>
          <a:blip r:embed="rId3">
            <a:alphaModFix/>
          </a:blip>
          <a:stretch>
            <a:fillRect/>
          </a:stretch>
        </p:blipFill>
        <p:spPr>
          <a:xfrm>
            <a:off x="1422700" y="968950"/>
            <a:ext cx="7227725" cy="3613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9"/>
          <p:cNvSpPr txBox="1"/>
          <p:nvPr>
            <p:ph type="title"/>
          </p:nvPr>
        </p:nvSpPr>
        <p:spPr>
          <a:xfrm>
            <a:off x="1218125" y="161975"/>
            <a:ext cx="4731000" cy="73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Comfortaa"/>
                <a:ea typeface="Comfortaa"/>
                <a:cs typeface="Comfortaa"/>
                <a:sym typeface="Comfortaa"/>
              </a:rPr>
              <a:t>Oozie Workflows</a:t>
            </a:r>
            <a:endParaRPr b="1" sz="3000">
              <a:latin typeface="Comfortaa"/>
              <a:ea typeface="Comfortaa"/>
              <a:cs typeface="Comfortaa"/>
              <a:sym typeface="Comfortaa"/>
            </a:endParaRPr>
          </a:p>
        </p:txBody>
      </p:sp>
      <p:sp>
        <p:nvSpPr>
          <p:cNvPr id="174" name="Google Shape;174;p19"/>
          <p:cNvSpPr txBox="1"/>
          <p:nvPr>
            <p:ph idx="1" type="body"/>
          </p:nvPr>
        </p:nvSpPr>
        <p:spPr>
          <a:xfrm>
            <a:off x="1218125" y="1302425"/>
            <a:ext cx="7680600" cy="3168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latin typeface="Roboto"/>
                <a:ea typeface="Roboto"/>
                <a:cs typeface="Roboto"/>
                <a:sym typeface="Roboto"/>
              </a:rPr>
              <a:t>Workflow consists of workflow nodes, which can be of the following types:</a:t>
            </a:r>
            <a:endParaRPr sz="2000">
              <a:latin typeface="Roboto"/>
              <a:ea typeface="Roboto"/>
              <a:cs typeface="Roboto"/>
              <a:sym typeface="Roboto"/>
            </a:endParaRPr>
          </a:p>
          <a:p>
            <a:pPr indent="-355600" lvl="0" marL="457200" rtl="0" algn="l">
              <a:lnSpc>
                <a:spcPct val="115000"/>
              </a:lnSpc>
              <a:spcBef>
                <a:spcPts val="0"/>
              </a:spcBef>
              <a:spcAft>
                <a:spcPts val="0"/>
              </a:spcAft>
              <a:buSzPts val="2000"/>
              <a:buFont typeface="Roboto"/>
              <a:buChar char="●"/>
            </a:pPr>
            <a:r>
              <a:rPr lang="en" sz="2000">
                <a:latin typeface="Roboto"/>
                <a:ea typeface="Roboto"/>
                <a:cs typeface="Roboto"/>
                <a:sym typeface="Roboto"/>
              </a:rPr>
              <a:t>Start Control Node</a:t>
            </a:r>
            <a:endParaRPr sz="2000">
              <a:latin typeface="Roboto"/>
              <a:ea typeface="Roboto"/>
              <a:cs typeface="Roboto"/>
              <a:sym typeface="Roboto"/>
            </a:endParaRPr>
          </a:p>
          <a:p>
            <a:pPr indent="-355600" lvl="0" marL="457200" rtl="0" algn="l">
              <a:lnSpc>
                <a:spcPct val="115000"/>
              </a:lnSpc>
              <a:spcBef>
                <a:spcPts val="0"/>
              </a:spcBef>
              <a:spcAft>
                <a:spcPts val="0"/>
              </a:spcAft>
              <a:buSzPts val="2000"/>
              <a:buFont typeface="Roboto"/>
              <a:buChar char="●"/>
            </a:pPr>
            <a:r>
              <a:rPr lang="en" sz="2000">
                <a:latin typeface="Roboto"/>
                <a:ea typeface="Roboto"/>
                <a:cs typeface="Roboto"/>
                <a:sym typeface="Roboto"/>
              </a:rPr>
              <a:t>End Control Node</a:t>
            </a:r>
            <a:endParaRPr sz="2000">
              <a:latin typeface="Roboto"/>
              <a:ea typeface="Roboto"/>
              <a:cs typeface="Roboto"/>
              <a:sym typeface="Roboto"/>
            </a:endParaRPr>
          </a:p>
          <a:p>
            <a:pPr indent="-355600" lvl="0" marL="457200" rtl="0" algn="l">
              <a:lnSpc>
                <a:spcPct val="115000"/>
              </a:lnSpc>
              <a:spcBef>
                <a:spcPts val="0"/>
              </a:spcBef>
              <a:spcAft>
                <a:spcPts val="0"/>
              </a:spcAft>
              <a:buSzPts val="2000"/>
              <a:buFont typeface="Roboto"/>
              <a:buChar char="●"/>
            </a:pPr>
            <a:r>
              <a:rPr lang="en" sz="2000">
                <a:latin typeface="Roboto"/>
                <a:ea typeface="Roboto"/>
                <a:cs typeface="Roboto"/>
                <a:sym typeface="Roboto"/>
              </a:rPr>
              <a:t>Kill Control Node</a:t>
            </a:r>
            <a:endParaRPr sz="2000">
              <a:latin typeface="Roboto"/>
              <a:ea typeface="Roboto"/>
              <a:cs typeface="Roboto"/>
              <a:sym typeface="Roboto"/>
            </a:endParaRPr>
          </a:p>
          <a:p>
            <a:pPr indent="-355600" lvl="0" marL="457200" rtl="0" algn="l">
              <a:lnSpc>
                <a:spcPct val="115000"/>
              </a:lnSpc>
              <a:spcBef>
                <a:spcPts val="0"/>
              </a:spcBef>
              <a:spcAft>
                <a:spcPts val="0"/>
              </a:spcAft>
              <a:buSzPts val="2000"/>
              <a:buFont typeface="Roboto"/>
              <a:buChar char="●"/>
            </a:pPr>
            <a:r>
              <a:rPr lang="en" sz="2000">
                <a:latin typeface="Roboto"/>
                <a:ea typeface="Roboto"/>
                <a:cs typeface="Roboto"/>
                <a:sym typeface="Roboto"/>
              </a:rPr>
              <a:t>Decision Node</a:t>
            </a:r>
            <a:endParaRPr sz="2000">
              <a:latin typeface="Roboto"/>
              <a:ea typeface="Roboto"/>
              <a:cs typeface="Roboto"/>
              <a:sym typeface="Roboto"/>
            </a:endParaRPr>
          </a:p>
          <a:p>
            <a:pPr indent="-355600" lvl="0" marL="457200" rtl="0" algn="l">
              <a:lnSpc>
                <a:spcPct val="115000"/>
              </a:lnSpc>
              <a:spcBef>
                <a:spcPts val="0"/>
              </a:spcBef>
              <a:spcAft>
                <a:spcPts val="0"/>
              </a:spcAft>
              <a:buSzPts val="2000"/>
              <a:buFont typeface="Roboto"/>
              <a:buChar char="●"/>
            </a:pPr>
            <a:r>
              <a:rPr lang="en" sz="2000">
                <a:latin typeface="Roboto"/>
                <a:ea typeface="Roboto"/>
                <a:cs typeface="Roboto"/>
                <a:sym typeface="Roboto"/>
              </a:rPr>
              <a:t>Fork Node</a:t>
            </a:r>
            <a:endParaRPr sz="2000">
              <a:latin typeface="Roboto"/>
              <a:ea typeface="Roboto"/>
              <a:cs typeface="Roboto"/>
              <a:sym typeface="Roboto"/>
            </a:endParaRPr>
          </a:p>
          <a:p>
            <a:pPr indent="-355600" lvl="0" marL="457200" rtl="0" algn="l">
              <a:lnSpc>
                <a:spcPct val="115000"/>
              </a:lnSpc>
              <a:spcBef>
                <a:spcPts val="0"/>
              </a:spcBef>
              <a:spcAft>
                <a:spcPts val="0"/>
              </a:spcAft>
              <a:buSzPts val="2000"/>
              <a:buFont typeface="Roboto"/>
              <a:buChar char="●"/>
            </a:pPr>
            <a:r>
              <a:rPr lang="en" sz="2000">
                <a:latin typeface="Roboto"/>
                <a:ea typeface="Roboto"/>
                <a:cs typeface="Roboto"/>
                <a:sym typeface="Roboto"/>
              </a:rPr>
              <a:t>Join Node</a:t>
            </a:r>
            <a:endParaRPr sz="2000">
              <a:latin typeface="Roboto"/>
              <a:ea typeface="Roboto"/>
              <a:cs typeface="Roboto"/>
              <a:sym typeface="Roboto"/>
            </a:endParaRPr>
          </a:p>
          <a:p>
            <a:pPr indent="-355600" lvl="0" marL="457200" rtl="0" algn="l">
              <a:lnSpc>
                <a:spcPct val="115000"/>
              </a:lnSpc>
              <a:spcBef>
                <a:spcPts val="0"/>
              </a:spcBef>
              <a:spcAft>
                <a:spcPts val="0"/>
              </a:spcAft>
              <a:buSzPts val="2000"/>
              <a:buFont typeface="Roboto"/>
              <a:buChar char="●"/>
            </a:pPr>
            <a:r>
              <a:rPr lang="en" sz="2000">
                <a:latin typeface="Roboto"/>
                <a:ea typeface="Roboto"/>
                <a:cs typeface="Roboto"/>
                <a:sym typeface="Roboto"/>
              </a:rPr>
              <a:t>Workflow Nodes</a:t>
            </a:r>
            <a:endParaRPr sz="2000">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0"/>
          <p:cNvSpPr txBox="1"/>
          <p:nvPr>
            <p:ph type="title"/>
          </p:nvPr>
        </p:nvSpPr>
        <p:spPr>
          <a:xfrm>
            <a:off x="1218125" y="161975"/>
            <a:ext cx="4731000" cy="73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Comfortaa"/>
                <a:ea typeface="Comfortaa"/>
                <a:cs typeface="Comfortaa"/>
                <a:sym typeface="Comfortaa"/>
              </a:rPr>
              <a:t>Features of Oozie</a:t>
            </a:r>
            <a:endParaRPr b="1" sz="3000">
              <a:latin typeface="Comfortaa"/>
              <a:ea typeface="Comfortaa"/>
              <a:cs typeface="Comfortaa"/>
              <a:sym typeface="Comfortaa"/>
            </a:endParaRPr>
          </a:p>
        </p:txBody>
      </p:sp>
      <p:sp>
        <p:nvSpPr>
          <p:cNvPr id="180" name="Google Shape;180;p20"/>
          <p:cNvSpPr txBox="1"/>
          <p:nvPr>
            <p:ph idx="1" type="body"/>
          </p:nvPr>
        </p:nvSpPr>
        <p:spPr>
          <a:xfrm>
            <a:off x="1218125" y="1302425"/>
            <a:ext cx="7680600" cy="31689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Font typeface="Roboto"/>
              <a:buChar char="●"/>
            </a:pPr>
            <a:r>
              <a:rPr lang="en" sz="2000">
                <a:latin typeface="Roboto"/>
                <a:ea typeface="Roboto"/>
                <a:cs typeface="Roboto"/>
                <a:sym typeface="Roboto"/>
              </a:rPr>
              <a:t>Oozie has client API and command line interface which can be used to launch, control and monitor job from Java application. </a:t>
            </a:r>
            <a:endParaRPr sz="2000">
              <a:latin typeface="Roboto"/>
              <a:ea typeface="Roboto"/>
              <a:cs typeface="Roboto"/>
              <a:sym typeface="Roboto"/>
            </a:endParaRPr>
          </a:p>
          <a:p>
            <a:pPr indent="-355600" lvl="0" marL="457200" rtl="0" algn="l">
              <a:lnSpc>
                <a:spcPct val="115000"/>
              </a:lnSpc>
              <a:spcBef>
                <a:spcPts val="0"/>
              </a:spcBef>
              <a:spcAft>
                <a:spcPts val="0"/>
              </a:spcAft>
              <a:buSzPts val="2000"/>
              <a:buFont typeface="Roboto"/>
              <a:buChar char="●"/>
            </a:pPr>
            <a:r>
              <a:rPr lang="en" sz="2000">
                <a:latin typeface="Roboto"/>
                <a:ea typeface="Roboto"/>
                <a:cs typeface="Roboto"/>
                <a:sym typeface="Roboto"/>
              </a:rPr>
              <a:t>Using its Web Service APIs one can control jobs from anywhere. </a:t>
            </a:r>
            <a:endParaRPr sz="2000">
              <a:latin typeface="Roboto"/>
              <a:ea typeface="Roboto"/>
              <a:cs typeface="Roboto"/>
              <a:sym typeface="Roboto"/>
            </a:endParaRPr>
          </a:p>
          <a:p>
            <a:pPr indent="-355600" lvl="0" marL="457200" rtl="0" algn="l">
              <a:lnSpc>
                <a:spcPct val="115000"/>
              </a:lnSpc>
              <a:spcBef>
                <a:spcPts val="0"/>
              </a:spcBef>
              <a:spcAft>
                <a:spcPts val="0"/>
              </a:spcAft>
              <a:buSzPts val="2000"/>
              <a:buFont typeface="Roboto"/>
              <a:buChar char="●"/>
            </a:pPr>
            <a:r>
              <a:rPr lang="en" sz="2000">
                <a:latin typeface="Roboto"/>
                <a:ea typeface="Roboto"/>
                <a:cs typeface="Roboto"/>
                <a:sym typeface="Roboto"/>
              </a:rPr>
              <a:t>Oozie has provision to execute jobs which are scheduled to run periodically. </a:t>
            </a:r>
            <a:endParaRPr sz="2000">
              <a:latin typeface="Roboto"/>
              <a:ea typeface="Roboto"/>
              <a:cs typeface="Roboto"/>
              <a:sym typeface="Roboto"/>
            </a:endParaRPr>
          </a:p>
          <a:p>
            <a:pPr indent="-355600" lvl="0" marL="457200" rtl="0" algn="l">
              <a:lnSpc>
                <a:spcPct val="115000"/>
              </a:lnSpc>
              <a:spcBef>
                <a:spcPts val="0"/>
              </a:spcBef>
              <a:spcAft>
                <a:spcPts val="0"/>
              </a:spcAft>
              <a:buSzPts val="2000"/>
              <a:buFont typeface="Roboto"/>
              <a:buChar char="●"/>
            </a:pPr>
            <a:r>
              <a:rPr lang="en" sz="2000">
                <a:latin typeface="Roboto"/>
                <a:ea typeface="Roboto"/>
                <a:cs typeface="Roboto"/>
                <a:sym typeface="Roboto"/>
              </a:rPr>
              <a:t>Oozie has provision to send email notifications upon completion of jobs.</a:t>
            </a:r>
            <a:endParaRPr sz="2000">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1"/>
          <p:cNvSpPr txBox="1"/>
          <p:nvPr>
            <p:ph type="title"/>
          </p:nvPr>
        </p:nvSpPr>
        <p:spPr>
          <a:xfrm>
            <a:off x="1218125" y="161975"/>
            <a:ext cx="4731000" cy="73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Comfortaa"/>
                <a:ea typeface="Comfortaa"/>
                <a:cs typeface="Comfortaa"/>
                <a:sym typeface="Comfortaa"/>
              </a:rPr>
              <a:t>References</a:t>
            </a:r>
            <a:endParaRPr b="1" sz="3000">
              <a:latin typeface="Comfortaa"/>
              <a:ea typeface="Comfortaa"/>
              <a:cs typeface="Comfortaa"/>
              <a:sym typeface="Comfortaa"/>
            </a:endParaRPr>
          </a:p>
        </p:txBody>
      </p:sp>
      <p:sp>
        <p:nvSpPr>
          <p:cNvPr id="186" name="Google Shape;186;p21"/>
          <p:cNvSpPr txBox="1"/>
          <p:nvPr>
            <p:ph idx="1" type="body"/>
          </p:nvPr>
        </p:nvSpPr>
        <p:spPr>
          <a:xfrm>
            <a:off x="1218125" y="1681350"/>
            <a:ext cx="7680600" cy="17808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SzPts val="2000"/>
              <a:buFont typeface="Roboto"/>
              <a:buChar char="●"/>
            </a:pPr>
            <a:r>
              <a:rPr lang="en" sz="2000" u="sng">
                <a:solidFill>
                  <a:schemeClr val="hlink"/>
                </a:solidFill>
                <a:latin typeface="Roboto"/>
                <a:ea typeface="Roboto"/>
                <a:cs typeface="Roboto"/>
                <a:sym typeface="Roboto"/>
                <a:hlinkClick r:id="rId3"/>
              </a:rPr>
              <a:t>https://oozie.apache.org/</a:t>
            </a:r>
            <a:endParaRPr sz="2000">
              <a:latin typeface="Roboto"/>
              <a:ea typeface="Roboto"/>
              <a:cs typeface="Roboto"/>
              <a:sym typeface="Roboto"/>
            </a:endParaRPr>
          </a:p>
          <a:p>
            <a:pPr indent="-355600" lvl="0" marL="457200" rtl="0" algn="l">
              <a:lnSpc>
                <a:spcPct val="115000"/>
              </a:lnSpc>
              <a:spcBef>
                <a:spcPts val="0"/>
              </a:spcBef>
              <a:spcAft>
                <a:spcPts val="0"/>
              </a:spcAft>
              <a:buSzPts val="2000"/>
              <a:buFont typeface="Roboto"/>
              <a:buChar char="●"/>
            </a:pPr>
            <a:r>
              <a:rPr lang="en" sz="2000" u="sng">
                <a:solidFill>
                  <a:schemeClr val="hlink"/>
                </a:solidFill>
                <a:latin typeface="Roboto"/>
                <a:ea typeface="Roboto"/>
                <a:cs typeface="Roboto"/>
                <a:sym typeface="Roboto"/>
                <a:hlinkClick r:id="rId4"/>
              </a:rPr>
              <a:t>https://www.tutorialspoint.com/apache_oozie/</a:t>
            </a:r>
            <a:endParaRPr sz="2000">
              <a:latin typeface="Roboto"/>
              <a:ea typeface="Roboto"/>
              <a:cs typeface="Roboto"/>
              <a:sym typeface="Roboto"/>
            </a:endParaRPr>
          </a:p>
          <a:p>
            <a:pPr indent="-355600" lvl="0" marL="457200" rtl="0" algn="l">
              <a:lnSpc>
                <a:spcPct val="115000"/>
              </a:lnSpc>
              <a:spcBef>
                <a:spcPts val="0"/>
              </a:spcBef>
              <a:spcAft>
                <a:spcPts val="0"/>
              </a:spcAft>
              <a:buSzPts val="2000"/>
              <a:buFont typeface="Roboto"/>
              <a:buChar char="●"/>
            </a:pPr>
            <a:r>
              <a:rPr lang="en" sz="2000" u="sng">
                <a:solidFill>
                  <a:schemeClr val="hlink"/>
                </a:solidFill>
                <a:latin typeface="Roboto"/>
                <a:ea typeface="Roboto"/>
                <a:cs typeface="Roboto"/>
                <a:sym typeface="Roboto"/>
                <a:hlinkClick r:id="rId5"/>
              </a:rPr>
              <a:t>https://www.guru99.com/learn-oozie-in-5-minutes</a:t>
            </a:r>
            <a:endParaRPr sz="2000">
              <a:latin typeface="Roboto"/>
              <a:ea typeface="Roboto"/>
              <a:cs typeface="Roboto"/>
              <a:sym typeface="Roboto"/>
            </a:endParaRPr>
          </a:p>
          <a:p>
            <a:pPr indent="0" lvl="0" marL="0" rtl="0" algn="l">
              <a:lnSpc>
                <a:spcPct val="115000"/>
              </a:lnSpc>
              <a:spcBef>
                <a:spcPts val="0"/>
              </a:spcBef>
              <a:spcAft>
                <a:spcPts val="0"/>
              </a:spcAft>
              <a:buNone/>
            </a:pPr>
            <a:r>
              <a:t/>
            </a:r>
            <a:endParaRPr sz="2000">
              <a:latin typeface="Roboto"/>
              <a:ea typeface="Roboto"/>
              <a:cs typeface="Roboto"/>
              <a:sym typeface="Roboto"/>
            </a:endParaRPr>
          </a:p>
          <a:p>
            <a:pPr indent="0" lvl="0" marL="0" rtl="0" algn="l">
              <a:lnSpc>
                <a:spcPct val="115000"/>
              </a:lnSpc>
              <a:spcBef>
                <a:spcPts val="0"/>
              </a:spcBef>
              <a:spcAft>
                <a:spcPts val="0"/>
              </a:spcAft>
              <a:buNone/>
            </a:pPr>
            <a:r>
              <a:t/>
            </a:r>
            <a:endParaRPr sz="2000">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2"/>
          <p:cNvSpPr txBox="1"/>
          <p:nvPr>
            <p:ph type="title"/>
          </p:nvPr>
        </p:nvSpPr>
        <p:spPr>
          <a:xfrm>
            <a:off x="1218125" y="161975"/>
            <a:ext cx="4731000" cy="73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3000">
                <a:latin typeface="Comfortaa"/>
                <a:ea typeface="Comfortaa"/>
                <a:cs typeface="Comfortaa"/>
                <a:sym typeface="Comfortaa"/>
              </a:rPr>
              <a:t> </a:t>
            </a:r>
            <a:endParaRPr b="1" sz="3000">
              <a:latin typeface="Comfortaa"/>
              <a:ea typeface="Comfortaa"/>
              <a:cs typeface="Comfortaa"/>
              <a:sym typeface="Comfortaa"/>
            </a:endParaRPr>
          </a:p>
        </p:txBody>
      </p:sp>
      <p:sp>
        <p:nvSpPr>
          <p:cNvPr id="192" name="Google Shape;192;p22"/>
          <p:cNvSpPr txBox="1"/>
          <p:nvPr>
            <p:ph idx="1" type="body"/>
          </p:nvPr>
        </p:nvSpPr>
        <p:spPr>
          <a:xfrm>
            <a:off x="3018450" y="2061300"/>
            <a:ext cx="3107100" cy="1020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4800">
                <a:latin typeface="Pacifico"/>
                <a:ea typeface="Pacifico"/>
                <a:cs typeface="Pacifico"/>
                <a:sym typeface="Pacifico"/>
              </a:rPr>
              <a:t>Thank You</a:t>
            </a:r>
            <a:endParaRPr sz="4800">
              <a:latin typeface="Pacifico"/>
              <a:ea typeface="Pacifico"/>
              <a:cs typeface="Pacifico"/>
              <a:sym typeface="Pacific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0F39F0F273D1F4593FDDC39AC99CA52" ma:contentTypeVersion="11" ma:contentTypeDescription="Create a new document." ma:contentTypeScope="" ma:versionID="c307f3d4e724b78c4823e4140198fbbb">
  <xsd:schema xmlns:xsd="http://www.w3.org/2001/XMLSchema" xmlns:xs="http://www.w3.org/2001/XMLSchema" xmlns:p="http://schemas.microsoft.com/office/2006/metadata/properties" xmlns:ns2="76b27845-a48c-4627-928b-2b8adc78c082" xmlns:ns3="209aa7b2-5555-458a-b890-2c90ba515031" targetNamespace="http://schemas.microsoft.com/office/2006/metadata/properties" ma:root="true" ma:fieldsID="32e30c575f43e3232f4d711bfcb11376" ns2:_="" ns3:_="">
    <xsd:import namespace="76b27845-a48c-4627-928b-2b8adc78c082"/>
    <xsd:import namespace="209aa7b2-5555-458a-b890-2c90ba515031"/>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b27845-a48c-4627-928b-2b8adc78c0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20f96346-ef72-4176-bf38-94a2d7f022e3"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9aa7b2-5555-458a-b890-2c90ba515031"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6d7260b-a887-4a3b-8e42-6f72a6d42ce7}" ma:internalName="TaxCatchAll" ma:showField="CatchAllData" ma:web="209aa7b2-5555-458a-b890-2c90ba51503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09aa7b2-5555-458a-b890-2c90ba515031" xsi:nil="true"/>
    <lcf76f155ced4ddcb4097134ff3c332f xmlns="76b27845-a48c-4627-928b-2b8adc78c08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ED2B9E61-4E84-4241-9BEA-2419404B188E}"/>
</file>

<file path=customXml/itemProps2.xml><?xml version="1.0" encoding="utf-8"?>
<ds:datastoreItem xmlns:ds="http://schemas.openxmlformats.org/officeDocument/2006/customXml" ds:itemID="{922535FB-2ED3-4004-A2E1-F7CF6FCDA722}"/>
</file>

<file path=customXml/itemProps3.xml><?xml version="1.0" encoding="utf-8"?>
<ds:datastoreItem xmlns:ds="http://schemas.openxmlformats.org/officeDocument/2006/customXml" ds:itemID="{69EF6829-14AB-41D3-98C7-C8D4FEFEA1E9}"/>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0x01010030F39F0F273D1F4593FDDC39AC99CA52</vt:lpwstr>
  </property>
</Properties>
</file>